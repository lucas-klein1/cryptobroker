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23"/>
    <p:restoredTop sz="94658"/>
  </p:normalViewPr>
  <p:slideViewPr>
    <p:cSldViewPr snapToGrid="0">
      <p:cViewPr varScale="1">
        <p:scale>
          <a:sx n="160" d="100"/>
          <a:sy n="160" d="100"/>
        </p:scale>
        <p:origin x="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MI</c:v>
                </c:pt>
              </c:strCache>
            </c:strRef>
          </c:tx>
          <c:spPr>
            <a:solidFill>
              <a:srgbClr val="5B8DEF"/>
            </a:solidFill>
            <a:ln w="0">
              <a:noFill/>
            </a:ln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strike="noStrike" spc="-1">
                    <a:solidFill>
                      <a:srgbClr val="98A2C4"/>
                    </a:solidFill>
                    <a:latin typeface="Arial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app</c:v>
                </c:pt>
                <c:pt idx="1">
                  <c:v>market_svc</c:v>
                </c:pt>
                <c:pt idx="2">
                  <c:v>account</c:v>
                </c:pt>
                <c:pt idx="3">
                  <c:v>portfolio</c:v>
                </c:pt>
                <c:pt idx="4">
                  <c:v>coin_sync</c:v>
                </c:pt>
                <c:pt idx="5">
                  <c:v>favorite</c:v>
                </c:pt>
                <c:pt idx="6">
                  <c:v>models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42</c:v>
                </c:pt>
                <c:pt idx="1">
                  <c:v>34</c:v>
                </c:pt>
                <c:pt idx="2">
                  <c:v>54</c:v>
                </c:pt>
                <c:pt idx="3">
                  <c:v>56</c:v>
                </c:pt>
                <c:pt idx="4">
                  <c:v>60</c:v>
                </c:pt>
                <c:pt idx="5">
                  <c:v>70</c:v>
                </c:pt>
                <c:pt idx="6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76-46ED-AB11-18CCE0D0BD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99654058"/>
        <c:axId val="89844458"/>
      </c:barChart>
      <c:catAx>
        <c:axId val="9965405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800" b="0" strike="noStrike" spc="-1">
                <a:solidFill>
                  <a:srgbClr val="98A2C4"/>
                </a:solidFill>
                <a:latin typeface="Arial"/>
              </a:defRPr>
            </a:pPr>
            <a:endParaRPr lang="de-DE"/>
          </a:p>
        </c:txPr>
        <c:crossAx val="89844458"/>
        <c:crosses val="autoZero"/>
        <c:auto val="1"/>
        <c:lblAlgn val="ctr"/>
        <c:lblOffset val="100"/>
        <c:noMultiLvlLbl val="0"/>
      </c:catAx>
      <c:valAx>
        <c:axId val="89844458"/>
        <c:scaling>
          <c:orientation val="minMax"/>
          <c:max val="110"/>
        </c:scaling>
        <c:delete val="1"/>
        <c:axPos val="l"/>
        <c:numFmt formatCode="General" sourceLinked="1"/>
        <c:majorTickMark val="out"/>
        <c:minorTickMark val="none"/>
        <c:tickLblPos val="nextTo"/>
        <c:crossAx val="9965405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  <c:showDLblsOverMax val="1"/>
  </c:chart>
  <c:spPr>
    <a:solidFill>
      <a:srgbClr val="151E36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Disziplin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dPt>
            <c:idx val="0"/>
            <c:bubble3D val="0"/>
            <c:spPr>
              <a:solidFill>
                <a:srgbClr val="5B8DEF"/>
              </a:solidFill>
              <a:ln w="12600">
                <a:solidFill>
                  <a:srgbClr val="151E36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1-E577-41F8-9BCF-5CCCFE064031}"/>
              </c:ext>
            </c:extLst>
          </c:dPt>
          <c:dPt>
            <c:idx val="1"/>
            <c:bubble3D val="0"/>
            <c:spPr>
              <a:solidFill>
                <a:srgbClr val="8B7CF6"/>
              </a:solidFill>
              <a:ln w="12600">
                <a:solidFill>
                  <a:srgbClr val="151E36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3-E577-41F8-9BCF-5CCCFE064031}"/>
              </c:ext>
            </c:extLst>
          </c:dPt>
          <c:dPt>
            <c:idx val="2"/>
            <c:bubble3D val="0"/>
            <c:spPr>
              <a:solidFill>
                <a:srgbClr val="35C46A"/>
              </a:solidFill>
              <a:ln w="12600">
                <a:solidFill>
                  <a:srgbClr val="151E36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5-E577-41F8-9BCF-5CCCFE064031}"/>
              </c:ext>
            </c:extLst>
          </c:dPt>
          <c:dPt>
            <c:idx val="3"/>
            <c:bubble3D val="0"/>
            <c:spPr>
              <a:solidFill>
                <a:srgbClr val="F5B544"/>
              </a:solidFill>
              <a:ln w="12600">
                <a:solidFill>
                  <a:srgbClr val="151E36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7-E577-41F8-9BCF-5CCCFE064031}"/>
              </c:ext>
            </c:extLst>
          </c:dPt>
          <c:dPt>
            <c:idx val="4"/>
            <c:bubble3D val="0"/>
            <c:spPr>
              <a:solidFill>
                <a:srgbClr val="A9D18E"/>
              </a:solidFill>
              <a:ln w="12600">
                <a:solidFill>
                  <a:srgbClr val="151E36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7-E577-41F8-9BCF-5CCCFE064031}"/>
              </c:ext>
            </c:extLst>
          </c:dPt>
          <c:cat>
            <c:strRef>
              <c:f>categories</c:f>
              <c:strCache>
                <c:ptCount val="5"/>
                <c:pt idx="0">
                  <c:v>Anforderungen (5 h)</c:v>
                </c:pt>
                <c:pt idx="1">
                  <c:v>Planung &amp; Entwurf (35 h)</c:v>
                </c:pt>
                <c:pt idx="2">
                  <c:v>Implementierung (61,5 h)</c:v>
                </c:pt>
                <c:pt idx="3">
                  <c:v>Test &amp; Qualitätssicherung (8,5 h)</c:v>
                </c:pt>
                <c:pt idx="4">
                  <c:v>Ohne Zuteilung (3 h)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5</c:v>
                </c:pt>
                <c:pt idx="1">
                  <c:v>35</c:v>
                </c:pt>
                <c:pt idx="2">
                  <c:v>61.5</c:v>
                </c:pt>
                <c:pt idx="3">
                  <c:v>8.5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577-41F8-9BCF-5CCCFE064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 w="0">
          <a:noFill/>
        </a:ln>
      </c:spPr>
    </c:plotArea>
    <c:legend>
      <c:legendPos val="r"/>
      <c:layout>
        <c:manualLayout>
          <c:xMode val="edge"/>
          <c:yMode val="edge"/>
          <c:x val="0.59511723856209153"/>
          <c:y val="0.10643955276030748"/>
          <c:w val="0.39710089869281046"/>
          <c:h val="0.7738085255066387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sz="850" b="0" strike="noStrike" spc="-1">
              <a:solidFill>
                <a:srgbClr val="98A2C4"/>
              </a:solidFill>
              <a:latin typeface="Calibri"/>
            </a:defRPr>
          </a:pPr>
          <a:endParaRPr lang="de-DE"/>
        </a:p>
      </c:txPr>
    </c:legend>
    <c:plotVisOnly val="1"/>
    <c:dispBlanksAs val="span"/>
    <c:showDLblsOverMax val="1"/>
  </c:chart>
  <c:spPr>
    <a:solidFill>
      <a:srgbClr val="151E36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F7C14CD-8528-48A7-86F0-AE2649A6B547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F1FFE9-09AA-41B6-AC4D-417CD71C210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C8A967-DCC1-4FD2-BA8A-3EE75CE5AC4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1444FC-61C5-440A-9178-05500CF51A2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D35F0F-557B-4A00-AB97-A14EB9FFC57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CB9194-8BAA-49B9-845B-38F0CB4048D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1F8508-265B-4C38-A492-7F817C9102E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9FA4B8-F4B5-4FF3-99C1-FEA7EFB0D89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B9D9B5-9616-4DAE-B018-B4D86ED2773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0A47CF-59F6-43B2-87C7-5249534AC47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D2A7FB-0C21-481C-8BDE-1A1A2164695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9DC744-7751-4B12-80BF-BE41BD40A96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E705CC-CD42-48B1-999A-5065FCC0856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C6CDDF-0EC6-4629-9ABB-D03CEF6E510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C00B46-B486-4F62-B8F4-FFC6C1910AF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74139A-88E7-402A-86BE-F052FD62CB7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B54D34-9DAA-4B87-B052-F0DBFB15E5A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ACA9EB-3BB5-454D-A43F-E7C9E6836D8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E9F92A-83E8-41B2-B05F-CEC29D9192B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5209D2-AF48-41CA-8854-99CACF88EB1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222B13-1D58-406D-B5BA-3A821346847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FF9ECF-FC62-4BA9-8B31-3FEB419F7D6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DAAA99-F883-4CE7-A137-BA2DEB55DAD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8F5DC3-9A1C-4733-8944-BC4EDD75602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020200" y="1362600"/>
            <a:ext cx="3767040" cy="2568960"/>
          </a:xfrm>
          <a:prstGeom prst="roundRect">
            <a:avLst>
              <a:gd name="adj" fmla="val 2491"/>
            </a:avLst>
          </a:prstGeom>
          <a:solidFill>
            <a:srgbClr val="060912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" name="Image 0" descr="/home/claude/deck/assets/dashboard.png"/>
          <p:cNvPicPr/>
          <p:nvPr/>
        </p:nvPicPr>
        <p:blipFill>
          <a:blip r:embed="rId3"/>
          <a:stretch/>
        </p:blipFill>
        <p:spPr>
          <a:xfrm>
            <a:off x="5074920" y="1417320"/>
            <a:ext cx="3657240" cy="2459520"/>
          </a:xfrm>
          <a:prstGeom prst="rect">
            <a:avLst/>
          </a:prstGeom>
          <a:ln w="0">
            <a:noFill/>
          </a:ln>
        </p:spPr>
      </p:pic>
      <p:sp>
        <p:nvSpPr>
          <p:cNvPr id="10" name="Shape 1"/>
          <p:cNvSpPr/>
          <p:nvPr/>
        </p:nvSpPr>
        <p:spPr>
          <a:xfrm>
            <a:off x="548640" y="914400"/>
            <a:ext cx="310680" cy="31068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77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713160" y="1060560"/>
            <a:ext cx="237240" cy="2372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47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1051560" y="914400"/>
            <a:ext cx="3657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ABSCHLUSSPRÄSENTATION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502920" y="1389960"/>
            <a:ext cx="48459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CryptoBroker</a:t>
            </a:r>
            <a:endParaRPr lang="en-US" sz="4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521280" y="22402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EEF1FB"/>
                </a:solidFill>
                <a:latin typeface="Calibri"/>
                <a:ea typeface="Calibri"/>
              </a:rPr>
              <a:t>Krypto-Trading-Simulator </a:t>
            </a:r>
            <a:r>
              <a:rPr lang="en-US" sz="1800" b="1" strike="noStrike" spc="-1">
                <a:solidFill>
                  <a:srgbClr val="8B7CF6"/>
                </a:solidFill>
                <a:latin typeface="Calibri"/>
                <a:ea typeface="Calibri"/>
              </a:rPr>
              <a:t>· CryptoSim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521280" y="2651760"/>
            <a:ext cx="4388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98A2C4"/>
                </a:solidFill>
                <a:latin typeface="Calibri"/>
                <a:ea typeface="Calibri"/>
              </a:rPr>
              <a:t>Risikofreier Einstieg in den Krypto-Handel – echte Live-Kurse, virtuelles Kapital, keine Verluste.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521280" y="342900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300" b="1" strike="noStrike" spc="-1">
                <a:solidFill>
                  <a:srgbClr val="EEF1FB"/>
                </a:solidFill>
                <a:latin typeface="Calibri"/>
                <a:ea typeface="Calibri"/>
              </a:rPr>
              <a:t>Sara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Anforderungen &amp; QA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1664280" y="342900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300" b="1" strike="noStrike" spc="-1">
                <a:solidFill>
                  <a:srgbClr val="EEF1FB"/>
                </a:solidFill>
                <a:latin typeface="Calibri"/>
                <a:ea typeface="Calibri"/>
              </a:rPr>
              <a:t>Lucas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Backend &amp; DevOps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2807280" y="342900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300" b="1" strike="noStrike" spc="-1">
                <a:solidFill>
                  <a:srgbClr val="EEF1FB"/>
                </a:solidFill>
                <a:latin typeface="Calibri"/>
                <a:ea typeface="Calibri"/>
              </a:rPr>
              <a:t>Julian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Architektur &amp; DB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3950280" y="342900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300" b="1" strike="noStrike" spc="-1">
                <a:solidFill>
                  <a:srgbClr val="EEF1FB"/>
                </a:solidFill>
                <a:latin typeface="Calibri"/>
                <a:ea typeface="Calibri"/>
              </a:rPr>
              <a:t>Jonathan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Frontend &amp; UI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502920" y="482796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Software Engineering · TINF24B4 · DHBW Karlsruhe · 2026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ÜBERBLICK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Agenda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02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502920" y="123444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667440" y="123444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5B8DEF"/>
                </a:solidFill>
                <a:latin typeface="Consolas"/>
                <a:ea typeface="Consolas"/>
              </a:rPr>
              <a:t>01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1371600" y="130752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Vision &amp; Business Case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1371600" y="167328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Sara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502920" y="207576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667440" y="207576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35C46A"/>
                </a:solidFill>
                <a:latin typeface="Consolas"/>
                <a:ea typeface="Consolas"/>
              </a:rPr>
              <a:t>02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1371600" y="214884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Features &amp; Live-Demo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1371600" y="251460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Jonathan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14"/>
          <p:cNvSpPr/>
          <p:nvPr/>
        </p:nvSpPr>
        <p:spPr>
          <a:xfrm>
            <a:off x="502920" y="291708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15"/>
          <p:cNvSpPr/>
          <p:nvPr/>
        </p:nvSpPr>
        <p:spPr>
          <a:xfrm>
            <a:off x="667440" y="291708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8B7CF6"/>
                </a:solidFill>
                <a:latin typeface="Consolas"/>
                <a:ea typeface="Consolas"/>
              </a:rPr>
              <a:t>03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1371600" y="299016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Tech-Stack &amp; Technologiewechsel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7"/>
          <p:cNvSpPr/>
          <p:nvPr/>
        </p:nvSpPr>
        <p:spPr>
          <a:xfrm>
            <a:off x="1371600" y="335592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Lucas · Julian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18"/>
          <p:cNvSpPr/>
          <p:nvPr/>
        </p:nvSpPr>
        <p:spPr>
          <a:xfrm>
            <a:off x="502920" y="375804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9"/>
          <p:cNvSpPr/>
          <p:nvPr/>
        </p:nvSpPr>
        <p:spPr>
          <a:xfrm>
            <a:off x="667440" y="375804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5B8DEF"/>
                </a:solidFill>
                <a:latin typeface="Consolas"/>
                <a:ea typeface="Consolas"/>
              </a:rPr>
              <a:t>04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20"/>
          <p:cNvSpPr/>
          <p:nvPr/>
        </p:nvSpPr>
        <p:spPr>
          <a:xfrm>
            <a:off x="1371600" y="383148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Architektur, ADRs &amp; Datenbank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21"/>
          <p:cNvSpPr/>
          <p:nvPr/>
        </p:nvSpPr>
        <p:spPr>
          <a:xfrm>
            <a:off x="1371600" y="419724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Julian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22"/>
          <p:cNvSpPr/>
          <p:nvPr/>
        </p:nvSpPr>
        <p:spPr>
          <a:xfrm>
            <a:off x="4663440" y="123444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23"/>
          <p:cNvSpPr/>
          <p:nvPr/>
        </p:nvSpPr>
        <p:spPr>
          <a:xfrm>
            <a:off x="4827960" y="123444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8B7CF6"/>
                </a:solidFill>
                <a:latin typeface="Consolas"/>
                <a:ea typeface="Consolas"/>
              </a:rPr>
              <a:t>05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24"/>
          <p:cNvSpPr/>
          <p:nvPr/>
        </p:nvSpPr>
        <p:spPr>
          <a:xfrm>
            <a:off x="5532120" y="130752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Clean Code &amp; Qualitätssicherung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25"/>
          <p:cNvSpPr/>
          <p:nvPr/>
        </p:nvSpPr>
        <p:spPr>
          <a:xfrm>
            <a:off x="5532120" y="167328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Lucas · Sara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26"/>
          <p:cNvSpPr/>
          <p:nvPr/>
        </p:nvSpPr>
        <p:spPr>
          <a:xfrm>
            <a:off x="4663440" y="207576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27"/>
          <p:cNvSpPr/>
          <p:nvPr/>
        </p:nvSpPr>
        <p:spPr>
          <a:xfrm>
            <a:off x="4827960" y="207576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35C46A"/>
                </a:solidFill>
                <a:latin typeface="Consolas"/>
                <a:ea typeface="Consolas"/>
              </a:rPr>
              <a:t>06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28"/>
          <p:cNvSpPr/>
          <p:nvPr/>
        </p:nvSpPr>
        <p:spPr>
          <a:xfrm>
            <a:off x="5532120" y="214884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Metriken &amp; CI/CD-Pipeline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9"/>
          <p:cNvSpPr/>
          <p:nvPr/>
        </p:nvSpPr>
        <p:spPr>
          <a:xfrm>
            <a:off x="5532120" y="251460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Lucas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30"/>
          <p:cNvSpPr/>
          <p:nvPr/>
        </p:nvSpPr>
        <p:spPr>
          <a:xfrm>
            <a:off x="4663440" y="291708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31"/>
          <p:cNvSpPr/>
          <p:nvPr/>
        </p:nvSpPr>
        <p:spPr>
          <a:xfrm>
            <a:off x="4827960" y="291708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5B544"/>
                </a:solidFill>
                <a:latin typeface="Consolas"/>
                <a:ea typeface="Consolas"/>
              </a:rPr>
              <a:t>07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32"/>
          <p:cNvSpPr/>
          <p:nvPr/>
        </p:nvSpPr>
        <p:spPr>
          <a:xfrm>
            <a:off x="5532120" y="299016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Projektmanagement &amp; Statistik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33"/>
          <p:cNvSpPr/>
          <p:nvPr/>
        </p:nvSpPr>
        <p:spPr>
          <a:xfrm>
            <a:off x="5532120" y="335592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Lucas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34"/>
          <p:cNvSpPr/>
          <p:nvPr/>
        </p:nvSpPr>
        <p:spPr>
          <a:xfrm>
            <a:off x="4663440" y="3758040"/>
            <a:ext cx="3977280" cy="694440"/>
          </a:xfrm>
          <a:prstGeom prst="roundRect">
            <a:avLst>
              <a:gd name="adj" fmla="val 1052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35"/>
          <p:cNvSpPr/>
          <p:nvPr/>
        </p:nvSpPr>
        <p:spPr>
          <a:xfrm>
            <a:off x="4827960" y="3758040"/>
            <a:ext cx="6397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5B544"/>
                </a:solidFill>
                <a:latin typeface="Consolas"/>
                <a:ea typeface="Consolas"/>
              </a:rPr>
              <a:t>08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36"/>
          <p:cNvSpPr/>
          <p:nvPr/>
        </p:nvSpPr>
        <p:spPr>
          <a:xfrm>
            <a:off x="5532120" y="3831480"/>
            <a:ext cx="2514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Risiken, Retrospektive &amp; Fazit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37"/>
          <p:cNvSpPr/>
          <p:nvPr/>
        </p:nvSpPr>
        <p:spPr>
          <a:xfrm>
            <a:off x="5532120" y="419724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Julian · Jonathan · Sara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SARA · ANFORDERUNGEN &amp; QA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Projektziel &amp; Vision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03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6"/>
          <p:cNvSpPr/>
          <p:nvPr/>
        </p:nvSpPr>
        <p:spPr>
          <a:xfrm>
            <a:off x="502920" y="1234440"/>
            <a:ext cx="4708800" cy="3245760"/>
          </a:xfrm>
          <a:prstGeom prst="roundRect">
            <a:avLst>
              <a:gd name="adj" fmla="val 2254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777240" y="148140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7" name="Image 0" descr="preencoded.png"/>
          <p:cNvPicPr/>
          <p:nvPr/>
        </p:nvPicPr>
        <p:blipFill>
          <a:blip r:embed="rId3"/>
          <a:stretch/>
        </p:blipFill>
        <p:spPr>
          <a:xfrm>
            <a:off x="920520" y="162468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68" name="Text 8"/>
          <p:cNvSpPr/>
          <p:nvPr/>
        </p:nvSpPr>
        <p:spPr>
          <a:xfrm>
            <a:off x="1417320" y="148140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Vision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9"/>
          <p:cNvSpPr/>
          <p:nvPr/>
        </p:nvSpPr>
        <p:spPr>
          <a:xfrm>
            <a:off x="777240" y="2148840"/>
            <a:ext cx="42058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900" b="1" i="1" strike="noStrike" spc="-1">
                <a:solidFill>
                  <a:srgbClr val="5B8DEF"/>
                </a:solidFill>
                <a:latin typeface="Trebuchet MS"/>
                <a:ea typeface="Trebuchet MS"/>
              </a:rPr>
              <a:t>„Kryptowährungen verstehen und Handeln üben – ohne echtes Geld zu riskieren.“</a:t>
            </a:r>
            <a:endParaRPr lang="en-US" sz="1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777240" y="3108960"/>
            <a:ext cx="420588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98A2C4"/>
                </a:solidFill>
                <a:latin typeface="Calibri"/>
                <a:ea typeface="Calibri"/>
              </a:rPr>
              <a:t>CryptoBroker bildet einen echten Krypto-Markt nach: Live-Kurse von CoinGecko, ein persönliches Portfolio und eine Bestenliste – als sichere, intuitive Lernumgebung mit niedriger Einstiegshürde.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11"/>
          <p:cNvSpPr/>
          <p:nvPr/>
        </p:nvSpPr>
        <p:spPr>
          <a:xfrm>
            <a:off x="5440680" y="1234440"/>
            <a:ext cx="3245760" cy="740160"/>
          </a:xfrm>
          <a:prstGeom prst="roundRect">
            <a:avLst>
              <a:gd name="adj" fmla="val 987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12"/>
          <p:cNvSpPr/>
          <p:nvPr/>
        </p:nvSpPr>
        <p:spPr>
          <a:xfrm>
            <a:off x="5596200" y="138060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" name="Image 1" descr="preencoded.png"/>
          <p:cNvPicPr/>
          <p:nvPr/>
        </p:nvPicPr>
        <p:blipFill>
          <a:blip r:embed="rId4"/>
          <a:stretch/>
        </p:blipFill>
        <p:spPr>
          <a:xfrm>
            <a:off x="5724000" y="15087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74" name="Text 13"/>
          <p:cNvSpPr/>
          <p:nvPr/>
        </p:nvSpPr>
        <p:spPr>
          <a:xfrm>
            <a:off x="6144840" y="13442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Echte Marktdaten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6144840" y="161856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100 Coins live über die CoinGecko-API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15"/>
          <p:cNvSpPr/>
          <p:nvPr/>
        </p:nvSpPr>
        <p:spPr>
          <a:xfrm>
            <a:off x="5440680" y="2066400"/>
            <a:ext cx="3245760" cy="740160"/>
          </a:xfrm>
          <a:prstGeom prst="roundRect">
            <a:avLst>
              <a:gd name="adj" fmla="val 987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16"/>
          <p:cNvSpPr/>
          <p:nvPr/>
        </p:nvSpPr>
        <p:spPr>
          <a:xfrm>
            <a:off x="5596200" y="221292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8" name="Image 2" descr="preencoded.png"/>
          <p:cNvPicPr/>
          <p:nvPr/>
        </p:nvPicPr>
        <p:blipFill>
          <a:blip r:embed="rId5"/>
          <a:stretch/>
        </p:blipFill>
        <p:spPr>
          <a:xfrm>
            <a:off x="5724000" y="234072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79" name="Text 17"/>
          <p:cNvSpPr/>
          <p:nvPr/>
        </p:nvSpPr>
        <p:spPr>
          <a:xfrm>
            <a:off x="6144840" y="217620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Portfolio-Tracking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6144840" y="245052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Bestände, Wertverlauf &amp; Gewinn/Verlust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19"/>
          <p:cNvSpPr/>
          <p:nvPr/>
        </p:nvSpPr>
        <p:spPr>
          <a:xfrm>
            <a:off x="5440680" y="2898720"/>
            <a:ext cx="3245760" cy="740160"/>
          </a:xfrm>
          <a:prstGeom prst="roundRect">
            <a:avLst>
              <a:gd name="adj" fmla="val 987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20"/>
          <p:cNvSpPr/>
          <p:nvPr/>
        </p:nvSpPr>
        <p:spPr>
          <a:xfrm>
            <a:off x="5596200" y="304488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Image 3" descr="preencoded.png"/>
          <p:cNvPicPr/>
          <p:nvPr/>
        </p:nvPicPr>
        <p:blipFill>
          <a:blip r:embed="rId6"/>
          <a:stretch/>
        </p:blipFill>
        <p:spPr>
          <a:xfrm>
            <a:off x="5724000" y="31730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84" name="Text 21"/>
          <p:cNvSpPr/>
          <p:nvPr/>
        </p:nvSpPr>
        <p:spPr>
          <a:xfrm>
            <a:off x="6144840" y="300852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Risikofrei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22"/>
          <p:cNvSpPr/>
          <p:nvPr/>
        </p:nvSpPr>
        <p:spPr>
          <a:xfrm>
            <a:off x="6144840" y="328284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Virtuelles Startkapital, keine Verluste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23"/>
          <p:cNvSpPr/>
          <p:nvPr/>
        </p:nvSpPr>
        <p:spPr>
          <a:xfrm>
            <a:off x="5440680" y="3730680"/>
            <a:ext cx="3245760" cy="740160"/>
          </a:xfrm>
          <a:prstGeom prst="roundRect">
            <a:avLst>
              <a:gd name="adj" fmla="val 987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24"/>
          <p:cNvSpPr/>
          <p:nvPr/>
        </p:nvSpPr>
        <p:spPr>
          <a:xfrm>
            <a:off x="5596200" y="387720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8" name="Image 4" descr="preencoded.png"/>
          <p:cNvPicPr/>
          <p:nvPr/>
        </p:nvPicPr>
        <p:blipFill>
          <a:blip r:embed="rId7"/>
          <a:stretch/>
        </p:blipFill>
        <p:spPr>
          <a:xfrm>
            <a:off x="5724000" y="40050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89" name="Text 25"/>
          <p:cNvSpPr/>
          <p:nvPr/>
        </p:nvSpPr>
        <p:spPr>
          <a:xfrm>
            <a:off x="6144840" y="384048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Gamification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26"/>
          <p:cNvSpPr/>
          <p:nvPr/>
        </p:nvSpPr>
        <p:spPr>
          <a:xfrm>
            <a:off x="6144840" y="4114800"/>
            <a:ext cx="2468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Bestenliste motiviert zum Mitmachen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SARA · ANFORDERUNGEN &amp; QA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Business Case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04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6"/>
          <p:cNvSpPr/>
          <p:nvPr/>
        </p:nvSpPr>
        <p:spPr>
          <a:xfrm>
            <a:off x="502920" y="1234440"/>
            <a:ext cx="4068720" cy="1874160"/>
          </a:xfrm>
          <a:prstGeom prst="roundRect">
            <a:avLst>
              <a:gd name="adj" fmla="val 390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502920" y="1234440"/>
            <a:ext cx="54360" cy="187416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8"/>
          <p:cNvSpPr/>
          <p:nvPr/>
        </p:nvSpPr>
        <p:spPr>
          <a:xfrm>
            <a:off x="731520" y="146304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0" name="Image 0" descr="preencoded.png"/>
          <p:cNvPicPr/>
          <p:nvPr/>
        </p:nvPicPr>
        <p:blipFill>
          <a:blip r:embed="rId3"/>
          <a:stretch/>
        </p:blipFill>
        <p:spPr>
          <a:xfrm>
            <a:off x="859680" y="15912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01" name="Text 9"/>
          <p:cNvSpPr/>
          <p:nvPr/>
        </p:nvSpPr>
        <p:spPr>
          <a:xfrm>
            <a:off x="1298520" y="14630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Problem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777240" y="2011680"/>
            <a:ext cx="361152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Krypto-Einstieg ist riskant und einschüchternd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Lernen mit echtem Geld kann teuer werden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Kaum geschützte Übungsumgebungen mit echten Kursen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11"/>
          <p:cNvSpPr/>
          <p:nvPr/>
        </p:nvSpPr>
        <p:spPr>
          <a:xfrm>
            <a:off x="4663440" y="1234440"/>
            <a:ext cx="4023000" cy="1874160"/>
          </a:xfrm>
          <a:prstGeom prst="roundRect">
            <a:avLst>
              <a:gd name="adj" fmla="val 390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12"/>
          <p:cNvSpPr/>
          <p:nvPr/>
        </p:nvSpPr>
        <p:spPr>
          <a:xfrm>
            <a:off x="4663440" y="1234440"/>
            <a:ext cx="54360" cy="1874160"/>
          </a:xfrm>
          <a:prstGeom prst="roundRect">
            <a:avLst>
              <a:gd name="adj" fmla="val 50000"/>
            </a:avLst>
          </a:prstGeom>
          <a:solidFill>
            <a:srgbClr val="35C4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13"/>
          <p:cNvSpPr/>
          <p:nvPr/>
        </p:nvSpPr>
        <p:spPr>
          <a:xfrm>
            <a:off x="4892040" y="146304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" name="Image 1" descr="preencoded.png"/>
          <p:cNvPicPr/>
          <p:nvPr/>
        </p:nvPicPr>
        <p:blipFill>
          <a:blip r:embed="rId4"/>
          <a:stretch/>
        </p:blipFill>
        <p:spPr>
          <a:xfrm>
            <a:off x="5020200" y="15912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07" name="Text 14"/>
          <p:cNvSpPr/>
          <p:nvPr/>
        </p:nvSpPr>
        <p:spPr>
          <a:xfrm>
            <a:off x="5459040" y="14630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Lösung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4937760" y="2011680"/>
            <a:ext cx="35658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Web-Simulator mit virtuellem Startkapital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Echte Live-Kurse statt Fantasiewerten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Voller Trade-Workflow: Kauf, Verkauf, Portfolio, Verlauf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16"/>
          <p:cNvSpPr/>
          <p:nvPr/>
        </p:nvSpPr>
        <p:spPr>
          <a:xfrm>
            <a:off x="502920" y="3291840"/>
            <a:ext cx="8183520" cy="1188360"/>
          </a:xfrm>
          <a:prstGeom prst="roundRect">
            <a:avLst>
              <a:gd name="adj" fmla="val 6154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731520" y="340164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5B8DEF"/>
                </a:solidFill>
                <a:latin typeface="Consolas"/>
                <a:ea typeface="Consolas"/>
              </a:rPr>
              <a:t>Zielgruppen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18"/>
          <p:cNvSpPr/>
          <p:nvPr/>
        </p:nvSpPr>
        <p:spPr>
          <a:xfrm>
            <a:off x="731520" y="3767400"/>
            <a:ext cx="420120" cy="4201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2" name="Image 2" descr="preencoded.png"/>
          <p:cNvPicPr/>
          <p:nvPr/>
        </p:nvPicPr>
        <p:blipFill>
          <a:blip r:embed="rId5"/>
          <a:stretch/>
        </p:blipFill>
        <p:spPr>
          <a:xfrm>
            <a:off x="849240" y="3885120"/>
            <a:ext cx="184680" cy="184680"/>
          </a:xfrm>
          <a:prstGeom prst="rect">
            <a:avLst/>
          </a:prstGeom>
          <a:ln w="0">
            <a:noFill/>
          </a:ln>
        </p:spPr>
      </p:pic>
      <p:sp>
        <p:nvSpPr>
          <p:cNvPr id="113" name="Text 19"/>
          <p:cNvSpPr/>
          <p:nvPr/>
        </p:nvSpPr>
        <p:spPr>
          <a:xfrm>
            <a:off x="1243440" y="373068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Krypto-Einsteiger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wollen gefahrlos Erfahrung sammeln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20"/>
          <p:cNvSpPr/>
          <p:nvPr/>
        </p:nvSpPr>
        <p:spPr>
          <a:xfrm>
            <a:off x="3429000" y="3767400"/>
            <a:ext cx="420120" cy="4201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5" name="Image 3" descr="preencoded.png"/>
          <p:cNvPicPr/>
          <p:nvPr/>
        </p:nvPicPr>
        <p:blipFill>
          <a:blip r:embed="rId6"/>
          <a:stretch/>
        </p:blipFill>
        <p:spPr>
          <a:xfrm>
            <a:off x="3546720" y="3885120"/>
            <a:ext cx="184680" cy="184680"/>
          </a:xfrm>
          <a:prstGeom prst="rect">
            <a:avLst/>
          </a:prstGeom>
          <a:ln w="0">
            <a:noFill/>
          </a:ln>
        </p:spPr>
      </p:pic>
      <p:sp>
        <p:nvSpPr>
          <p:cNvPr id="116" name="Text 21"/>
          <p:cNvSpPr/>
          <p:nvPr/>
        </p:nvSpPr>
        <p:spPr>
          <a:xfrm>
            <a:off x="3940920" y="373068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Studierende &amp; Lernende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verstehen Marktmechanik praktisch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22"/>
          <p:cNvSpPr/>
          <p:nvPr/>
        </p:nvSpPr>
        <p:spPr>
          <a:xfrm>
            <a:off x="6126480" y="3767400"/>
            <a:ext cx="420120" cy="4201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8" name="Image 4" descr="preencoded.png"/>
          <p:cNvPicPr/>
          <p:nvPr/>
        </p:nvPicPr>
        <p:blipFill>
          <a:blip r:embed="rId7"/>
          <a:stretch/>
        </p:blipFill>
        <p:spPr>
          <a:xfrm>
            <a:off x="6244200" y="3885120"/>
            <a:ext cx="184680" cy="184680"/>
          </a:xfrm>
          <a:prstGeom prst="rect">
            <a:avLst/>
          </a:prstGeom>
          <a:ln w="0">
            <a:noFill/>
          </a:ln>
        </p:spPr>
      </p:pic>
      <p:sp>
        <p:nvSpPr>
          <p:cNvPr id="119" name="Text 23"/>
          <p:cNvSpPr/>
          <p:nvPr/>
        </p:nvSpPr>
        <p:spPr>
          <a:xfrm>
            <a:off x="6638400" y="373068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Hobby-Trader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testen Strategien im Wettbewerb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JONATHAN · FRONTEND &amp; DEMO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Funktionsumfang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05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502920" y="123444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704160" y="143568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8" name="Image 0" descr="preencoded.png"/>
          <p:cNvPicPr/>
          <p:nvPr/>
        </p:nvPicPr>
        <p:blipFill>
          <a:blip r:embed="rId3"/>
          <a:stretch/>
        </p:blipFill>
        <p:spPr>
          <a:xfrm>
            <a:off x="852480" y="158400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29" name="Text 8"/>
          <p:cNvSpPr/>
          <p:nvPr/>
        </p:nvSpPr>
        <p:spPr>
          <a:xfrm>
            <a:off x="649080" y="205740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Login &amp; Registrierung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649080" y="231336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bcrypt-gehasht, Auto-Register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10"/>
          <p:cNvSpPr/>
          <p:nvPr/>
        </p:nvSpPr>
        <p:spPr>
          <a:xfrm>
            <a:off x="2578680" y="123444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11"/>
          <p:cNvSpPr/>
          <p:nvPr/>
        </p:nvSpPr>
        <p:spPr>
          <a:xfrm>
            <a:off x="2779920" y="143568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3" name="Image 1" descr="preencoded.png"/>
          <p:cNvPicPr/>
          <p:nvPr/>
        </p:nvPicPr>
        <p:blipFill>
          <a:blip r:embed="rId4"/>
          <a:stretch/>
        </p:blipFill>
        <p:spPr>
          <a:xfrm>
            <a:off x="2928240" y="158400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34" name="Text 12"/>
          <p:cNvSpPr/>
          <p:nvPr/>
        </p:nvSpPr>
        <p:spPr>
          <a:xfrm>
            <a:off x="2724840" y="205740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Markt-Dashboard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13"/>
          <p:cNvSpPr/>
          <p:nvPr/>
        </p:nvSpPr>
        <p:spPr>
          <a:xfrm>
            <a:off x="2724840" y="231336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100 Coins, Live-Preise &amp; Rang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14"/>
          <p:cNvSpPr/>
          <p:nvPr/>
        </p:nvSpPr>
        <p:spPr>
          <a:xfrm>
            <a:off x="4654440" y="123444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15"/>
          <p:cNvSpPr/>
          <p:nvPr/>
        </p:nvSpPr>
        <p:spPr>
          <a:xfrm>
            <a:off x="4855320" y="143568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8" name="Image 2" descr="preencoded.png"/>
          <p:cNvPicPr/>
          <p:nvPr/>
        </p:nvPicPr>
        <p:blipFill>
          <a:blip r:embed="rId5"/>
          <a:stretch/>
        </p:blipFill>
        <p:spPr>
          <a:xfrm>
            <a:off x="5004000" y="158400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39" name="Text 16"/>
          <p:cNvSpPr/>
          <p:nvPr/>
        </p:nvSpPr>
        <p:spPr>
          <a:xfrm>
            <a:off x="4800600" y="205740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Kauf &amp; Verkauf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7"/>
          <p:cNvSpPr/>
          <p:nvPr/>
        </p:nvSpPr>
        <p:spPr>
          <a:xfrm>
            <a:off x="4800600" y="231336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BUY/SELL in €, Menge oder %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18"/>
          <p:cNvSpPr/>
          <p:nvPr/>
        </p:nvSpPr>
        <p:spPr>
          <a:xfrm>
            <a:off x="6729840" y="123444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19"/>
          <p:cNvSpPr/>
          <p:nvPr/>
        </p:nvSpPr>
        <p:spPr>
          <a:xfrm>
            <a:off x="6931080" y="143568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3" name="Image 3" descr="preencoded.png"/>
          <p:cNvPicPr/>
          <p:nvPr/>
        </p:nvPicPr>
        <p:blipFill>
          <a:blip r:embed="rId6"/>
          <a:stretch/>
        </p:blipFill>
        <p:spPr>
          <a:xfrm>
            <a:off x="7079760" y="158400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44" name="Text 20"/>
          <p:cNvSpPr/>
          <p:nvPr/>
        </p:nvSpPr>
        <p:spPr>
          <a:xfrm>
            <a:off x="6876360" y="205740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Portfolio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21"/>
          <p:cNvSpPr/>
          <p:nvPr/>
        </p:nvSpPr>
        <p:spPr>
          <a:xfrm>
            <a:off x="6876360" y="231336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Bestände, Wert, Gewinn/Verlust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22"/>
          <p:cNvSpPr/>
          <p:nvPr/>
        </p:nvSpPr>
        <p:spPr>
          <a:xfrm>
            <a:off x="502920" y="280728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23"/>
          <p:cNvSpPr/>
          <p:nvPr/>
        </p:nvSpPr>
        <p:spPr>
          <a:xfrm>
            <a:off x="704160" y="300852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8" name="Image 4" descr="preencoded.png"/>
          <p:cNvPicPr/>
          <p:nvPr/>
        </p:nvPicPr>
        <p:blipFill>
          <a:blip r:embed="rId7"/>
          <a:stretch/>
        </p:blipFill>
        <p:spPr>
          <a:xfrm>
            <a:off x="852480" y="315684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49" name="Text 24"/>
          <p:cNvSpPr/>
          <p:nvPr/>
        </p:nvSpPr>
        <p:spPr>
          <a:xfrm>
            <a:off x="649080" y="363024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Kursverlauf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25"/>
          <p:cNvSpPr/>
          <p:nvPr/>
        </p:nvSpPr>
        <p:spPr>
          <a:xfrm>
            <a:off x="649080" y="388620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365-Tage-Charts pro Coin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26"/>
          <p:cNvSpPr/>
          <p:nvPr/>
        </p:nvSpPr>
        <p:spPr>
          <a:xfrm>
            <a:off x="2578680" y="280728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27"/>
          <p:cNvSpPr/>
          <p:nvPr/>
        </p:nvSpPr>
        <p:spPr>
          <a:xfrm>
            <a:off x="2779920" y="300852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3" name="Image 5" descr="preencoded.png"/>
          <p:cNvPicPr/>
          <p:nvPr/>
        </p:nvPicPr>
        <p:blipFill>
          <a:blip r:embed="rId8"/>
          <a:stretch/>
        </p:blipFill>
        <p:spPr>
          <a:xfrm>
            <a:off x="2928240" y="315684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54" name="Text 28"/>
          <p:cNvSpPr/>
          <p:nvPr/>
        </p:nvSpPr>
        <p:spPr>
          <a:xfrm>
            <a:off x="2724840" y="363024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Bestenliste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29"/>
          <p:cNvSpPr/>
          <p:nvPr/>
        </p:nvSpPr>
        <p:spPr>
          <a:xfrm>
            <a:off x="2724840" y="388620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Gesamtvermögen aller Nutzer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30"/>
          <p:cNvSpPr/>
          <p:nvPr/>
        </p:nvSpPr>
        <p:spPr>
          <a:xfrm>
            <a:off x="4654440" y="280728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31"/>
          <p:cNvSpPr/>
          <p:nvPr/>
        </p:nvSpPr>
        <p:spPr>
          <a:xfrm>
            <a:off x="4855320" y="300852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8" name="Image 6" descr="preencoded.png"/>
          <p:cNvPicPr/>
          <p:nvPr/>
        </p:nvPicPr>
        <p:blipFill>
          <a:blip r:embed="rId9"/>
          <a:stretch/>
        </p:blipFill>
        <p:spPr>
          <a:xfrm>
            <a:off x="5004000" y="315684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59" name="Text 32"/>
          <p:cNvSpPr/>
          <p:nvPr/>
        </p:nvSpPr>
        <p:spPr>
          <a:xfrm>
            <a:off x="4800600" y="363024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Favoriten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33"/>
          <p:cNvSpPr/>
          <p:nvPr/>
        </p:nvSpPr>
        <p:spPr>
          <a:xfrm>
            <a:off x="4800600" y="388620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Coins schnell wiederfinden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34"/>
          <p:cNvSpPr/>
          <p:nvPr/>
        </p:nvSpPr>
        <p:spPr>
          <a:xfrm>
            <a:off x="6729840" y="2807280"/>
            <a:ext cx="193824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35"/>
          <p:cNvSpPr/>
          <p:nvPr/>
        </p:nvSpPr>
        <p:spPr>
          <a:xfrm>
            <a:off x="6931080" y="300852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3" name="Image 7" descr="preencoded.png"/>
          <p:cNvPicPr/>
          <p:nvPr/>
        </p:nvPicPr>
        <p:blipFill>
          <a:blip r:embed="rId10"/>
          <a:stretch/>
        </p:blipFill>
        <p:spPr>
          <a:xfrm>
            <a:off x="7079760" y="315684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164" name="Text 36"/>
          <p:cNvSpPr/>
          <p:nvPr/>
        </p:nvSpPr>
        <p:spPr>
          <a:xfrm>
            <a:off x="6876360" y="363024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Transaktionen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37"/>
          <p:cNvSpPr/>
          <p:nvPr/>
        </p:nvSpPr>
        <p:spPr>
          <a:xfrm>
            <a:off x="6876360" y="388620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Vollständige Handelshistorie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JONATHAN · LIVE-DEMO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Live-Demo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06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6"/>
          <p:cNvSpPr/>
          <p:nvPr/>
        </p:nvSpPr>
        <p:spPr>
          <a:xfrm>
            <a:off x="502920" y="1280160"/>
            <a:ext cx="3382920" cy="3108600"/>
          </a:xfrm>
          <a:prstGeom prst="roundRect">
            <a:avLst>
              <a:gd name="adj" fmla="val 235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731520" y="14173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5B8DEF"/>
                </a:solidFill>
                <a:latin typeface="Consolas"/>
                <a:ea typeface="Consolas"/>
              </a:rPr>
              <a:t>Demo-Ablauf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8"/>
          <p:cNvSpPr/>
          <p:nvPr/>
        </p:nvSpPr>
        <p:spPr>
          <a:xfrm>
            <a:off x="749880" y="1828800"/>
            <a:ext cx="310680" cy="310680"/>
          </a:xfrm>
          <a:solidFill>
            <a:srgbClr val="1B2542"/>
          </a:solidFill>
          <a:ln w="1524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9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9"/>
          <p:cNvSpPr/>
          <p:nvPr/>
        </p:nvSpPr>
        <p:spPr>
          <a:xfrm>
            <a:off x="749880" y="1828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B8DEF"/>
                </a:solidFill>
                <a:latin typeface="Consolas"/>
                <a:ea typeface="Consolas"/>
              </a:rPr>
              <a:t>1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1170360" y="179208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Wer handelt selbst Krypto?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kurze Frage ans Publikum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11"/>
          <p:cNvSpPr/>
          <p:nvPr/>
        </p:nvSpPr>
        <p:spPr>
          <a:xfrm>
            <a:off x="749880" y="2258640"/>
            <a:ext cx="310680" cy="310680"/>
          </a:xfrm>
          <a:solidFill>
            <a:srgbClr val="1B2542"/>
          </a:solidFill>
          <a:ln w="1524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9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12"/>
          <p:cNvSpPr/>
          <p:nvPr/>
        </p:nvSpPr>
        <p:spPr>
          <a:xfrm>
            <a:off x="749880" y="22586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B8DEF"/>
                </a:solidFill>
                <a:latin typeface="Consolas"/>
                <a:ea typeface="Consolas"/>
              </a:rPr>
              <a:t>2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13"/>
          <p:cNvSpPr/>
          <p:nvPr/>
        </p:nvSpPr>
        <p:spPr>
          <a:xfrm>
            <a:off x="1170360" y="222192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Registrieren / Login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Account anlegen, sicher per bcrypt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14"/>
          <p:cNvSpPr/>
          <p:nvPr/>
        </p:nvSpPr>
        <p:spPr>
          <a:xfrm>
            <a:off x="749880" y="2688480"/>
            <a:ext cx="310680" cy="310680"/>
          </a:xfrm>
          <a:solidFill>
            <a:srgbClr val="1B2542"/>
          </a:solidFill>
          <a:ln w="1524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9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15"/>
          <p:cNvSpPr/>
          <p:nvPr/>
        </p:nvSpPr>
        <p:spPr>
          <a:xfrm>
            <a:off x="749880" y="26884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B8DEF"/>
                </a:solidFill>
                <a:latin typeface="Consolas"/>
                <a:ea typeface="Consolas"/>
              </a:rPr>
              <a:t>3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16"/>
          <p:cNvSpPr/>
          <p:nvPr/>
        </p:nvSpPr>
        <p:spPr>
          <a:xfrm>
            <a:off x="1170360" y="265176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Dashboard erkunden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Live-Kurse von 100 Coins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17"/>
          <p:cNvSpPr/>
          <p:nvPr/>
        </p:nvSpPr>
        <p:spPr>
          <a:xfrm>
            <a:off x="749880" y="3117960"/>
            <a:ext cx="310680" cy="310680"/>
          </a:xfrm>
          <a:solidFill>
            <a:srgbClr val="1B2542"/>
          </a:solidFill>
          <a:ln w="1524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9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8"/>
          <p:cNvSpPr/>
          <p:nvPr/>
        </p:nvSpPr>
        <p:spPr>
          <a:xfrm>
            <a:off x="749880" y="31179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B8DEF"/>
                </a:solidFill>
                <a:latin typeface="Consolas"/>
                <a:ea typeface="Consolas"/>
              </a:rPr>
              <a:t>4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19"/>
          <p:cNvSpPr/>
          <p:nvPr/>
        </p:nvSpPr>
        <p:spPr>
          <a:xfrm>
            <a:off x="1170360" y="308160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Coin-Detail &amp; Chart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365-Tage-Kursverlauf ansehen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20"/>
          <p:cNvSpPr/>
          <p:nvPr/>
        </p:nvSpPr>
        <p:spPr>
          <a:xfrm>
            <a:off x="749880" y="3547800"/>
            <a:ext cx="310680" cy="310680"/>
          </a:xfrm>
          <a:solidFill>
            <a:srgbClr val="1B2542"/>
          </a:solidFill>
          <a:ln w="1524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9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21"/>
          <p:cNvSpPr/>
          <p:nvPr/>
        </p:nvSpPr>
        <p:spPr>
          <a:xfrm>
            <a:off x="749880" y="3547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B8DEF"/>
                </a:solidFill>
                <a:latin typeface="Consolas"/>
                <a:ea typeface="Consolas"/>
              </a:rPr>
              <a:t>5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22"/>
          <p:cNvSpPr/>
          <p:nvPr/>
        </p:nvSpPr>
        <p:spPr>
          <a:xfrm>
            <a:off x="1170360" y="351144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Trade ausführen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Bitcoin kaufen (€ / Menge / %)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23"/>
          <p:cNvSpPr/>
          <p:nvPr/>
        </p:nvSpPr>
        <p:spPr>
          <a:xfrm>
            <a:off x="749880" y="3977640"/>
            <a:ext cx="310680" cy="310680"/>
          </a:xfrm>
          <a:solidFill>
            <a:srgbClr val="1B2542"/>
          </a:solidFill>
          <a:ln w="1524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9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24"/>
          <p:cNvSpPr/>
          <p:nvPr/>
        </p:nvSpPr>
        <p:spPr>
          <a:xfrm>
            <a:off x="749880" y="39776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B8DEF"/>
                </a:solidFill>
                <a:latin typeface="Consolas"/>
                <a:ea typeface="Consolas"/>
              </a:rPr>
              <a:t>6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25"/>
          <p:cNvSpPr/>
          <p:nvPr/>
        </p:nvSpPr>
        <p:spPr>
          <a:xfrm>
            <a:off x="1170360" y="3940920"/>
            <a:ext cx="260568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200" b="1" strike="noStrike" spc="-1">
                <a:solidFill>
                  <a:srgbClr val="EEF1FB"/>
                </a:solidFill>
                <a:latin typeface="Calibri"/>
                <a:ea typeface="Calibri"/>
              </a:rPr>
              <a:t>Portfolio &amp; Bestenliste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Wert, Gewinn/Verlust, Rang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26"/>
          <p:cNvSpPr/>
          <p:nvPr/>
        </p:nvSpPr>
        <p:spPr>
          <a:xfrm>
            <a:off x="4105800" y="1316880"/>
            <a:ext cx="4635720" cy="3099600"/>
          </a:xfrm>
          <a:prstGeom prst="roundRect">
            <a:avLst>
              <a:gd name="adj" fmla="val 2065"/>
            </a:avLst>
          </a:prstGeom>
          <a:solidFill>
            <a:srgbClr val="060912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3" name="Image 0" descr="/home/claude/deck/assets/coin_detail.png"/>
          <p:cNvPicPr/>
          <p:nvPr/>
        </p:nvPicPr>
        <p:blipFill>
          <a:blip r:embed="rId3"/>
          <a:stretch/>
        </p:blipFill>
        <p:spPr>
          <a:xfrm>
            <a:off x="4160520" y="1371600"/>
            <a:ext cx="4525920" cy="2989800"/>
          </a:xfrm>
          <a:prstGeom prst="rect">
            <a:avLst/>
          </a:prstGeom>
          <a:ln w="0">
            <a:noFill/>
          </a:ln>
        </p:spPr>
      </p:pic>
      <p:sp>
        <p:nvSpPr>
          <p:cNvPr id="194" name="Text 27"/>
          <p:cNvSpPr/>
          <p:nvPr/>
        </p:nvSpPr>
        <p:spPr>
          <a:xfrm>
            <a:off x="4160520" y="44348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35C46A"/>
                </a:solidFill>
                <a:latin typeface="Consolas"/>
                <a:ea typeface="Consolas"/>
              </a:rPr>
              <a:t>→ Wir zeigen die Anwendung jetzt live im Browser.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JONATHAN · LIVE-DEMO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Demo-Highlights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07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6"/>
          <p:cNvSpPr/>
          <p:nvPr/>
        </p:nvSpPr>
        <p:spPr>
          <a:xfrm>
            <a:off x="493920" y="1271160"/>
            <a:ext cx="4269960" cy="2898360"/>
          </a:xfrm>
          <a:prstGeom prst="roundRect">
            <a:avLst>
              <a:gd name="adj" fmla="val 2208"/>
            </a:avLst>
          </a:prstGeom>
          <a:solidFill>
            <a:srgbClr val="060912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2" name="Image 0" descr="/home/claude/deck/assets/portfolio.png"/>
          <p:cNvPicPr/>
          <p:nvPr/>
        </p:nvPicPr>
        <p:blipFill>
          <a:blip r:embed="rId3"/>
          <a:stretch/>
        </p:blipFill>
        <p:spPr>
          <a:xfrm>
            <a:off x="548640" y="1325880"/>
            <a:ext cx="4160160" cy="2788560"/>
          </a:xfrm>
          <a:prstGeom prst="rect">
            <a:avLst/>
          </a:prstGeom>
          <a:ln w="0">
            <a:noFill/>
          </a:ln>
        </p:spPr>
      </p:pic>
      <p:sp>
        <p:nvSpPr>
          <p:cNvPr id="203" name="Shape 7"/>
          <p:cNvSpPr/>
          <p:nvPr/>
        </p:nvSpPr>
        <p:spPr>
          <a:xfrm>
            <a:off x="4837320" y="1271160"/>
            <a:ext cx="3812760" cy="2596680"/>
          </a:xfrm>
          <a:prstGeom prst="roundRect">
            <a:avLst>
              <a:gd name="adj" fmla="val 2465"/>
            </a:avLst>
          </a:prstGeom>
          <a:solidFill>
            <a:srgbClr val="060912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4" name="Image 1" descr="/home/claude/deck/assets/leaderboard.png"/>
          <p:cNvPicPr/>
          <p:nvPr/>
        </p:nvPicPr>
        <p:blipFill>
          <a:blip r:embed="rId4"/>
          <a:stretch/>
        </p:blipFill>
        <p:spPr>
          <a:xfrm>
            <a:off x="4892040" y="1325880"/>
            <a:ext cx="3702960" cy="2486880"/>
          </a:xfrm>
          <a:prstGeom prst="rect">
            <a:avLst/>
          </a:prstGeom>
          <a:ln w="0">
            <a:noFill/>
          </a:ln>
        </p:spPr>
      </p:pic>
      <p:sp>
        <p:nvSpPr>
          <p:cNvPr id="205" name="Text 8"/>
          <p:cNvSpPr/>
          <p:nvPr/>
        </p:nvSpPr>
        <p:spPr>
          <a:xfrm>
            <a:off x="548640" y="4160520"/>
            <a:ext cx="4160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onsolas"/>
                <a:ea typeface="Consolas"/>
              </a:rPr>
              <a:t>Portfolio mit Wertverlauf &amp; Gewinn/Verlust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9"/>
          <p:cNvSpPr/>
          <p:nvPr/>
        </p:nvSpPr>
        <p:spPr>
          <a:xfrm>
            <a:off x="4892040" y="3886200"/>
            <a:ext cx="3702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onsolas"/>
                <a:ea typeface="Consolas"/>
              </a:rPr>
              <a:t>Bestenliste – Gesamtvermögen aller Trader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10"/>
          <p:cNvSpPr/>
          <p:nvPr/>
        </p:nvSpPr>
        <p:spPr>
          <a:xfrm>
            <a:off x="4892040" y="4224600"/>
            <a:ext cx="1161000" cy="548280"/>
          </a:xfrm>
          <a:prstGeom prst="roundRect">
            <a:avLst>
              <a:gd name="adj" fmla="val 13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11"/>
          <p:cNvSpPr/>
          <p:nvPr/>
        </p:nvSpPr>
        <p:spPr>
          <a:xfrm>
            <a:off x="4892040" y="4260960"/>
            <a:ext cx="1161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5B8DEF"/>
                </a:solidFill>
                <a:latin typeface="Consolas"/>
                <a:ea typeface="Consolas"/>
              </a:rPr>
              <a:t>100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12"/>
          <p:cNvSpPr/>
          <p:nvPr/>
        </p:nvSpPr>
        <p:spPr>
          <a:xfrm>
            <a:off x="4892040" y="4535280"/>
            <a:ext cx="11610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8A2C4"/>
                </a:solidFill>
                <a:latin typeface="Calibri"/>
                <a:ea typeface="Calibri"/>
              </a:rPr>
              <a:t>Coins live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13"/>
          <p:cNvSpPr/>
          <p:nvPr/>
        </p:nvSpPr>
        <p:spPr>
          <a:xfrm>
            <a:off x="6163200" y="4224600"/>
            <a:ext cx="1161000" cy="548280"/>
          </a:xfrm>
          <a:prstGeom prst="roundRect">
            <a:avLst>
              <a:gd name="adj" fmla="val 13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14"/>
          <p:cNvSpPr/>
          <p:nvPr/>
        </p:nvSpPr>
        <p:spPr>
          <a:xfrm>
            <a:off x="6163200" y="4260960"/>
            <a:ext cx="1161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8B7CF6"/>
                </a:solidFill>
                <a:latin typeface="Consolas"/>
                <a:ea typeface="Consolas"/>
              </a:rPr>
              <a:t>365 T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15"/>
          <p:cNvSpPr/>
          <p:nvPr/>
        </p:nvSpPr>
        <p:spPr>
          <a:xfrm>
            <a:off x="6163200" y="4535280"/>
            <a:ext cx="11610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8A2C4"/>
                </a:solidFill>
                <a:latin typeface="Calibri"/>
                <a:ea typeface="Calibri"/>
              </a:rPr>
              <a:t>Kurshistorie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Shape 16"/>
          <p:cNvSpPr/>
          <p:nvPr/>
        </p:nvSpPr>
        <p:spPr>
          <a:xfrm>
            <a:off x="7434000" y="4224600"/>
            <a:ext cx="1161000" cy="548280"/>
          </a:xfrm>
          <a:prstGeom prst="roundRect">
            <a:avLst>
              <a:gd name="adj" fmla="val 13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17"/>
          <p:cNvSpPr/>
          <p:nvPr/>
        </p:nvSpPr>
        <p:spPr>
          <a:xfrm>
            <a:off x="7434000" y="4260960"/>
            <a:ext cx="1161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35C46A"/>
                </a:solidFill>
                <a:latin typeface="Consolas"/>
                <a:ea typeface="Consolas"/>
              </a:rPr>
              <a:t>3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18"/>
          <p:cNvSpPr/>
          <p:nvPr/>
        </p:nvSpPr>
        <p:spPr>
          <a:xfrm>
            <a:off x="7434000" y="4535280"/>
            <a:ext cx="11610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8A2C4"/>
                </a:solidFill>
                <a:latin typeface="Calibri"/>
                <a:ea typeface="Calibri"/>
              </a:rPr>
              <a:t>Eingabemodi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LUCAS · BACKEND &amp; DEVOPS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Tech-Stack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08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6"/>
          <p:cNvSpPr/>
          <p:nvPr/>
        </p:nvSpPr>
        <p:spPr>
          <a:xfrm>
            <a:off x="502920" y="1280160"/>
            <a:ext cx="3977280" cy="1481040"/>
          </a:xfrm>
          <a:prstGeom prst="roundRect">
            <a:avLst>
              <a:gd name="adj" fmla="val 4938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7"/>
          <p:cNvSpPr/>
          <p:nvPr/>
        </p:nvSpPr>
        <p:spPr>
          <a:xfrm>
            <a:off x="704160" y="148140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4" name="Image 0" descr="preencoded.png"/>
          <p:cNvPicPr/>
          <p:nvPr/>
        </p:nvPicPr>
        <p:blipFill>
          <a:blip r:embed="rId3"/>
          <a:stretch/>
        </p:blipFill>
        <p:spPr>
          <a:xfrm>
            <a:off x="847440" y="162468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225" name="Text 8"/>
          <p:cNvSpPr/>
          <p:nvPr/>
        </p:nvSpPr>
        <p:spPr>
          <a:xfrm>
            <a:off x="1344240" y="1481400"/>
            <a:ext cx="29257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Backend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9"/>
          <p:cNvSpPr/>
          <p:nvPr/>
        </p:nvSpPr>
        <p:spPr>
          <a:xfrm>
            <a:off x="777240" y="203004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Python 3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Flask (Web-Framework)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Jinja2 (Templates)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10"/>
          <p:cNvSpPr/>
          <p:nvPr/>
        </p:nvSpPr>
        <p:spPr>
          <a:xfrm>
            <a:off x="4709160" y="1280160"/>
            <a:ext cx="3977280" cy="1481040"/>
          </a:xfrm>
          <a:prstGeom prst="roundRect">
            <a:avLst>
              <a:gd name="adj" fmla="val 4938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11"/>
          <p:cNvSpPr/>
          <p:nvPr/>
        </p:nvSpPr>
        <p:spPr>
          <a:xfrm>
            <a:off x="4910400" y="148140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9" name="Image 1" descr="preencoded.png"/>
          <p:cNvPicPr/>
          <p:nvPr/>
        </p:nvPicPr>
        <p:blipFill>
          <a:blip r:embed="rId4"/>
          <a:stretch/>
        </p:blipFill>
        <p:spPr>
          <a:xfrm>
            <a:off x="5053680" y="162468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230" name="Text 12"/>
          <p:cNvSpPr/>
          <p:nvPr/>
        </p:nvSpPr>
        <p:spPr>
          <a:xfrm>
            <a:off x="5550480" y="1481400"/>
            <a:ext cx="29257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Daten &amp; Sicherheit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13"/>
          <p:cNvSpPr/>
          <p:nvPr/>
        </p:nvSpPr>
        <p:spPr>
          <a:xfrm>
            <a:off x="4983480" y="203004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SQLite (lokal)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bcrypt (Password-Hashing)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REST: CoinGecko-API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14"/>
          <p:cNvSpPr/>
          <p:nvPr/>
        </p:nvSpPr>
        <p:spPr>
          <a:xfrm>
            <a:off x="502920" y="2907720"/>
            <a:ext cx="3977280" cy="1481040"/>
          </a:xfrm>
          <a:prstGeom prst="roundRect">
            <a:avLst>
              <a:gd name="adj" fmla="val 4938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15"/>
          <p:cNvSpPr/>
          <p:nvPr/>
        </p:nvSpPr>
        <p:spPr>
          <a:xfrm>
            <a:off x="704160" y="310896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4" name="Image 2" descr="preencoded.png"/>
          <p:cNvPicPr/>
          <p:nvPr/>
        </p:nvPicPr>
        <p:blipFill>
          <a:blip r:embed="rId5"/>
          <a:stretch/>
        </p:blipFill>
        <p:spPr>
          <a:xfrm>
            <a:off x="847440" y="325224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235" name="Text 16"/>
          <p:cNvSpPr/>
          <p:nvPr/>
        </p:nvSpPr>
        <p:spPr>
          <a:xfrm>
            <a:off x="1344240" y="3108960"/>
            <a:ext cx="29257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Frontend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17"/>
          <p:cNvSpPr/>
          <p:nvPr/>
        </p:nvSpPr>
        <p:spPr>
          <a:xfrm>
            <a:off x="777240" y="365760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HTML5 &amp; CSS3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Vanilla JavaScript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Chart.js (Charts)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18"/>
          <p:cNvSpPr/>
          <p:nvPr/>
        </p:nvSpPr>
        <p:spPr>
          <a:xfrm>
            <a:off x="4709160" y="2907720"/>
            <a:ext cx="3977280" cy="1481040"/>
          </a:xfrm>
          <a:prstGeom prst="roundRect">
            <a:avLst>
              <a:gd name="adj" fmla="val 4938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19"/>
          <p:cNvSpPr/>
          <p:nvPr/>
        </p:nvSpPr>
        <p:spPr>
          <a:xfrm>
            <a:off x="4910400" y="310896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9" name="Image 3" descr="preencoded.png"/>
          <p:cNvPicPr/>
          <p:nvPr/>
        </p:nvPicPr>
        <p:blipFill>
          <a:blip r:embed="rId6"/>
          <a:stretch/>
        </p:blipFill>
        <p:spPr>
          <a:xfrm>
            <a:off x="5053680" y="325224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240" name="Text 20"/>
          <p:cNvSpPr/>
          <p:nvPr/>
        </p:nvSpPr>
        <p:spPr>
          <a:xfrm>
            <a:off x="5550480" y="3108960"/>
            <a:ext cx="29257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DevOps &amp; QS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21"/>
          <p:cNvSpPr/>
          <p:nvPr/>
        </p:nvSpPr>
        <p:spPr>
          <a:xfrm>
            <a:off x="4983480" y="365760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Docker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GitHub Actions (CI/CD)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pytest · pytest-cov · radon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22"/>
          <p:cNvSpPr/>
          <p:nvPr/>
        </p:nvSpPr>
        <p:spPr>
          <a:xfrm>
            <a:off x="502920" y="45720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B7596"/>
                </a:solidFill>
                <a:latin typeface="Consolas"/>
                <a:ea typeface="Consolas"/>
              </a:rPr>
              <a:t>Bewusst leichtgewichtig &amp; teamvertraut – nach Technologiewechsel von Java/JavaFX (siehe nächste Folie).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JULIAN · ARCHITEKTUR &amp; DB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Technologiewechsel: JavaFX → Flask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09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6"/>
          <p:cNvSpPr/>
          <p:nvPr/>
        </p:nvSpPr>
        <p:spPr>
          <a:xfrm>
            <a:off x="502920" y="1280160"/>
            <a:ext cx="3200040" cy="2239920"/>
          </a:xfrm>
          <a:prstGeom prst="roundRect">
            <a:avLst>
              <a:gd name="adj" fmla="val 3265"/>
            </a:avLst>
          </a:prstGeom>
          <a:solidFill>
            <a:srgbClr val="151E36"/>
          </a:solidFill>
          <a:ln w="12700">
            <a:solidFill>
              <a:srgbClr val="FF6B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7"/>
          <p:cNvSpPr/>
          <p:nvPr/>
        </p:nvSpPr>
        <p:spPr>
          <a:xfrm>
            <a:off x="502920" y="1280160"/>
            <a:ext cx="54360" cy="22399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8"/>
          <p:cNvSpPr/>
          <p:nvPr/>
        </p:nvSpPr>
        <p:spPr>
          <a:xfrm>
            <a:off x="731520" y="13899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6B6B"/>
                </a:solidFill>
                <a:latin typeface="Consolas"/>
                <a:ea typeface="Consolas"/>
              </a:rPr>
              <a:t>VORHER · Java / JavaFX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9"/>
          <p:cNvSpPr/>
          <p:nvPr/>
        </p:nvSpPr>
        <p:spPr>
          <a:xfrm>
            <a:off x="731520" y="1737360"/>
            <a:ext cx="2834280" cy="169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Monotype Sorts" charset="2"/>
              <a:buChar char="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Desktop-Anwendung (JavaFX)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Monotype Sorts" charset="2"/>
              <a:buChar char="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Komplexes GUI-Framework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Monotype Sorts" charset="2"/>
              <a:buChar char="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Schwierige plattformübergr. Verteilung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Monotype Sorts" charset="2"/>
              <a:buChar char="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Keine Web- / REST-Unterstützung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Monotype Sorts" charset="2"/>
              <a:buChar char="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Begrenzte Team-Erfahrung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10"/>
          <p:cNvSpPr/>
          <p:nvPr/>
        </p:nvSpPr>
        <p:spPr>
          <a:xfrm>
            <a:off x="3822120" y="2194560"/>
            <a:ext cx="456840" cy="456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6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11"/>
          <p:cNvSpPr/>
          <p:nvPr/>
        </p:nvSpPr>
        <p:spPr>
          <a:xfrm>
            <a:off x="3657600" y="2697480"/>
            <a:ext cx="776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5B8DEF"/>
                </a:solidFill>
                <a:latin typeface="Consolas"/>
                <a:ea typeface="Consolas"/>
              </a:rPr>
              <a:t>Sprint 2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12"/>
          <p:cNvSpPr/>
          <p:nvPr/>
        </p:nvSpPr>
        <p:spPr>
          <a:xfrm>
            <a:off x="4434840" y="1280160"/>
            <a:ext cx="3200040" cy="2239920"/>
          </a:xfrm>
          <a:prstGeom prst="roundRect">
            <a:avLst>
              <a:gd name="adj" fmla="val 3265"/>
            </a:avLst>
          </a:prstGeom>
          <a:solidFill>
            <a:srgbClr val="151E36"/>
          </a:solidFill>
          <a:ln w="12700">
            <a:solidFill>
              <a:srgbClr val="35C4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13"/>
          <p:cNvSpPr/>
          <p:nvPr/>
        </p:nvSpPr>
        <p:spPr>
          <a:xfrm>
            <a:off x="4434840" y="1280160"/>
            <a:ext cx="54360" cy="2239920"/>
          </a:xfrm>
          <a:prstGeom prst="roundRect">
            <a:avLst>
              <a:gd name="adj" fmla="val 50000"/>
            </a:avLst>
          </a:prstGeom>
          <a:solidFill>
            <a:srgbClr val="35C4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14"/>
          <p:cNvSpPr/>
          <p:nvPr/>
        </p:nvSpPr>
        <p:spPr>
          <a:xfrm>
            <a:off x="4663440" y="13899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35C46A"/>
                </a:solidFill>
                <a:latin typeface="Consolas"/>
                <a:ea typeface="Consolas"/>
              </a:rPr>
              <a:t>NACHHER · Python / Flask + Web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5"/>
          <p:cNvSpPr/>
          <p:nvPr/>
        </p:nvSpPr>
        <p:spPr>
          <a:xfrm>
            <a:off x="4663440" y="1737360"/>
            <a:ext cx="2834280" cy="169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OpenSymbol"/>
              <a:buChar char="✓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Browser-basierte Webanwendung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OpenSymbol"/>
              <a:buChar char="✓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Klare Frontend/Backend-Trennung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OpenSymbol"/>
              <a:buChar char="✓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REST-API-Architektur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OpenSymbol"/>
              <a:buChar char="✓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Einfache Docker-Verteilung &amp; CI/CD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98A2C4"/>
              </a:buClr>
              <a:buFont typeface="OpenSymbol"/>
              <a:buChar char="✓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Team-vertraute Technologien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16"/>
          <p:cNvSpPr/>
          <p:nvPr/>
        </p:nvSpPr>
        <p:spPr>
          <a:xfrm>
            <a:off x="7772400" y="1280160"/>
            <a:ext cx="914040" cy="2239920"/>
          </a:xfrm>
          <a:prstGeom prst="roundRect">
            <a:avLst>
              <a:gd name="adj" fmla="val 8000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17"/>
          <p:cNvSpPr/>
          <p:nvPr/>
        </p:nvSpPr>
        <p:spPr>
          <a:xfrm>
            <a:off x="7772400" y="2011680"/>
            <a:ext cx="9140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2200" b="1" strike="noStrike" spc="-1">
                <a:solidFill>
                  <a:srgbClr val="F5B544"/>
                </a:solidFill>
                <a:latin typeface="Consolas"/>
                <a:ea typeface="Consolas"/>
              </a:rPr>
              <a:t>+7 h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8A2C4"/>
                </a:solidFill>
                <a:latin typeface="Calibri"/>
                <a:ea typeface="Calibri"/>
              </a:rPr>
              <a:t>Mehraufwand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8A2C4"/>
                </a:solidFill>
                <a:latin typeface="Calibri"/>
                <a:ea typeface="Calibri"/>
              </a:rPr>
              <a:t>Sprint 2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18"/>
          <p:cNvSpPr/>
          <p:nvPr/>
        </p:nvSpPr>
        <p:spPr>
          <a:xfrm>
            <a:off x="502920" y="3703320"/>
            <a:ext cx="81835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19"/>
          <p:cNvSpPr/>
          <p:nvPr/>
        </p:nvSpPr>
        <p:spPr>
          <a:xfrm>
            <a:off x="731520" y="377640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B8DEF"/>
                </a:solidFill>
                <a:latin typeface="Calibri"/>
                <a:ea typeface="Calibri"/>
              </a:rPr>
              <a:t>Key Learning:  </a:t>
            </a: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Technologie-Risiken früh sichtbar machen. Der bewusste Wechsel kostete einmalig 7 Stunden – und sparte über das restliche Projekt ein Vielfaches. Scrum erlaubte das flexible Reagieren.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JULIAN · ARCHITEKTUR &amp; DB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Architektur: 3 Schichten / MVC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10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6"/>
          <p:cNvSpPr/>
          <p:nvPr/>
        </p:nvSpPr>
        <p:spPr>
          <a:xfrm>
            <a:off x="502920" y="1234440"/>
            <a:ext cx="8183520" cy="1874160"/>
          </a:xfrm>
          <a:prstGeom prst="roundRect">
            <a:avLst>
              <a:gd name="adj" fmla="val 3902"/>
            </a:avLst>
          </a:prstGeom>
          <a:solidFill>
            <a:srgbClr val="0F1730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0" name="Image 0" descr="/home/claude/deck/assets/component_diagram.png"/>
          <p:cNvPicPr/>
          <p:nvPr/>
        </p:nvPicPr>
        <p:blipFill>
          <a:blip r:embed="rId3"/>
          <a:stretch/>
        </p:blipFill>
        <p:spPr>
          <a:xfrm>
            <a:off x="685800" y="1371600"/>
            <a:ext cx="7817760" cy="1590840"/>
          </a:xfrm>
          <a:prstGeom prst="rect">
            <a:avLst/>
          </a:prstGeom>
          <a:ln w="0">
            <a:noFill/>
          </a:ln>
        </p:spPr>
      </p:pic>
      <p:sp>
        <p:nvSpPr>
          <p:cNvPr id="271" name="Shape 7"/>
          <p:cNvSpPr/>
          <p:nvPr/>
        </p:nvSpPr>
        <p:spPr>
          <a:xfrm>
            <a:off x="502920" y="3291840"/>
            <a:ext cx="2614680" cy="1170000"/>
          </a:xfrm>
          <a:prstGeom prst="roundRect">
            <a:avLst>
              <a:gd name="adj" fmla="val 625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8"/>
          <p:cNvSpPr/>
          <p:nvPr/>
        </p:nvSpPr>
        <p:spPr>
          <a:xfrm>
            <a:off x="502920" y="3291840"/>
            <a:ext cx="54360" cy="1170000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9"/>
          <p:cNvSpPr/>
          <p:nvPr/>
        </p:nvSpPr>
        <p:spPr>
          <a:xfrm>
            <a:off x="685800" y="3474720"/>
            <a:ext cx="420120" cy="4201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4" name="Image 1" descr="preencoded.png"/>
          <p:cNvPicPr/>
          <p:nvPr/>
        </p:nvPicPr>
        <p:blipFill>
          <a:blip r:embed="rId4"/>
          <a:stretch/>
        </p:blipFill>
        <p:spPr>
          <a:xfrm>
            <a:off x="803520" y="3592440"/>
            <a:ext cx="184680" cy="184680"/>
          </a:xfrm>
          <a:prstGeom prst="rect">
            <a:avLst/>
          </a:prstGeom>
          <a:ln w="0">
            <a:noFill/>
          </a:ln>
        </p:spPr>
      </p:pic>
      <p:sp>
        <p:nvSpPr>
          <p:cNvPr id="275" name="Text 10"/>
          <p:cNvSpPr/>
          <p:nvPr/>
        </p:nvSpPr>
        <p:spPr>
          <a:xfrm>
            <a:off x="1197720" y="34380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Präsentation / View+Controller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11"/>
          <p:cNvSpPr/>
          <p:nvPr/>
        </p:nvSpPr>
        <p:spPr>
          <a:xfrm>
            <a:off x="685800" y="39319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Flask-Routen (app.py) &amp; Jinja2-Templates, Session-Auth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12"/>
          <p:cNvSpPr/>
          <p:nvPr/>
        </p:nvSpPr>
        <p:spPr>
          <a:xfrm>
            <a:off x="3273480" y="3291840"/>
            <a:ext cx="2614680" cy="1170000"/>
          </a:xfrm>
          <a:prstGeom prst="roundRect">
            <a:avLst>
              <a:gd name="adj" fmla="val 625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13"/>
          <p:cNvSpPr/>
          <p:nvPr/>
        </p:nvSpPr>
        <p:spPr>
          <a:xfrm>
            <a:off x="3273480" y="3291840"/>
            <a:ext cx="54360" cy="1170000"/>
          </a:xfrm>
          <a:prstGeom prst="roundRect">
            <a:avLst>
              <a:gd name="adj" fmla="val 50000"/>
            </a:avLst>
          </a:prstGeom>
          <a:solidFill>
            <a:srgbClr val="35C4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Shape 14"/>
          <p:cNvSpPr/>
          <p:nvPr/>
        </p:nvSpPr>
        <p:spPr>
          <a:xfrm>
            <a:off x="3456360" y="3474720"/>
            <a:ext cx="420120" cy="4201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0" name="Image 2" descr="preencoded.png"/>
          <p:cNvPicPr/>
          <p:nvPr/>
        </p:nvPicPr>
        <p:blipFill>
          <a:blip r:embed="rId5"/>
          <a:stretch/>
        </p:blipFill>
        <p:spPr>
          <a:xfrm>
            <a:off x="3574080" y="3592440"/>
            <a:ext cx="184680" cy="184680"/>
          </a:xfrm>
          <a:prstGeom prst="rect">
            <a:avLst/>
          </a:prstGeom>
          <a:ln w="0">
            <a:noFill/>
          </a:ln>
        </p:spPr>
      </p:pic>
      <p:sp>
        <p:nvSpPr>
          <p:cNvPr id="281" name="Text 15"/>
          <p:cNvSpPr/>
          <p:nvPr/>
        </p:nvSpPr>
        <p:spPr>
          <a:xfrm>
            <a:off x="3968640" y="34380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Service-Schicht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16"/>
          <p:cNvSpPr/>
          <p:nvPr/>
        </p:nvSpPr>
        <p:spPr>
          <a:xfrm>
            <a:off x="3456360" y="39319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Fat Service: Trade-Logik, Portfolio, API-Sync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Shape 17"/>
          <p:cNvSpPr/>
          <p:nvPr/>
        </p:nvSpPr>
        <p:spPr>
          <a:xfrm>
            <a:off x="6044040" y="3291840"/>
            <a:ext cx="2614680" cy="1170000"/>
          </a:xfrm>
          <a:prstGeom prst="roundRect">
            <a:avLst>
              <a:gd name="adj" fmla="val 625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Shape 18"/>
          <p:cNvSpPr/>
          <p:nvPr/>
        </p:nvSpPr>
        <p:spPr>
          <a:xfrm>
            <a:off x="6044040" y="3291840"/>
            <a:ext cx="54360" cy="1170000"/>
          </a:xfrm>
          <a:prstGeom prst="roundRect">
            <a:avLst>
              <a:gd name="adj" fmla="val 50000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Shape 19"/>
          <p:cNvSpPr/>
          <p:nvPr/>
        </p:nvSpPr>
        <p:spPr>
          <a:xfrm>
            <a:off x="6226920" y="3474720"/>
            <a:ext cx="420120" cy="4201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6" name="Image 3" descr="preencoded.png"/>
          <p:cNvPicPr/>
          <p:nvPr/>
        </p:nvPicPr>
        <p:blipFill>
          <a:blip r:embed="rId6"/>
          <a:stretch/>
        </p:blipFill>
        <p:spPr>
          <a:xfrm>
            <a:off x="6345000" y="3592440"/>
            <a:ext cx="184680" cy="184680"/>
          </a:xfrm>
          <a:prstGeom prst="rect">
            <a:avLst/>
          </a:prstGeom>
          <a:ln w="0">
            <a:noFill/>
          </a:ln>
        </p:spPr>
      </p:pic>
      <p:sp>
        <p:nvSpPr>
          <p:cNvPr id="287" name="Text 20"/>
          <p:cNvSpPr/>
          <p:nvPr/>
        </p:nvSpPr>
        <p:spPr>
          <a:xfrm>
            <a:off x="6739200" y="34380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Model &amp; Daten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21"/>
          <p:cNvSpPr/>
          <p:nvPr/>
        </p:nvSpPr>
        <p:spPr>
          <a:xfrm>
            <a:off x="6226920" y="39319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Models kapseln SQLite, zentrale database.py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JULIAN · ARCHITEKTUR &amp; DB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Architekturentscheidungen (ADRs)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11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295" name="Table 0"/>
          <p:cNvGraphicFramePr/>
          <p:nvPr/>
        </p:nvGraphicFramePr>
        <p:xfrm>
          <a:off x="502920" y="1325880"/>
          <a:ext cx="8183520" cy="3035520"/>
        </p:xfrm>
        <a:graphic>
          <a:graphicData uri="http://schemas.openxmlformats.org/drawingml/2006/table">
            <a:tbl>
              <a:tblPr/>
              <a:tblGrid>
                <a:gridCol w="315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Entscheidung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Begründung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EEF1FB"/>
                          </a:solidFill>
                          <a:latin typeface="Calibri"/>
                          <a:ea typeface="Calibri"/>
                        </a:rPr>
                        <a:t>3-Schichten statt Monolith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Trennung der Belange, isoliert testbare Geschäftslogik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EEF1FB"/>
                          </a:solidFill>
                          <a:latin typeface="Calibri"/>
                          <a:ea typeface="Calibri"/>
                        </a:rPr>
                        <a:t>Flask statt Django / FastAPI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Minimaler Overhead, teamvertraut, schnelle Entwicklung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EEF1FB"/>
                          </a:solidFill>
                          <a:latin typeface="Calibri"/>
                          <a:ea typeface="Calibri"/>
                        </a:rPr>
                        <a:t>SQLite statt PostgreSQL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Keine Server-Infrastruktur, leicht austauschbar (DAL)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EEF1FB"/>
                          </a:solidFill>
                          <a:latin typeface="Calibri"/>
                          <a:ea typeface="Calibri"/>
                        </a:rPr>
                        <a:t>bcrypt fürs Hashing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Industrie-Standard, Salt automatisch, sichere Hashes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EEF1FB"/>
                          </a:solidFill>
                          <a:latin typeface="Calibri"/>
                          <a:ea typeface="Calibri"/>
                        </a:rPr>
                        <a:t>CoinGecko REST-API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Kostenlos &amp; zuverlässig statt eigener Datenquelle</a:t>
                      </a:r>
                      <a:endParaRPr lang="en-US" sz="11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1520" marR="10152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6" name="Text 6"/>
          <p:cNvSpPr/>
          <p:nvPr/>
        </p:nvSpPr>
        <p:spPr>
          <a:xfrm>
            <a:off x="502920" y="44348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6B7596"/>
                </a:solidFill>
                <a:latin typeface="Consolas"/>
                <a:ea typeface="Consolas"/>
              </a:rPr>
              <a:t>5 als eigenständige ADRs dokumentiert · arc42 Kapitel 9 (Halbzeit: 2 → jetzt 5)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JULIAN · ARCHITEKTUR &amp; DB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Datenbank-Design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12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6"/>
          <p:cNvSpPr/>
          <p:nvPr/>
        </p:nvSpPr>
        <p:spPr>
          <a:xfrm>
            <a:off x="502920" y="1280160"/>
            <a:ext cx="2331360" cy="1444320"/>
          </a:xfrm>
          <a:prstGeom prst="roundRect">
            <a:avLst>
              <a:gd name="adj" fmla="val 506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Shape 7"/>
          <p:cNvSpPr/>
          <p:nvPr/>
        </p:nvSpPr>
        <p:spPr>
          <a:xfrm>
            <a:off x="502920" y="1280160"/>
            <a:ext cx="2331360" cy="383760"/>
          </a:xfrm>
          <a:prstGeom prst="roundRect">
            <a:avLst>
              <a:gd name="adj" fmla="val 19048"/>
            </a:avLst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Shape 8"/>
          <p:cNvSpPr/>
          <p:nvPr/>
        </p:nvSpPr>
        <p:spPr>
          <a:xfrm>
            <a:off x="502920" y="1536120"/>
            <a:ext cx="2331360" cy="127800"/>
          </a:xfrm>
          <a:prstGeom prst="rect">
            <a:avLst/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9"/>
          <p:cNvSpPr/>
          <p:nvPr/>
        </p:nvSpPr>
        <p:spPr>
          <a:xfrm>
            <a:off x="612720" y="1280160"/>
            <a:ext cx="2148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5B8DEF"/>
                </a:solidFill>
                <a:latin typeface="Consolas"/>
                <a:ea typeface="Consolas"/>
              </a:rPr>
              <a:t>accounts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10"/>
          <p:cNvSpPr/>
          <p:nvPr/>
        </p:nvSpPr>
        <p:spPr>
          <a:xfrm>
            <a:off x="649080" y="1700640"/>
            <a:ext cx="210276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id  (PK)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name  (unique)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pw  (bcrypt)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created_at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11"/>
          <p:cNvSpPr/>
          <p:nvPr/>
        </p:nvSpPr>
        <p:spPr>
          <a:xfrm>
            <a:off x="502920" y="3063240"/>
            <a:ext cx="2331360" cy="968760"/>
          </a:xfrm>
          <a:prstGeom prst="roundRect">
            <a:avLst>
              <a:gd name="adj" fmla="val 754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12"/>
          <p:cNvSpPr/>
          <p:nvPr/>
        </p:nvSpPr>
        <p:spPr>
          <a:xfrm>
            <a:off x="502920" y="3063240"/>
            <a:ext cx="2331360" cy="383760"/>
          </a:xfrm>
          <a:prstGeom prst="roundRect">
            <a:avLst>
              <a:gd name="adj" fmla="val 19048"/>
            </a:avLst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Shape 13"/>
          <p:cNvSpPr/>
          <p:nvPr/>
        </p:nvSpPr>
        <p:spPr>
          <a:xfrm>
            <a:off x="502920" y="3319200"/>
            <a:ext cx="2331360" cy="127800"/>
          </a:xfrm>
          <a:prstGeom prst="rect">
            <a:avLst/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14"/>
          <p:cNvSpPr/>
          <p:nvPr/>
        </p:nvSpPr>
        <p:spPr>
          <a:xfrm>
            <a:off x="612720" y="3063240"/>
            <a:ext cx="2148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5B544"/>
                </a:solidFill>
                <a:latin typeface="Consolas"/>
                <a:ea typeface="Consolas"/>
              </a:rPr>
              <a:t>favorites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15"/>
          <p:cNvSpPr/>
          <p:nvPr/>
        </p:nvSpPr>
        <p:spPr>
          <a:xfrm>
            <a:off x="649080" y="3483720"/>
            <a:ext cx="210276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acc_id  (PK)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coin_id  (PK)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16"/>
          <p:cNvSpPr/>
          <p:nvPr/>
        </p:nvSpPr>
        <p:spPr>
          <a:xfrm>
            <a:off x="3200400" y="1280160"/>
            <a:ext cx="2377080" cy="1919880"/>
          </a:xfrm>
          <a:prstGeom prst="roundRect">
            <a:avLst>
              <a:gd name="adj" fmla="val 381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17"/>
          <p:cNvSpPr/>
          <p:nvPr/>
        </p:nvSpPr>
        <p:spPr>
          <a:xfrm>
            <a:off x="3200400" y="1280160"/>
            <a:ext cx="2377080" cy="383760"/>
          </a:xfrm>
          <a:prstGeom prst="roundRect">
            <a:avLst>
              <a:gd name="adj" fmla="val 19048"/>
            </a:avLst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18"/>
          <p:cNvSpPr/>
          <p:nvPr/>
        </p:nvSpPr>
        <p:spPr>
          <a:xfrm>
            <a:off x="3200400" y="1536120"/>
            <a:ext cx="2377080" cy="127800"/>
          </a:xfrm>
          <a:prstGeom prst="rect">
            <a:avLst/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19"/>
          <p:cNvSpPr/>
          <p:nvPr/>
        </p:nvSpPr>
        <p:spPr>
          <a:xfrm>
            <a:off x="3310200" y="128016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35C46A"/>
                </a:solidFill>
                <a:latin typeface="Consolas"/>
                <a:ea typeface="Consolas"/>
              </a:rPr>
              <a:t>transactions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20"/>
          <p:cNvSpPr/>
          <p:nvPr/>
        </p:nvSpPr>
        <p:spPr>
          <a:xfrm>
            <a:off x="3346560" y="1700640"/>
            <a:ext cx="214848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id  (PK)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acc_id  (FK)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coin_id  (FK)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type  BUY/SELL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amount · price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timestamp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21"/>
          <p:cNvSpPr/>
          <p:nvPr/>
        </p:nvSpPr>
        <p:spPr>
          <a:xfrm>
            <a:off x="5943600" y="1280160"/>
            <a:ext cx="2697120" cy="1682280"/>
          </a:xfrm>
          <a:prstGeom prst="roundRect">
            <a:avLst>
              <a:gd name="adj" fmla="val 4348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Shape 22"/>
          <p:cNvSpPr/>
          <p:nvPr/>
        </p:nvSpPr>
        <p:spPr>
          <a:xfrm>
            <a:off x="5943600" y="1280160"/>
            <a:ext cx="2697120" cy="383760"/>
          </a:xfrm>
          <a:prstGeom prst="roundRect">
            <a:avLst>
              <a:gd name="adj" fmla="val 19048"/>
            </a:avLst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23"/>
          <p:cNvSpPr/>
          <p:nvPr/>
        </p:nvSpPr>
        <p:spPr>
          <a:xfrm>
            <a:off x="5943600" y="1536120"/>
            <a:ext cx="2697120" cy="127800"/>
          </a:xfrm>
          <a:prstGeom prst="rect">
            <a:avLst/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24"/>
          <p:cNvSpPr/>
          <p:nvPr/>
        </p:nvSpPr>
        <p:spPr>
          <a:xfrm>
            <a:off x="6053400" y="1280160"/>
            <a:ext cx="2514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8B7CF6"/>
                </a:solidFill>
                <a:latin typeface="Consolas"/>
                <a:ea typeface="Consolas"/>
              </a:rPr>
              <a:t>coins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25"/>
          <p:cNvSpPr/>
          <p:nvPr/>
        </p:nvSpPr>
        <p:spPr>
          <a:xfrm>
            <a:off x="6089760" y="1700640"/>
            <a:ext cx="2468520" cy="122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id  (PK)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symbol · name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current_price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market_cap · rank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image (BLOB)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26"/>
          <p:cNvSpPr/>
          <p:nvPr/>
        </p:nvSpPr>
        <p:spPr>
          <a:xfrm>
            <a:off x="5943600" y="3246120"/>
            <a:ext cx="2697120" cy="1206720"/>
          </a:xfrm>
          <a:prstGeom prst="roundRect">
            <a:avLst>
              <a:gd name="adj" fmla="val 60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Shape 27"/>
          <p:cNvSpPr/>
          <p:nvPr/>
        </p:nvSpPr>
        <p:spPr>
          <a:xfrm>
            <a:off x="5943600" y="3246120"/>
            <a:ext cx="2697120" cy="383760"/>
          </a:xfrm>
          <a:prstGeom prst="roundRect">
            <a:avLst>
              <a:gd name="adj" fmla="val 19048"/>
            </a:avLst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Shape 28"/>
          <p:cNvSpPr/>
          <p:nvPr/>
        </p:nvSpPr>
        <p:spPr>
          <a:xfrm>
            <a:off x="5943600" y="3502080"/>
            <a:ext cx="2697120" cy="127800"/>
          </a:xfrm>
          <a:prstGeom prst="rect">
            <a:avLst/>
          </a:prstGeom>
          <a:solidFill>
            <a:srgbClr val="1B25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29"/>
          <p:cNvSpPr/>
          <p:nvPr/>
        </p:nvSpPr>
        <p:spPr>
          <a:xfrm>
            <a:off x="6053400" y="3246120"/>
            <a:ext cx="2514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8B7CF6"/>
                </a:solidFill>
                <a:latin typeface="Consolas"/>
                <a:ea typeface="Consolas"/>
              </a:rPr>
              <a:t>&lt;coin&gt;_history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30"/>
          <p:cNvSpPr/>
          <p:nvPr/>
        </p:nvSpPr>
        <p:spPr>
          <a:xfrm>
            <a:off x="6089760" y="3666600"/>
            <a:ext cx="24685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timestamp_ms  (unique)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price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(je Coin eine Tabelle)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Shape 31"/>
          <p:cNvSpPr/>
          <p:nvPr/>
        </p:nvSpPr>
        <p:spPr>
          <a:xfrm>
            <a:off x="2834640" y="1783080"/>
            <a:ext cx="365760" cy="360"/>
          </a:xfrm>
          <a:prstGeom prst="line">
            <a:avLst/>
          </a:prstGeom>
          <a:ln w="1524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32"/>
          <p:cNvSpPr/>
          <p:nvPr/>
        </p:nvSpPr>
        <p:spPr>
          <a:xfrm>
            <a:off x="5577840" y="1783080"/>
            <a:ext cx="365760" cy="360"/>
          </a:xfrm>
          <a:prstGeom prst="line">
            <a:avLst/>
          </a:prstGeom>
          <a:ln w="1524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Shape 33"/>
          <p:cNvSpPr/>
          <p:nvPr/>
        </p:nvSpPr>
        <p:spPr>
          <a:xfrm>
            <a:off x="3200400" y="3246120"/>
            <a:ext cx="2377080" cy="1078560"/>
          </a:xfrm>
          <a:prstGeom prst="roundRect">
            <a:avLst>
              <a:gd name="adj" fmla="val 6780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34"/>
          <p:cNvSpPr/>
          <p:nvPr/>
        </p:nvSpPr>
        <p:spPr>
          <a:xfrm>
            <a:off x="3346560" y="334656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rmAutofit/>
          </a:bodyPr>
          <a:lstStyle/>
          <a:p>
            <a:r>
              <a:rPr lang="en-US" sz="1200" b="1" strike="noStrike" spc="-1">
                <a:solidFill>
                  <a:srgbClr val="35C46A"/>
                </a:solidFill>
                <a:latin typeface="Trebuchet MS"/>
                <a:ea typeface="Trebuchet MS"/>
              </a:rPr>
              <a:t>Event-Sourcing-Prinzip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Guthaben und Bestände werden </a:t>
            </a:r>
            <a:r>
              <a:rPr lang="en-US" sz="1050" b="1" strike="noStrike" spc="-1">
                <a:solidFill>
                  <a:srgbClr val="EEF1FB"/>
                </a:solidFill>
                <a:latin typeface="Calibri"/>
                <a:ea typeface="Calibri"/>
              </a:rPr>
              <a:t>nicht gespeichert</a:t>
            </a: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, sondern live aus allen Transaktionen berechnet.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LUCAS · BACKEND &amp; DEVOPS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Clean Code &amp; Refactoring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13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Shape 6"/>
          <p:cNvSpPr/>
          <p:nvPr/>
        </p:nvSpPr>
        <p:spPr>
          <a:xfrm>
            <a:off x="502920" y="1280160"/>
            <a:ext cx="2742840" cy="3154320"/>
          </a:xfrm>
          <a:prstGeom prst="roundRect">
            <a:avLst>
              <a:gd name="adj" fmla="val 266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7"/>
          <p:cNvSpPr/>
          <p:nvPr/>
        </p:nvSpPr>
        <p:spPr>
          <a:xfrm>
            <a:off x="685800" y="138996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97">
                <a:solidFill>
                  <a:srgbClr val="5B8DEF"/>
                </a:solidFill>
                <a:latin typeface="Consolas"/>
                <a:ea typeface="Consolas"/>
              </a:rPr>
              <a:t>Angewandte Prinzipien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Shape 8"/>
          <p:cNvSpPr/>
          <p:nvPr/>
        </p:nvSpPr>
        <p:spPr>
          <a:xfrm>
            <a:off x="685800" y="1783080"/>
            <a:ext cx="868320" cy="383760"/>
          </a:xfrm>
          <a:prstGeom prst="roundRect">
            <a:avLst>
              <a:gd name="adj" fmla="val 14286"/>
            </a:avLst>
          </a:prstGeom>
          <a:solidFill>
            <a:srgbClr val="1B2542"/>
          </a:solidFill>
          <a:ln w="1270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9"/>
          <p:cNvSpPr/>
          <p:nvPr/>
        </p:nvSpPr>
        <p:spPr>
          <a:xfrm>
            <a:off x="685800" y="178308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B8DEF"/>
                </a:solidFill>
                <a:latin typeface="Consolas"/>
                <a:ea typeface="Consolas"/>
              </a:rPr>
              <a:t>SRP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10"/>
          <p:cNvSpPr/>
          <p:nvPr/>
        </p:nvSpPr>
        <p:spPr>
          <a:xfrm>
            <a:off x="1664280" y="178308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Eine Funktion, eine Aufgabe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Shape 11"/>
          <p:cNvSpPr/>
          <p:nvPr/>
        </p:nvSpPr>
        <p:spPr>
          <a:xfrm>
            <a:off x="685800" y="2286000"/>
            <a:ext cx="868320" cy="383760"/>
          </a:xfrm>
          <a:prstGeom prst="roundRect">
            <a:avLst>
              <a:gd name="adj" fmla="val 14286"/>
            </a:avLst>
          </a:prstGeom>
          <a:solidFill>
            <a:srgbClr val="1B2542"/>
          </a:solidFill>
          <a:ln w="1270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12"/>
          <p:cNvSpPr/>
          <p:nvPr/>
        </p:nvSpPr>
        <p:spPr>
          <a:xfrm>
            <a:off x="685800" y="228600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B8DEF"/>
                </a:solidFill>
                <a:latin typeface="Consolas"/>
                <a:ea typeface="Consolas"/>
              </a:rPr>
              <a:t>DRY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13"/>
          <p:cNvSpPr/>
          <p:nvPr/>
        </p:nvSpPr>
        <p:spPr>
          <a:xfrm>
            <a:off x="1664280" y="228600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Keine Duplizierung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14"/>
          <p:cNvSpPr/>
          <p:nvPr/>
        </p:nvSpPr>
        <p:spPr>
          <a:xfrm>
            <a:off x="685800" y="2788920"/>
            <a:ext cx="868320" cy="383760"/>
          </a:xfrm>
          <a:prstGeom prst="roundRect">
            <a:avLst>
              <a:gd name="adj" fmla="val 14286"/>
            </a:avLst>
          </a:prstGeom>
          <a:solidFill>
            <a:srgbClr val="1B2542"/>
          </a:solidFill>
          <a:ln w="1270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15"/>
          <p:cNvSpPr/>
          <p:nvPr/>
        </p:nvSpPr>
        <p:spPr>
          <a:xfrm>
            <a:off x="685800" y="278892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B8DEF"/>
                </a:solidFill>
                <a:latin typeface="Consolas"/>
                <a:ea typeface="Consolas"/>
              </a:rPr>
              <a:t>IOSP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16"/>
          <p:cNvSpPr/>
          <p:nvPr/>
        </p:nvSpPr>
        <p:spPr>
          <a:xfrm>
            <a:off x="1664280" y="278892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Integration von Operation trennen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Shape 17"/>
          <p:cNvSpPr/>
          <p:nvPr/>
        </p:nvSpPr>
        <p:spPr>
          <a:xfrm>
            <a:off x="685800" y="3291840"/>
            <a:ext cx="868320" cy="383760"/>
          </a:xfrm>
          <a:prstGeom prst="roundRect">
            <a:avLst>
              <a:gd name="adj" fmla="val 14286"/>
            </a:avLst>
          </a:prstGeom>
          <a:solidFill>
            <a:srgbClr val="1B2542"/>
          </a:solidFill>
          <a:ln w="1270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18"/>
          <p:cNvSpPr/>
          <p:nvPr/>
        </p:nvSpPr>
        <p:spPr>
          <a:xfrm>
            <a:off x="685800" y="329184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B8DEF"/>
                </a:solidFill>
                <a:latin typeface="Consolas"/>
                <a:ea typeface="Consolas"/>
              </a:rPr>
              <a:t>SoC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19"/>
          <p:cNvSpPr/>
          <p:nvPr/>
        </p:nvSpPr>
        <p:spPr>
          <a:xfrm>
            <a:off x="1664280" y="329184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Datenhaltung/Logik/View getrennt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20"/>
          <p:cNvSpPr/>
          <p:nvPr/>
        </p:nvSpPr>
        <p:spPr>
          <a:xfrm>
            <a:off x="685800" y="3794760"/>
            <a:ext cx="868320" cy="383760"/>
          </a:xfrm>
          <a:prstGeom prst="roundRect">
            <a:avLst>
              <a:gd name="adj" fmla="val 14286"/>
            </a:avLst>
          </a:prstGeom>
          <a:solidFill>
            <a:srgbClr val="1B2542"/>
          </a:solidFill>
          <a:ln w="12700">
            <a:solidFill>
              <a:srgbClr val="5B8D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lnSpcReduction="1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21"/>
          <p:cNvSpPr/>
          <p:nvPr/>
        </p:nvSpPr>
        <p:spPr>
          <a:xfrm>
            <a:off x="685800" y="379476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B8DEF"/>
                </a:solidFill>
                <a:latin typeface="Consolas"/>
                <a:ea typeface="Consolas"/>
              </a:rPr>
              <a:t>klein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22"/>
          <p:cNvSpPr/>
          <p:nvPr/>
        </p:nvSpPr>
        <p:spPr>
          <a:xfrm>
            <a:off x="1664280" y="379476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Kleine, sprechende Funktionen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23"/>
          <p:cNvSpPr/>
          <p:nvPr/>
        </p:nvSpPr>
        <p:spPr>
          <a:xfrm>
            <a:off x="3474720" y="128016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8B7CF6"/>
                </a:solidFill>
                <a:latin typeface="Consolas"/>
                <a:ea typeface="Consolas"/>
              </a:rPr>
              <a:t>Beispiel: execute_trade() nach IOSP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Shape 24"/>
          <p:cNvSpPr/>
          <p:nvPr/>
        </p:nvSpPr>
        <p:spPr>
          <a:xfrm>
            <a:off x="3474720" y="1627560"/>
            <a:ext cx="5211720" cy="1234080"/>
          </a:xfrm>
          <a:prstGeom prst="roundRect">
            <a:avLst>
              <a:gd name="adj" fmla="val 5926"/>
            </a:avLst>
          </a:prstGeom>
          <a:solidFill>
            <a:srgbClr val="0C1228"/>
          </a:solidFill>
          <a:ln w="12700">
            <a:solidFill>
              <a:srgbClr val="FF6B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25"/>
          <p:cNvSpPr/>
          <p:nvPr/>
        </p:nvSpPr>
        <p:spPr>
          <a:xfrm>
            <a:off x="3611880" y="16916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6B6B"/>
                </a:solidFill>
                <a:latin typeface="Consolas"/>
                <a:ea typeface="Consolas"/>
              </a:rPr>
              <a:t>VORHER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26"/>
          <p:cNvSpPr/>
          <p:nvPr/>
        </p:nvSpPr>
        <p:spPr>
          <a:xfrm>
            <a:off x="3611880" y="1920240"/>
            <a:ext cx="493740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def execute_trade(...):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    # Validierung + DB-Zugriff + Berechnung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    # vermischt, BUY/SELL-Logik dupliziert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Shape 27"/>
          <p:cNvSpPr/>
          <p:nvPr/>
        </p:nvSpPr>
        <p:spPr>
          <a:xfrm>
            <a:off x="3474720" y="2971800"/>
            <a:ext cx="5211720" cy="1462680"/>
          </a:xfrm>
          <a:prstGeom prst="roundRect">
            <a:avLst>
              <a:gd name="adj" fmla="val 5000"/>
            </a:avLst>
          </a:prstGeom>
          <a:solidFill>
            <a:srgbClr val="0C1228"/>
          </a:solidFill>
          <a:ln w="12700">
            <a:solidFill>
              <a:srgbClr val="35C4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28"/>
          <p:cNvSpPr/>
          <p:nvPr/>
        </p:nvSpPr>
        <p:spPr>
          <a:xfrm>
            <a:off x="3611880" y="30358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35C46A"/>
                </a:solidFill>
                <a:latin typeface="Consolas"/>
                <a:ea typeface="Consolas"/>
              </a:rPr>
              <a:t>NACHHER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29"/>
          <p:cNvSpPr/>
          <p:nvPr/>
        </p:nvSpPr>
        <p:spPr>
          <a:xfrm>
            <a:off x="3611880" y="3264480"/>
            <a:ext cx="4937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050" b="0" strike="noStrike" spc="-1">
                <a:solidFill>
                  <a:srgbClr val="EEF1FB"/>
                </a:solidFill>
                <a:latin typeface="Consolas"/>
                <a:ea typeface="Consolas"/>
              </a:rPr>
              <a:t>def execute_trade(self, ...):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    action = self._normalize_action(action)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    coin   = self._require_coin(coin_id)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    self._validate_trade(...)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onsolas"/>
                <a:ea typeface="Consolas"/>
              </a:rPr>
              <a:t>    self._save_transaction(...)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30"/>
          <p:cNvSpPr/>
          <p:nvPr/>
        </p:nvSpPr>
        <p:spPr>
          <a:xfrm>
            <a:off x="502920" y="45720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B7596"/>
                </a:solidFill>
                <a:latin typeface="Consolas"/>
                <a:ea typeface="Consolas"/>
              </a:rPr>
              <a:t>4+ dokumentierte Refactorings + Design Patterns: Decorator (@login_required) · Service Layer · Event-Sourcing · IOSP (execute_trade) · DRY (Tabellennamen, BUY/SELL) · login_or_register entflochten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SARA · ANFORDERUNGEN &amp; QA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Qualitätssicherung: Tests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14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Shape 6"/>
          <p:cNvSpPr/>
          <p:nvPr/>
        </p:nvSpPr>
        <p:spPr>
          <a:xfrm>
            <a:off x="502920" y="1280160"/>
            <a:ext cx="2880000" cy="3154320"/>
          </a:xfrm>
          <a:prstGeom prst="roundRect">
            <a:avLst>
              <a:gd name="adj" fmla="val 254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7"/>
          <p:cNvSpPr/>
          <p:nvPr/>
        </p:nvSpPr>
        <p:spPr>
          <a:xfrm>
            <a:off x="502920" y="1554480"/>
            <a:ext cx="2880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5B8DEF"/>
                </a:solidFill>
                <a:latin typeface="Consolas"/>
                <a:ea typeface="Consolas"/>
              </a:rPr>
              <a:t>TEST-COVERAGE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8"/>
          <p:cNvSpPr/>
          <p:nvPr/>
        </p:nvSpPr>
        <p:spPr>
          <a:xfrm>
            <a:off x="502920" y="1874520"/>
            <a:ext cx="28800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0" b="1" strike="noStrike" spc="-1">
                <a:solidFill>
                  <a:srgbClr val="35C46A"/>
                </a:solidFill>
                <a:latin typeface="Consolas"/>
                <a:ea typeface="Consolas"/>
              </a:rPr>
              <a:t>92 %</a:t>
            </a:r>
            <a:endParaRPr lang="en-US" sz="6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Shape 9"/>
          <p:cNvSpPr/>
          <p:nvPr/>
        </p:nvSpPr>
        <p:spPr>
          <a:xfrm>
            <a:off x="777240" y="3063240"/>
            <a:ext cx="2331360" cy="237240"/>
          </a:xfrm>
          <a:prstGeom prst="roundRect">
            <a:avLst>
              <a:gd name="adj" fmla="val 50000"/>
            </a:avLst>
          </a:prstGeom>
          <a:solidFill>
            <a:srgbClr val="27304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3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10"/>
          <p:cNvSpPr/>
          <p:nvPr/>
        </p:nvSpPr>
        <p:spPr>
          <a:xfrm>
            <a:off x="777240" y="3063240"/>
            <a:ext cx="2144880" cy="237240"/>
          </a:xfrm>
          <a:prstGeom prst="roundRect">
            <a:avLst>
              <a:gd name="adj" fmla="val 50000"/>
            </a:avLst>
          </a:prstGeom>
          <a:solidFill>
            <a:srgbClr val="35C4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32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 11"/>
          <p:cNvSpPr/>
          <p:nvPr/>
        </p:nvSpPr>
        <p:spPr>
          <a:xfrm>
            <a:off x="777240" y="334656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B7596"/>
                </a:solidFill>
                <a:latin typeface="Consolas"/>
                <a:ea typeface="Consolas"/>
              </a:rPr>
              <a:t>0 %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12"/>
          <p:cNvSpPr/>
          <p:nvPr/>
        </p:nvSpPr>
        <p:spPr>
          <a:xfrm>
            <a:off x="1828800" y="334656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F5B544"/>
                </a:solidFill>
                <a:latin typeface="Consolas"/>
                <a:ea typeface="Consolas"/>
              </a:rPr>
              <a:t>Ziel ≥ 80 %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13"/>
          <p:cNvSpPr/>
          <p:nvPr/>
        </p:nvSpPr>
        <p:spPr>
          <a:xfrm>
            <a:off x="548640" y="3950280"/>
            <a:ext cx="2788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auf services/market_service.py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Shape 14"/>
          <p:cNvSpPr/>
          <p:nvPr/>
        </p:nvSpPr>
        <p:spPr>
          <a:xfrm>
            <a:off x="3611880" y="1280160"/>
            <a:ext cx="1627200" cy="914040"/>
          </a:xfrm>
          <a:prstGeom prst="roundRect">
            <a:avLst>
              <a:gd name="adj" fmla="val 800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 15"/>
          <p:cNvSpPr/>
          <p:nvPr/>
        </p:nvSpPr>
        <p:spPr>
          <a:xfrm>
            <a:off x="3611880" y="137160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5B8DEF"/>
                </a:solidFill>
                <a:latin typeface="Consolas"/>
                <a:ea typeface="Consolas"/>
              </a:rPr>
              <a:t>35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16"/>
          <p:cNvSpPr/>
          <p:nvPr/>
        </p:nvSpPr>
        <p:spPr>
          <a:xfrm>
            <a:off x="3611880" y="1847160"/>
            <a:ext cx="1627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Testfälle grün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Shape 17"/>
          <p:cNvSpPr/>
          <p:nvPr/>
        </p:nvSpPr>
        <p:spPr>
          <a:xfrm>
            <a:off x="5367600" y="1280160"/>
            <a:ext cx="1627200" cy="914040"/>
          </a:xfrm>
          <a:prstGeom prst="roundRect">
            <a:avLst>
              <a:gd name="adj" fmla="val 800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18"/>
          <p:cNvSpPr/>
          <p:nvPr/>
        </p:nvSpPr>
        <p:spPr>
          <a:xfrm>
            <a:off x="5367600" y="137160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8B7CF6"/>
                </a:solidFill>
                <a:latin typeface="Consolas"/>
                <a:ea typeface="Consolas"/>
              </a:rPr>
              <a:t>33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19"/>
          <p:cNvSpPr/>
          <p:nvPr/>
        </p:nvSpPr>
        <p:spPr>
          <a:xfrm>
            <a:off x="5367600" y="1847160"/>
            <a:ext cx="1627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Unit-Tests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Shape 20"/>
          <p:cNvSpPr/>
          <p:nvPr/>
        </p:nvSpPr>
        <p:spPr>
          <a:xfrm>
            <a:off x="7123320" y="1280160"/>
            <a:ext cx="1627200" cy="914040"/>
          </a:xfrm>
          <a:prstGeom prst="roundRect">
            <a:avLst>
              <a:gd name="adj" fmla="val 800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 21"/>
          <p:cNvSpPr/>
          <p:nvPr/>
        </p:nvSpPr>
        <p:spPr>
          <a:xfrm>
            <a:off x="7123320" y="137160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35C46A"/>
                </a:solidFill>
                <a:latin typeface="Consolas"/>
                <a:ea typeface="Consolas"/>
              </a:rPr>
              <a:t>2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22"/>
          <p:cNvSpPr/>
          <p:nvPr/>
        </p:nvSpPr>
        <p:spPr>
          <a:xfrm>
            <a:off x="7123320" y="1847160"/>
            <a:ext cx="1627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Integrationstests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Shape 23"/>
          <p:cNvSpPr/>
          <p:nvPr/>
        </p:nvSpPr>
        <p:spPr>
          <a:xfrm>
            <a:off x="3611880" y="2377440"/>
            <a:ext cx="5074560" cy="2057040"/>
          </a:xfrm>
          <a:prstGeom prst="roundRect">
            <a:avLst>
              <a:gd name="adj" fmla="val 3556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 24"/>
          <p:cNvSpPr/>
          <p:nvPr/>
        </p:nvSpPr>
        <p:spPr>
          <a:xfrm>
            <a:off x="3794760" y="2487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5B8DEF"/>
                </a:solidFill>
                <a:latin typeface="Consolas"/>
                <a:ea typeface="Consolas"/>
              </a:rPr>
              <a:t>Teststrategie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25"/>
          <p:cNvSpPr/>
          <p:nvPr/>
        </p:nvSpPr>
        <p:spPr>
          <a:xfrm>
            <a:off x="3794760" y="2853000"/>
            <a:ext cx="475452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Fokus auf die Service-Schicht – dort liegt die kritische Geschäftslogik (Balance, Position, Trade-Validierung, Order-Modi)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pytest + pytest-cov · 3 Testdateien (test_market_service, test_place_order, test_trade_flow) · isolierte In-Memory-SQLite pro Test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Bewusst nicht getestet: Flask-Routen, Templates, API-Sync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98A2C4"/>
                </a:solidFill>
                <a:latin typeface="Calibri"/>
                <a:ea typeface="Calibri"/>
              </a:rPr>
              <a:t>Automatische Ausführung bei jedem Push &amp; Pull-Request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SARA · ANFORDERUNGEN &amp; QA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Review-Protokoll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15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Shape 6"/>
          <p:cNvSpPr/>
          <p:nvPr/>
        </p:nvSpPr>
        <p:spPr>
          <a:xfrm>
            <a:off x="502920" y="1280160"/>
            <a:ext cx="3062880" cy="3154320"/>
          </a:xfrm>
          <a:prstGeom prst="roundRect">
            <a:avLst>
              <a:gd name="adj" fmla="val 2388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7"/>
          <p:cNvSpPr/>
          <p:nvPr/>
        </p:nvSpPr>
        <p:spPr>
          <a:xfrm>
            <a:off x="685800" y="13899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5B8DEF"/>
                </a:solidFill>
                <a:latin typeface="Consolas"/>
                <a:ea typeface="Consolas"/>
              </a:rPr>
              <a:t>Walkthrough-Review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 8"/>
          <p:cNvSpPr/>
          <p:nvPr/>
        </p:nvSpPr>
        <p:spPr>
          <a:xfrm>
            <a:off x="685800" y="1691640"/>
            <a:ext cx="27428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25.05.2026 · 14:00–15:30 Uhr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EF1FB"/>
                </a:solidFill>
                <a:latin typeface="Calibri"/>
                <a:ea typeface="Calibri"/>
              </a:rPr>
              <a:t>Geprüft: 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app.py, market_service.py, coin_sync_service.py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9"/>
          <p:cNvSpPr/>
          <p:nvPr/>
        </p:nvSpPr>
        <p:spPr>
          <a:xfrm>
            <a:off x="685800" y="23774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6B7596"/>
                </a:solidFill>
                <a:latin typeface="Consolas"/>
                <a:ea typeface="Consolas"/>
              </a:rPr>
              <a:t>Rollen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 10"/>
          <p:cNvSpPr/>
          <p:nvPr/>
        </p:nvSpPr>
        <p:spPr>
          <a:xfrm>
            <a:off x="713160" y="26060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EF1FB"/>
                </a:solidFill>
                <a:latin typeface="Calibri"/>
                <a:ea typeface="Calibri"/>
              </a:rPr>
              <a:t>Lucas  </a:t>
            </a:r>
            <a:r>
              <a:rPr lang="en-US" sz="1050" b="0" strike="noStrike" spc="-1">
                <a:solidFill>
                  <a:srgbClr val="8B7CF6"/>
                </a:solidFill>
                <a:latin typeface="Calibri"/>
                <a:ea typeface="Calibri"/>
              </a:rPr>
              <a:t>Moderator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 11"/>
          <p:cNvSpPr/>
          <p:nvPr/>
        </p:nvSpPr>
        <p:spPr>
          <a:xfrm>
            <a:off x="713160" y="2917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EF1FB"/>
                </a:solidFill>
                <a:latin typeface="Calibri"/>
                <a:ea typeface="Calibri"/>
              </a:rPr>
              <a:t>Julian  </a:t>
            </a:r>
            <a:r>
              <a:rPr lang="en-US" sz="1050" b="0" strike="noStrike" spc="-1">
                <a:solidFill>
                  <a:srgbClr val="8B7CF6"/>
                </a:solidFill>
                <a:latin typeface="Calibri"/>
                <a:ea typeface="Calibri"/>
              </a:rPr>
              <a:t>Vorleser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12"/>
          <p:cNvSpPr/>
          <p:nvPr/>
        </p:nvSpPr>
        <p:spPr>
          <a:xfrm>
            <a:off x="713160" y="32277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EF1FB"/>
                </a:solidFill>
                <a:latin typeface="Calibri"/>
                <a:ea typeface="Calibri"/>
              </a:rPr>
              <a:t>Sara  </a:t>
            </a:r>
            <a:r>
              <a:rPr lang="en-US" sz="1050" b="0" strike="noStrike" spc="-1">
                <a:solidFill>
                  <a:srgbClr val="8B7CF6"/>
                </a:solidFill>
                <a:latin typeface="Calibri"/>
                <a:ea typeface="Calibri"/>
              </a:rPr>
              <a:t>Protokoll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13"/>
          <p:cNvSpPr/>
          <p:nvPr/>
        </p:nvSpPr>
        <p:spPr>
          <a:xfrm>
            <a:off x="713160" y="3538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EF1FB"/>
                </a:solidFill>
                <a:latin typeface="Calibri"/>
                <a:ea typeface="Calibri"/>
              </a:rPr>
              <a:t>Jonathan  </a:t>
            </a:r>
            <a:r>
              <a:rPr lang="en-US" sz="1050" b="0" strike="noStrike" spc="-1">
                <a:solidFill>
                  <a:srgbClr val="8B7CF6"/>
                </a:solidFill>
                <a:latin typeface="Calibri"/>
                <a:ea typeface="Calibri"/>
              </a:rPr>
              <a:t>Zeitwächter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14"/>
          <p:cNvSpPr/>
          <p:nvPr/>
        </p:nvSpPr>
        <p:spPr>
          <a:xfrm>
            <a:off x="713160" y="388620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EEF1FB"/>
                </a:solidFill>
                <a:latin typeface="Calibri"/>
                <a:ea typeface="Calibri"/>
              </a:rPr>
              <a:t>Methodik: </a:t>
            </a: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Informaler Walkthrough – Code abschnittsweise vorgelesen, Befunde direkt protokolliert.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Shape 15"/>
          <p:cNvSpPr/>
          <p:nvPr/>
        </p:nvSpPr>
        <p:spPr>
          <a:xfrm>
            <a:off x="3703320" y="1280160"/>
            <a:ext cx="4983120" cy="2148480"/>
          </a:xfrm>
          <a:prstGeom prst="roundRect">
            <a:avLst>
              <a:gd name="adj" fmla="val 3404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 16"/>
          <p:cNvSpPr/>
          <p:nvPr/>
        </p:nvSpPr>
        <p:spPr>
          <a:xfrm>
            <a:off x="3886200" y="138996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5B544"/>
                </a:solidFill>
                <a:latin typeface="Consolas"/>
                <a:ea typeface="Consolas"/>
              </a:rPr>
              <a:t>Zentrale Befunde → 5 Aufgaben (alle behoben)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 17"/>
          <p:cNvSpPr/>
          <p:nvPr/>
        </p:nvSpPr>
        <p:spPr>
          <a:xfrm>
            <a:off x="3886200" y="1700640"/>
            <a:ext cx="466308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DROP TABLE beim Start → bei API-Fehler leere Coins-Tabelle  →  INSERT OR REPLACE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Login-Check in jeder Route dupliziert  →  zentraler @login_required-Decorator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Tote while-Schleife in _fetch_coin_history  →  entfernt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Portfolio doppelt berechnet  →  Zwischenergebnis weitergereicht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Imports &amp; Konstanten an Dateianfang verschoben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Shape 18"/>
          <p:cNvSpPr/>
          <p:nvPr/>
        </p:nvSpPr>
        <p:spPr>
          <a:xfrm>
            <a:off x="3703320" y="3566160"/>
            <a:ext cx="4983120" cy="868320"/>
          </a:xfrm>
          <a:prstGeom prst="roundRect">
            <a:avLst>
              <a:gd name="adj" fmla="val 8421"/>
            </a:avLst>
          </a:prstGeom>
          <a:solidFill>
            <a:srgbClr val="1B2542"/>
          </a:solidFill>
          <a:ln w="12700">
            <a:solidFill>
              <a:srgbClr val="35C4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19"/>
          <p:cNvSpPr/>
          <p:nvPr/>
        </p:nvSpPr>
        <p:spPr>
          <a:xfrm>
            <a:off x="3886200" y="3657600"/>
            <a:ext cx="46630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35C46A"/>
                </a:solidFill>
                <a:latin typeface="Calibri"/>
                <a:ea typeface="Calibri"/>
              </a:rPr>
              <a:t>Bewährt:  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sauberes bcrypt-Hashing · inkrementeller API-Sync (nur fehlende Tage) · wiederverwendetes _apply_single_transaction (DRY).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LUCAS · BACKEND &amp; DEVOPS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Software-Metriken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16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6"/>
          <p:cNvSpPr/>
          <p:nvPr/>
        </p:nvSpPr>
        <p:spPr>
          <a:xfrm>
            <a:off x="502920" y="1280160"/>
            <a:ext cx="1974600" cy="1051200"/>
          </a:xfrm>
          <a:prstGeom prst="roundRect">
            <a:avLst>
              <a:gd name="adj" fmla="val 695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7"/>
          <p:cNvSpPr/>
          <p:nvPr/>
        </p:nvSpPr>
        <p:spPr>
          <a:xfrm>
            <a:off x="502920" y="1389960"/>
            <a:ext cx="1974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35C46A"/>
                </a:solidFill>
                <a:latin typeface="Consolas"/>
                <a:ea typeface="Consolas"/>
              </a:rPr>
              <a:t>2.9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 8"/>
          <p:cNvSpPr/>
          <p:nvPr/>
        </p:nvSpPr>
        <p:spPr>
          <a:xfrm>
            <a:off x="594360" y="1920240"/>
            <a:ext cx="1791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Ø Zyklomat. Kompl. (A)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Shape 9"/>
          <p:cNvSpPr/>
          <p:nvPr/>
        </p:nvSpPr>
        <p:spPr>
          <a:xfrm>
            <a:off x="2578680" y="1280160"/>
            <a:ext cx="1974600" cy="1051200"/>
          </a:xfrm>
          <a:prstGeom prst="roundRect">
            <a:avLst>
              <a:gd name="adj" fmla="val 695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10"/>
          <p:cNvSpPr/>
          <p:nvPr/>
        </p:nvSpPr>
        <p:spPr>
          <a:xfrm>
            <a:off x="2578680" y="1389960"/>
            <a:ext cx="1974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5B8DEF"/>
                </a:solidFill>
                <a:latin typeface="Consolas"/>
                <a:ea typeface="Consolas"/>
              </a:rPr>
              <a:t>92 %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11"/>
          <p:cNvSpPr/>
          <p:nvPr/>
        </p:nvSpPr>
        <p:spPr>
          <a:xfrm>
            <a:off x="2670120" y="1920240"/>
            <a:ext cx="1791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Test-Coverage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12"/>
          <p:cNvSpPr/>
          <p:nvPr/>
        </p:nvSpPr>
        <p:spPr>
          <a:xfrm>
            <a:off x="4654440" y="1280160"/>
            <a:ext cx="1974600" cy="1051200"/>
          </a:xfrm>
          <a:prstGeom prst="roundRect">
            <a:avLst>
              <a:gd name="adj" fmla="val 695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13"/>
          <p:cNvSpPr/>
          <p:nvPr/>
        </p:nvSpPr>
        <p:spPr>
          <a:xfrm>
            <a:off x="4654440" y="1389960"/>
            <a:ext cx="1974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8B7CF6"/>
                </a:solidFill>
                <a:latin typeface="Consolas"/>
                <a:ea typeface="Consolas"/>
              </a:rPr>
              <a:t>A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14"/>
          <p:cNvSpPr/>
          <p:nvPr/>
        </p:nvSpPr>
        <p:spPr>
          <a:xfrm>
            <a:off x="4745880" y="1920240"/>
            <a:ext cx="1791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Wartbarkeitsindex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hape 15"/>
          <p:cNvSpPr/>
          <p:nvPr/>
        </p:nvSpPr>
        <p:spPr>
          <a:xfrm>
            <a:off x="6729840" y="1280160"/>
            <a:ext cx="1974600" cy="1051200"/>
          </a:xfrm>
          <a:prstGeom prst="roundRect">
            <a:avLst>
              <a:gd name="adj" fmla="val 6957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16"/>
          <p:cNvSpPr/>
          <p:nvPr/>
        </p:nvSpPr>
        <p:spPr>
          <a:xfrm>
            <a:off x="6729840" y="1389960"/>
            <a:ext cx="1974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F5B544"/>
                </a:solidFill>
                <a:latin typeface="Consolas"/>
                <a:ea typeface="Consolas"/>
              </a:rPr>
              <a:t>~960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 17"/>
          <p:cNvSpPr/>
          <p:nvPr/>
        </p:nvSpPr>
        <p:spPr>
          <a:xfrm>
            <a:off x="6821280" y="1920240"/>
            <a:ext cx="1791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Code-Zeilen (SLOC)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Shape 18"/>
          <p:cNvSpPr/>
          <p:nvPr/>
        </p:nvSpPr>
        <p:spPr>
          <a:xfrm>
            <a:off x="502920" y="2514600"/>
            <a:ext cx="4937400" cy="1919880"/>
          </a:xfrm>
          <a:prstGeom prst="roundRect">
            <a:avLst>
              <a:gd name="adj" fmla="val 381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19"/>
          <p:cNvSpPr/>
          <p:nvPr/>
        </p:nvSpPr>
        <p:spPr>
          <a:xfrm>
            <a:off x="640080" y="258768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Wartbarkeitsindex pro Modul  (höher = besser, ≥ 20 = gut)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429" name="Chart 0"/>
          <p:cNvGraphicFramePr/>
          <p:nvPr/>
        </p:nvGraphicFramePr>
        <p:xfrm>
          <a:off x="548640" y="2880360"/>
          <a:ext cx="4800240" cy="1462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0" name="Shape 20"/>
          <p:cNvSpPr/>
          <p:nvPr/>
        </p:nvSpPr>
        <p:spPr>
          <a:xfrm>
            <a:off x="5577840" y="2514600"/>
            <a:ext cx="3108600" cy="1919880"/>
          </a:xfrm>
          <a:prstGeom prst="roundRect">
            <a:avLst>
              <a:gd name="adj" fmla="val 3810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21"/>
          <p:cNvSpPr/>
          <p:nvPr/>
        </p:nvSpPr>
        <p:spPr>
          <a:xfrm>
            <a:off x="5742360" y="260604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35C46A"/>
                </a:solidFill>
                <a:latin typeface="Consolas"/>
                <a:ea typeface="Consolas"/>
              </a:rPr>
              <a:t>Refactoring sichtbar gemacht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22"/>
          <p:cNvSpPr/>
          <p:nvPr/>
        </p:nvSpPr>
        <p:spPr>
          <a:xfrm>
            <a:off x="5742360" y="2926080"/>
            <a:ext cx="278856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rmAutofit/>
          </a:bodyPr>
          <a:lstStyle/>
          <a:p>
            <a:r>
              <a:rPr lang="en-US" sz="1100" b="1" strike="noStrike" spc="-1">
                <a:solidFill>
                  <a:srgbClr val="EEF1FB"/>
                </a:solidFill>
                <a:latin typeface="Consolas"/>
                <a:ea typeface="Consolas"/>
              </a:rPr>
              <a:t>execute_trade()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 nach IOSP nur noch </a:t>
            </a:r>
            <a:r>
              <a:rPr lang="en-US" sz="1100" b="1" strike="noStrike" spc="-1">
                <a:solidFill>
                  <a:srgbClr val="35C46A"/>
                </a:solidFill>
                <a:latin typeface="Consolas"/>
                <a:ea typeface="Consolas"/>
              </a:rPr>
              <a:t>CC 1 (A)</a:t>
            </a:r>
            <a:r>
              <a:rPr lang="en-US" sz="600" b="0" strike="noStrike" spc="-1">
                <a:solidFill>
                  <a:srgbClr val="000000"/>
                </a:solidFill>
                <a:latin typeface="Calibri"/>
                <a:ea typeface="Calibri"/>
              </a:rPr>
              <a:t>.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  <a:p>
            <a:endParaRPr lang="en-US" sz="6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EF1FB"/>
                </a:solidFill>
                <a:latin typeface="Consolas"/>
                <a:ea typeface="Consolas"/>
              </a:rPr>
              <a:t>/trade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-Route bewusst bei </a:t>
            </a:r>
            <a:r>
              <a:rPr lang="en-US" sz="1100" b="1" strike="noStrike" spc="-1">
                <a:solidFill>
                  <a:srgbClr val="F5B544"/>
                </a:solidFill>
                <a:latin typeface="Consolas"/>
                <a:ea typeface="Consolas"/>
              </a:rPr>
              <a:t>D (21)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 – Route muss vollen HTTP-Kontext &amp; 3 Eingabemodi kennen. Tradeoff dokumentiert.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23"/>
          <p:cNvSpPr/>
          <p:nvPr/>
        </p:nvSpPr>
        <p:spPr>
          <a:xfrm>
            <a:off x="502920" y="45720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B7596"/>
                </a:solidFill>
                <a:latin typeface="Consolas"/>
                <a:ea typeface="Consolas"/>
              </a:rPr>
              <a:t>Gemessen mit radon (cc · mi · raw) über 76 Blöcke (ohne Tests) – automatisch in der CI-Pipeline.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LUCAS · BACKEND &amp; DEVOPS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CI/CD-Pipeline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17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6"/>
          <p:cNvSpPr/>
          <p:nvPr/>
        </p:nvSpPr>
        <p:spPr>
          <a:xfrm>
            <a:off x="502920" y="12344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35C46A"/>
                </a:solidFill>
                <a:latin typeface="Calibri"/>
                <a:ea typeface="Calibri"/>
              </a:rPr>
              <a:t>Trigger:  </a:t>
            </a: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jeder push und pull_request auf </a:t>
            </a:r>
            <a:r>
              <a:rPr lang="en-US" sz="1250" b="1" strike="noStrike" spc="-1">
                <a:solidFill>
                  <a:srgbClr val="EEF1FB"/>
                </a:solidFill>
                <a:latin typeface="Consolas"/>
                <a:ea typeface="Consolas"/>
              </a:rPr>
              <a:t>main</a:t>
            </a:r>
            <a:r>
              <a:rPr lang="en-US" sz="1250" b="0" strike="noStrike" spc="-1">
                <a:solidFill>
                  <a:srgbClr val="98A2C4"/>
                </a:solidFill>
                <a:latin typeface="Calibri"/>
                <a:ea typeface="Calibri"/>
              </a:rPr>
              <a:t>  ·  Plattform: GitHub Actions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Shape 7"/>
          <p:cNvSpPr/>
          <p:nvPr/>
        </p:nvSpPr>
        <p:spPr>
          <a:xfrm>
            <a:off x="502920" y="1691640"/>
            <a:ext cx="2605680" cy="2514240"/>
          </a:xfrm>
          <a:prstGeom prst="roundRect">
            <a:avLst>
              <a:gd name="adj" fmla="val 2909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Shape 8"/>
          <p:cNvSpPr/>
          <p:nvPr/>
        </p:nvSpPr>
        <p:spPr>
          <a:xfrm>
            <a:off x="502920" y="1691640"/>
            <a:ext cx="54360" cy="2514240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Shape 9"/>
          <p:cNvSpPr/>
          <p:nvPr/>
        </p:nvSpPr>
        <p:spPr>
          <a:xfrm>
            <a:off x="722520" y="1911240"/>
            <a:ext cx="548280" cy="54828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4" name="Image 0" descr="preencoded.png"/>
          <p:cNvPicPr/>
          <p:nvPr/>
        </p:nvPicPr>
        <p:blipFill>
          <a:blip r:embed="rId3"/>
          <a:stretch/>
        </p:blipFill>
        <p:spPr>
          <a:xfrm>
            <a:off x="875880" y="20646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445" name="Text 10"/>
          <p:cNvSpPr/>
          <p:nvPr/>
        </p:nvSpPr>
        <p:spPr>
          <a:xfrm>
            <a:off x="1398960" y="19112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1 · Tests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 11"/>
          <p:cNvSpPr/>
          <p:nvPr/>
        </p:nvSpPr>
        <p:spPr>
          <a:xfrm>
            <a:off x="758880" y="2606040"/>
            <a:ext cx="2239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python compileall (Syntax)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pytest + Coverage (≥ 80 %)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JUnit-XML &amp; HTML-Artefakte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12"/>
          <p:cNvSpPr/>
          <p:nvPr/>
        </p:nvSpPr>
        <p:spPr>
          <a:xfrm>
            <a:off x="3117960" y="2743200"/>
            <a:ext cx="273960" cy="411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47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Shape 13"/>
          <p:cNvSpPr/>
          <p:nvPr/>
        </p:nvSpPr>
        <p:spPr>
          <a:xfrm>
            <a:off x="3410640" y="1691640"/>
            <a:ext cx="2605680" cy="2514240"/>
          </a:xfrm>
          <a:prstGeom prst="roundRect">
            <a:avLst>
              <a:gd name="adj" fmla="val 2909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Shape 14"/>
          <p:cNvSpPr/>
          <p:nvPr/>
        </p:nvSpPr>
        <p:spPr>
          <a:xfrm>
            <a:off x="3410640" y="1691640"/>
            <a:ext cx="54360" cy="2514240"/>
          </a:xfrm>
          <a:prstGeom prst="roundRect">
            <a:avLst>
              <a:gd name="adj" fmla="val 50000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Shape 15"/>
          <p:cNvSpPr/>
          <p:nvPr/>
        </p:nvSpPr>
        <p:spPr>
          <a:xfrm>
            <a:off x="3630240" y="1911240"/>
            <a:ext cx="548280" cy="54828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1" name="Image 1" descr="preencoded.png"/>
          <p:cNvPicPr/>
          <p:nvPr/>
        </p:nvPicPr>
        <p:blipFill>
          <a:blip r:embed="rId4"/>
          <a:stretch/>
        </p:blipFill>
        <p:spPr>
          <a:xfrm>
            <a:off x="3783960" y="20646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452" name="Text 16"/>
          <p:cNvSpPr/>
          <p:nvPr/>
        </p:nvSpPr>
        <p:spPr>
          <a:xfrm>
            <a:off x="4306680" y="19112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2 · Metriken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17"/>
          <p:cNvSpPr/>
          <p:nvPr/>
        </p:nvSpPr>
        <p:spPr>
          <a:xfrm>
            <a:off x="3666600" y="2606040"/>
            <a:ext cx="2239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radon cc (Komplexität)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radon mi (Wartbarkeit)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radon raw (LOC)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Shape 18"/>
          <p:cNvSpPr/>
          <p:nvPr/>
        </p:nvSpPr>
        <p:spPr>
          <a:xfrm>
            <a:off x="6026040" y="2743200"/>
            <a:ext cx="273960" cy="411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47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Shape 19"/>
          <p:cNvSpPr/>
          <p:nvPr/>
        </p:nvSpPr>
        <p:spPr>
          <a:xfrm>
            <a:off x="6318360" y="1691640"/>
            <a:ext cx="2605680" cy="2514240"/>
          </a:xfrm>
          <a:prstGeom prst="roundRect">
            <a:avLst>
              <a:gd name="adj" fmla="val 2909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Shape 20"/>
          <p:cNvSpPr/>
          <p:nvPr/>
        </p:nvSpPr>
        <p:spPr>
          <a:xfrm>
            <a:off x="6318360" y="1691640"/>
            <a:ext cx="54360" cy="2514240"/>
          </a:xfrm>
          <a:prstGeom prst="roundRect">
            <a:avLst>
              <a:gd name="adj" fmla="val 50000"/>
            </a:avLst>
          </a:prstGeom>
          <a:solidFill>
            <a:srgbClr val="35C4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Shape 21"/>
          <p:cNvSpPr/>
          <p:nvPr/>
        </p:nvSpPr>
        <p:spPr>
          <a:xfrm>
            <a:off x="6537960" y="1911240"/>
            <a:ext cx="548280" cy="54828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8" name="Image 2" descr="preencoded.png"/>
          <p:cNvPicPr/>
          <p:nvPr/>
        </p:nvPicPr>
        <p:blipFill>
          <a:blip r:embed="rId5"/>
          <a:stretch/>
        </p:blipFill>
        <p:spPr>
          <a:xfrm>
            <a:off x="6691680" y="2064600"/>
            <a:ext cx="241200" cy="241200"/>
          </a:xfrm>
          <a:prstGeom prst="rect">
            <a:avLst/>
          </a:prstGeom>
          <a:ln w="0">
            <a:noFill/>
          </a:ln>
        </p:spPr>
      </p:pic>
      <p:sp>
        <p:nvSpPr>
          <p:cNvPr id="459" name="Text 22"/>
          <p:cNvSpPr/>
          <p:nvPr/>
        </p:nvSpPr>
        <p:spPr>
          <a:xfrm>
            <a:off x="7214760" y="19112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3 · Build &amp; Smoke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23"/>
          <p:cNvSpPr/>
          <p:nvPr/>
        </p:nvSpPr>
        <p:spPr>
          <a:xfrm>
            <a:off x="6574680" y="2606040"/>
            <a:ext cx="2239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Docker-Image bauen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Container starten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98A2C4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98A2C4"/>
                </a:solidFill>
                <a:latin typeface="Calibri"/>
                <a:ea typeface="Calibri"/>
              </a:rPr>
              <a:t>Smoke-Test auf  /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24"/>
          <p:cNvSpPr/>
          <p:nvPr/>
        </p:nvSpPr>
        <p:spPr>
          <a:xfrm>
            <a:off x="502920" y="43707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Stufe 2 &amp; 3 starten erst nach grünen Tests (needs: tests) – schneller, verlässlicher Feedback-Loop.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LUCAS · PROJEKTMANAGEMENT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Projektmanagement: Scrum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18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Shape 6"/>
          <p:cNvSpPr/>
          <p:nvPr/>
        </p:nvSpPr>
        <p:spPr>
          <a:xfrm>
            <a:off x="502920" y="1280160"/>
            <a:ext cx="8183520" cy="1371240"/>
          </a:xfrm>
          <a:prstGeom prst="roundRect">
            <a:avLst>
              <a:gd name="adj" fmla="val 5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7"/>
          <p:cNvSpPr/>
          <p:nvPr/>
        </p:nvSpPr>
        <p:spPr>
          <a:xfrm>
            <a:off x="685800" y="137160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5B8DEF"/>
                </a:solidFill>
                <a:latin typeface="Consolas"/>
                <a:ea typeface="Consolas"/>
              </a:rPr>
              <a:t>Sprint-Zeitstrahl · Okt 2025 – Jun 2026 · 2 Semester (Halbzeit nach Sem. 3)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Shape 8"/>
          <p:cNvSpPr/>
          <p:nvPr/>
        </p:nvSpPr>
        <p:spPr>
          <a:xfrm>
            <a:off x="713160" y="1755720"/>
            <a:ext cx="12157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9"/>
          <p:cNvSpPr/>
          <p:nvPr/>
        </p:nvSpPr>
        <p:spPr>
          <a:xfrm>
            <a:off x="713160" y="1810440"/>
            <a:ext cx="121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5B544"/>
                </a:solidFill>
                <a:latin typeface="Consolas"/>
                <a:ea typeface="Consolas"/>
              </a:rPr>
              <a:t>Sem 3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Text 10"/>
          <p:cNvSpPr/>
          <p:nvPr/>
        </p:nvSpPr>
        <p:spPr>
          <a:xfrm>
            <a:off x="758880" y="2084760"/>
            <a:ext cx="112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98A2C4"/>
                </a:solidFill>
                <a:latin typeface="Calibri"/>
                <a:ea typeface="Calibri"/>
              </a:rPr>
              <a:t>JavaFX → Flask, CI/CD, Halbzeit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Shape 11"/>
          <p:cNvSpPr/>
          <p:nvPr/>
        </p:nvSpPr>
        <p:spPr>
          <a:xfrm>
            <a:off x="1929240" y="2139480"/>
            <a:ext cx="91440" cy="360"/>
          </a:xfrm>
          <a:prstGeom prst="line">
            <a:avLst/>
          </a:prstGeom>
          <a:ln w="1270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Shape 12"/>
          <p:cNvSpPr/>
          <p:nvPr/>
        </p:nvSpPr>
        <p:spPr>
          <a:xfrm>
            <a:off x="2020680" y="1755720"/>
            <a:ext cx="12157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13"/>
          <p:cNvSpPr/>
          <p:nvPr/>
        </p:nvSpPr>
        <p:spPr>
          <a:xfrm>
            <a:off x="2020680" y="1810440"/>
            <a:ext cx="121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5C46A"/>
                </a:solidFill>
                <a:latin typeface="Consolas"/>
                <a:ea typeface="Consolas"/>
              </a:rPr>
              <a:t>S9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14"/>
          <p:cNvSpPr/>
          <p:nvPr/>
        </p:nvSpPr>
        <p:spPr>
          <a:xfrm>
            <a:off x="2066400" y="2084760"/>
            <a:ext cx="112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98A2C4"/>
                </a:solidFill>
                <a:latin typeface="Calibri"/>
                <a:ea typeface="Calibri"/>
              </a:rPr>
              <a:t>Performance &amp; Architektur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Shape 15"/>
          <p:cNvSpPr/>
          <p:nvPr/>
        </p:nvSpPr>
        <p:spPr>
          <a:xfrm>
            <a:off x="3236760" y="2139480"/>
            <a:ext cx="91440" cy="360"/>
          </a:xfrm>
          <a:prstGeom prst="line">
            <a:avLst/>
          </a:prstGeom>
          <a:ln w="1270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Shape 16"/>
          <p:cNvSpPr/>
          <p:nvPr/>
        </p:nvSpPr>
        <p:spPr>
          <a:xfrm>
            <a:off x="3328560" y="1755720"/>
            <a:ext cx="12157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Text 17"/>
          <p:cNvSpPr/>
          <p:nvPr/>
        </p:nvSpPr>
        <p:spPr>
          <a:xfrm>
            <a:off x="3328560" y="1810440"/>
            <a:ext cx="121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5C46A"/>
                </a:solidFill>
                <a:latin typeface="Consolas"/>
                <a:ea typeface="Consolas"/>
              </a:rPr>
              <a:t>S10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18"/>
          <p:cNvSpPr/>
          <p:nvPr/>
        </p:nvSpPr>
        <p:spPr>
          <a:xfrm>
            <a:off x="3374280" y="2084760"/>
            <a:ext cx="112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98A2C4"/>
                </a:solidFill>
                <a:latin typeface="Calibri"/>
                <a:ea typeface="Calibri"/>
              </a:rPr>
              <a:t>Virt. Guthaben, RMMM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Shape 19"/>
          <p:cNvSpPr/>
          <p:nvPr/>
        </p:nvSpPr>
        <p:spPr>
          <a:xfrm>
            <a:off x="4544280" y="2139480"/>
            <a:ext cx="91440" cy="360"/>
          </a:xfrm>
          <a:prstGeom prst="line">
            <a:avLst/>
          </a:prstGeom>
          <a:ln w="1270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Shape 20"/>
          <p:cNvSpPr/>
          <p:nvPr/>
        </p:nvSpPr>
        <p:spPr>
          <a:xfrm>
            <a:off x="4636080" y="1755720"/>
            <a:ext cx="12157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21"/>
          <p:cNvSpPr/>
          <p:nvPr/>
        </p:nvSpPr>
        <p:spPr>
          <a:xfrm>
            <a:off x="4636080" y="1810440"/>
            <a:ext cx="121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5C46A"/>
                </a:solidFill>
                <a:latin typeface="Consolas"/>
                <a:ea typeface="Consolas"/>
              </a:rPr>
              <a:t>S11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22"/>
          <p:cNvSpPr/>
          <p:nvPr/>
        </p:nvSpPr>
        <p:spPr>
          <a:xfrm>
            <a:off x="4681800" y="2084760"/>
            <a:ext cx="112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850" b="0" strike="noStrike" spc="-1" dirty="0">
                <a:solidFill>
                  <a:srgbClr val="98A2C4"/>
                </a:solidFill>
                <a:latin typeface="Calibri"/>
                <a:ea typeface="Calibri"/>
              </a:rPr>
              <a:t>Refactoring, </a:t>
            </a:r>
            <a:r>
              <a:rPr lang="en-US" sz="850" spc="-1" dirty="0">
                <a:solidFill>
                  <a:srgbClr val="98A2C4"/>
                </a:solidFill>
                <a:latin typeface="Calibri"/>
                <a:ea typeface="Calibri"/>
              </a:rPr>
              <a:t>Tests &amp; </a:t>
            </a:r>
            <a:r>
              <a:rPr lang="en-US" sz="850" spc="-1" dirty="0" err="1">
                <a:solidFill>
                  <a:srgbClr val="98A2C4"/>
                </a:solidFill>
                <a:latin typeface="Calibri"/>
                <a:ea typeface="Calibri"/>
              </a:rPr>
              <a:t>Metriken</a:t>
            </a:r>
            <a:endParaRPr lang="en-US" sz="8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Shape 23"/>
          <p:cNvSpPr/>
          <p:nvPr/>
        </p:nvSpPr>
        <p:spPr>
          <a:xfrm>
            <a:off x="5852160" y="2139480"/>
            <a:ext cx="91440" cy="360"/>
          </a:xfrm>
          <a:prstGeom prst="line">
            <a:avLst/>
          </a:prstGeom>
          <a:ln w="1270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Shape 24"/>
          <p:cNvSpPr/>
          <p:nvPr/>
        </p:nvSpPr>
        <p:spPr>
          <a:xfrm>
            <a:off x="5943600" y="1755720"/>
            <a:ext cx="12157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25"/>
          <p:cNvSpPr/>
          <p:nvPr/>
        </p:nvSpPr>
        <p:spPr>
          <a:xfrm>
            <a:off x="5943600" y="1810440"/>
            <a:ext cx="121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5C46A"/>
                </a:solidFill>
                <a:latin typeface="Consolas"/>
                <a:ea typeface="Consolas"/>
              </a:rPr>
              <a:t>S12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 26"/>
          <p:cNvSpPr/>
          <p:nvPr/>
        </p:nvSpPr>
        <p:spPr>
          <a:xfrm>
            <a:off x="5989320" y="2084760"/>
            <a:ext cx="112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850" spc="-1" dirty="0" err="1">
                <a:solidFill>
                  <a:srgbClr val="98A2C4"/>
                </a:solidFill>
                <a:latin typeface="Calibri"/>
                <a:ea typeface="Calibri"/>
              </a:rPr>
              <a:t>t</a:t>
            </a:r>
            <a:r>
              <a:rPr lang="en-US" sz="850" b="0" strike="noStrike" spc="-1" dirty="0" err="1">
                <a:solidFill>
                  <a:srgbClr val="98A2C4"/>
                </a:solidFill>
                <a:latin typeface="Calibri"/>
                <a:ea typeface="Calibri"/>
              </a:rPr>
              <a:t>echnisches</a:t>
            </a:r>
            <a:r>
              <a:rPr lang="en-US" sz="850" b="0" strike="noStrike" spc="-1" dirty="0">
                <a:solidFill>
                  <a:srgbClr val="98A2C4"/>
                </a:solidFill>
                <a:latin typeface="Calibri"/>
                <a:ea typeface="Calibri"/>
              </a:rPr>
              <a:t> Review</a:t>
            </a:r>
            <a:endParaRPr lang="en-US" sz="8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Shape 27"/>
          <p:cNvSpPr/>
          <p:nvPr/>
        </p:nvSpPr>
        <p:spPr>
          <a:xfrm>
            <a:off x="7159680" y="2139480"/>
            <a:ext cx="91440" cy="360"/>
          </a:xfrm>
          <a:prstGeom prst="line">
            <a:avLst/>
          </a:prstGeom>
          <a:ln w="12700">
            <a:solidFill>
              <a:srgbClr val="6B75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rmAutofit fontScale="40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Shape 28"/>
          <p:cNvSpPr/>
          <p:nvPr/>
        </p:nvSpPr>
        <p:spPr>
          <a:xfrm>
            <a:off x="7251120" y="1755720"/>
            <a:ext cx="1215720" cy="776880"/>
          </a:xfrm>
          <a:prstGeom prst="roundRect">
            <a:avLst>
              <a:gd name="adj" fmla="val 9412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Text 29"/>
          <p:cNvSpPr/>
          <p:nvPr/>
        </p:nvSpPr>
        <p:spPr>
          <a:xfrm>
            <a:off x="7251120" y="1810440"/>
            <a:ext cx="121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5C46A"/>
                </a:solidFill>
                <a:latin typeface="Consolas"/>
                <a:ea typeface="Consolas"/>
              </a:rPr>
              <a:t>S13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 30"/>
          <p:cNvSpPr/>
          <p:nvPr/>
        </p:nvSpPr>
        <p:spPr>
          <a:xfrm>
            <a:off x="7296840" y="2084760"/>
            <a:ext cx="112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850" b="0" strike="noStrike" spc="-1" dirty="0">
                <a:solidFill>
                  <a:srgbClr val="98A2C4"/>
                </a:solidFill>
                <a:latin typeface="Calibri"/>
                <a:ea typeface="Calibri"/>
              </a:rPr>
              <a:t>Leaderboard, </a:t>
            </a:r>
            <a:r>
              <a:rPr lang="en-US" sz="850" b="0" strike="noStrike" spc="-1" dirty="0" err="1">
                <a:solidFill>
                  <a:srgbClr val="98A2C4"/>
                </a:solidFill>
                <a:latin typeface="Calibri"/>
                <a:ea typeface="Calibri"/>
              </a:rPr>
              <a:t>Retrospektive</a:t>
            </a:r>
            <a:endParaRPr lang="en-US" sz="8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Shape 31"/>
          <p:cNvSpPr/>
          <p:nvPr/>
        </p:nvSpPr>
        <p:spPr>
          <a:xfrm>
            <a:off x="502920" y="2788920"/>
            <a:ext cx="3977280" cy="776880"/>
          </a:xfrm>
          <a:prstGeom prst="roundRect">
            <a:avLst>
              <a:gd name="adj" fmla="val 941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Shape 32"/>
          <p:cNvSpPr/>
          <p:nvPr/>
        </p:nvSpPr>
        <p:spPr>
          <a:xfrm>
            <a:off x="667440" y="295344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5" name="Image 0" descr="preencoded.png"/>
          <p:cNvPicPr/>
          <p:nvPr/>
        </p:nvPicPr>
        <p:blipFill>
          <a:blip r:embed="rId3"/>
          <a:stretch/>
        </p:blipFill>
        <p:spPr>
          <a:xfrm>
            <a:off x="795600" y="30816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496" name="Text 33"/>
          <p:cNvSpPr/>
          <p:nvPr/>
        </p:nvSpPr>
        <p:spPr>
          <a:xfrm>
            <a:off x="1234440" y="28803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Scrum-Rahmen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 34"/>
          <p:cNvSpPr/>
          <p:nvPr/>
        </p:nvSpPr>
        <p:spPr>
          <a:xfrm>
            <a:off x="1234440" y="315468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Rollen, iterative Sprints, Backlog-Priorisierung (P0/P1/P2)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Shape 35"/>
          <p:cNvSpPr/>
          <p:nvPr/>
        </p:nvSpPr>
        <p:spPr>
          <a:xfrm>
            <a:off x="4709160" y="2788920"/>
            <a:ext cx="3977280" cy="776880"/>
          </a:xfrm>
          <a:prstGeom prst="roundRect">
            <a:avLst>
              <a:gd name="adj" fmla="val 941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Shape 36"/>
          <p:cNvSpPr/>
          <p:nvPr/>
        </p:nvSpPr>
        <p:spPr>
          <a:xfrm>
            <a:off x="4873680" y="295344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0" name="Image 1" descr="preencoded.png"/>
          <p:cNvPicPr/>
          <p:nvPr/>
        </p:nvPicPr>
        <p:blipFill>
          <a:blip r:embed="rId4"/>
          <a:stretch/>
        </p:blipFill>
        <p:spPr>
          <a:xfrm>
            <a:off x="5001840" y="30816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501" name="Text 37"/>
          <p:cNvSpPr/>
          <p:nvPr/>
        </p:nvSpPr>
        <p:spPr>
          <a:xfrm>
            <a:off x="5440680" y="28803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Scrum-Board (GitHub)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 38"/>
          <p:cNvSpPr/>
          <p:nvPr/>
        </p:nvSpPr>
        <p:spPr>
          <a:xfrm>
            <a:off x="5440680" y="315468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Für Projekt- und Vorlesungsaufgaben genutzt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Shape 39"/>
          <p:cNvSpPr/>
          <p:nvPr/>
        </p:nvSpPr>
        <p:spPr>
          <a:xfrm>
            <a:off x="502920" y="3657600"/>
            <a:ext cx="3977280" cy="776880"/>
          </a:xfrm>
          <a:prstGeom prst="roundRect">
            <a:avLst>
              <a:gd name="adj" fmla="val 941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Shape 40"/>
          <p:cNvSpPr/>
          <p:nvPr/>
        </p:nvSpPr>
        <p:spPr>
          <a:xfrm>
            <a:off x="667440" y="382212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5" name="Image 2" descr="preencoded.png"/>
          <p:cNvPicPr/>
          <p:nvPr/>
        </p:nvPicPr>
        <p:blipFill>
          <a:blip r:embed="rId5"/>
          <a:stretch/>
        </p:blipFill>
        <p:spPr>
          <a:xfrm>
            <a:off x="795600" y="395028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506" name="Text 41"/>
          <p:cNvSpPr/>
          <p:nvPr/>
        </p:nvSpPr>
        <p:spPr>
          <a:xfrm>
            <a:off x="1234440" y="374904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Git-Workflow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 42"/>
          <p:cNvSpPr/>
          <p:nvPr/>
        </p:nvSpPr>
        <p:spPr>
          <a:xfrm>
            <a:off x="1234440" y="40233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Feature-Branches &amp; Reviews vor dem Merge (DoD: 2 Devs)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Shape 43"/>
          <p:cNvSpPr/>
          <p:nvPr/>
        </p:nvSpPr>
        <p:spPr>
          <a:xfrm>
            <a:off x="4709160" y="3657600"/>
            <a:ext cx="3977280" cy="776880"/>
          </a:xfrm>
          <a:prstGeom prst="roundRect">
            <a:avLst>
              <a:gd name="adj" fmla="val 941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Shape 44"/>
          <p:cNvSpPr/>
          <p:nvPr/>
        </p:nvSpPr>
        <p:spPr>
          <a:xfrm>
            <a:off x="4873680" y="3822120"/>
            <a:ext cx="456840" cy="45684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0" name="Image 3" descr="preencoded.png"/>
          <p:cNvPicPr/>
          <p:nvPr/>
        </p:nvPicPr>
        <p:blipFill>
          <a:blip r:embed="rId6"/>
          <a:stretch/>
        </p:blipFill>
        <p:spPr>
          <a:xfrm>
            <a:off x="5001840" y="395028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511" name="Text 45"/>
          <p:cNvSpPr/>
          <p:nvPr/>
        </p:nvSpPr>
        <p:spPr>
          <a:xfrm>
            <a:off x="5440680" y="374904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Definition of Done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 46"/>
          <p:cNvSpPr/>
          <p:nvPr/>
        </p:nvSpPr>
        <p:spPr>
          <a:xfrm>
            <a:off x="5440680" y="40233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8A2C4"/>
                </a:solidFill>
                <a:latin typeface="Calibri"/>
                <a:ea typeface="Calibri"/>
              </a:rPr>
              <a:t>Kompiliert, ≥ 2 Unit-Tests, dokumentiert, geprüft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Text 47"/>
          <p:cNvSpPr/>
          <p:nvPr/>
        </p:nvSpPr>
        <p:spPr>
          <a:xfrm>
            <a:off x="502920" y="45536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37+ Items · 34 Done · Anforderungen als User Stories auf dem Scrum-Board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LUCAS · PROJEKTMANAGEMENT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Statistik &amp; Aufwand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19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Shape 8"/>
          <p:cNvSpPr/>
          <p:nvPr/>
        </p:nvSpPr>
        <p:spPr>
          <a:xfrm>
            <a:off x="503999" y="1281600"/>
            <a:ext cx="5040000" cy="3243600"/>
          </a:xfrm>
          <a:prstGeom prst="roundRect">
            <a:avLst>
              <a:gd name="adj" fmla="val 3902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Text 9"/>
          <p:cNvSpPr/>
          <p:nvPr/>
        </p:nvSpPr>
        <p:spPr>
          <a:xfrm>
            <a:off x="658800" y="1353600"/>
            <a:ext cx="4716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35C46A"/>
                </a:solidFill>
                <a:latin typeface="Consolas"/>
                <a:ea typeface="Consolas"/>
              </a:rPr>
              <a:t>Stunden pro Disziplin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525" name="Chart 1"/>
          <p:cNvGraphicFramePr/>
          <p:nvPr>
            <p:extLst>
              <p:ext uri="{D42A27DB-BD31-4B8C-83A1-F6EECF244321}">
                <p14:modId xmlns:p14="http://schemas.microsoft.com/office/powerpoint/2010/main" val="1097185887"/>
              </p:ext>
            </p:extLst>
          </p:nvPr>
        </p:nvGraphicFramePr>
        <p:xfrm>
          <a:off x="576000" y="1555200"/>
          <a:ext cx="4896000" cy="28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26" name="Shape 10"/>
          <p:cNvSpPr/>
          <p:nvPr/>
        </p:nvSpPr>
        <p:spPr>
          <a:xfrm>
            <a:off x="5688000" y="1281600"/>
            <a:ext cx="2970000" cy="1890000"/>
          </a:xfrm>
          <a:prstGeom prst="roundRect">
            <a:avLst>
              <a:gd name="adj" fmla="val 6400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11"/>
          <p:cNvSpPr/>
          <p:nvPr/>
        </p:nvSpPr>
        <p:spPr>
          <a:xfrm>
            <a:off x="5813999" y="1353600"/>
            <a:ext cx="2700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8B7CF6"/>
                </a:solidFill>
                <a:latin typeface="Consolas"/>
                <a:ea typeface="Consolas"/>
              </a:rPr>
              <a:t>Stunden pro Person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Shape 12"/>
          <p:cNvSpPr/>
          <p:nvPr/>
        </p:nvSpPr>
        <p:spPr>
          <a:xfrm>
            <a:off x="5813999" y="1627199"/>
            <a:ext cx="1224000" cy="666000"/>
          </a:xfrm>
          <a:prstGeom prst="roundRect">
            <a:avLst>
              <a:gd name="adj" fmla="val 11765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 13"/>
          <p:cNvSpPr/>
          <p:nvPr/>
        </p:nvSpPr>
        <p:spPr>
          <a:xfrm>
            <a:off x="5813999" y="1663199"/>
            <a:ext cx="1224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5B8DEF"/>
                </a:solidFill>
                <a:latin typeface="Consolas"/>
                <a:ea typeface="Consolas"/>
              </a:rPr>
              <a:t>46,5 h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Text 14"/>
          <p:cNvSpPr/>
          <p:nvPr/>
        </p:nvSpPr>
        <p:spPr>
          <a:xfrm>
            <a:off x="5813999" y="1954800"/>
            <a:ext cx="1224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Lucas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Shape 15"/>
          <p:cNvSpPr/>
          <p:nvPr/>
        </p:nvSpPr>
        <p:spPr>
          <a:xfrm>
            <a:off x="7290000" y="1627199"/>
            <a:ext cx="1224000" cy="666000"/>
          </a:xfrm>
          <a:prstGeom prst="roundRect">
            <a:avLst>
              <a:gd name="adj" fmla="val 11765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Text 16"/>
          <p:cNvSpPr/>
          <p:nvPr/>
        </p:nvSpPr>
        <p:spPr>
          <a:xfrm>
            <a:off x="7290000" y="1663199"/>
            <a:ext cx="1224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8B7CF6"/>
                </a:solidFill>
                <a:latin typeface="Consolas"/>
                <a:ea typeface="Consolas"/>
              </a:rPr>
              <a:t>42,5 h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 17"/>
          <p:cNvSpPr/>
          <p:nvPr/>
        </p:nvSpPr>
        <p:spPr>
          <a:xfrm>
            <a:off x="7290000" y="1954800"/>
            <a:ext cx="1224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Sara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Shape 18"/>
          <p:cNvSpPr/>
          <p:nvPr/>
        </p:nvSpPr>
        <p:spPr>
          <a:xfrm>
            <a:off x="5813999" y="2401200"/>
            <a:ext cx="1224000" cy="666000"/>
          </a:xfrm>
          <a:prstGeom prst="roundRect">
            <a:avLst>
              <a:gd name="adj" fmla="val 11765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 19"/>
          <p:cNvSpPr/>
          <p:nvPr/>
        </p:nvSpPr>
        <p:spPr>
          <a:xfrm>
            <a:off x="5813999" y="2437200"/>
            <a:ext cx="1224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35C46A"/>
                </a:solidFill>
                <a:latin typeface="Consolas"/>
                <a:ea typeface="Consolas"/>
              </a:rPr>
              <a:t>43 h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Text 20"/>
          <p:cNvSpPr/>
          <p:nvPr/>
        </p:nvSpPr>
        <p:spPr>
          <a:xfrm>
            <a:off x="5813999" y="2728800"/>
            <a:ext cx="1224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Jonathan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Shape 21"/>
          <p:cNvSpPr/>
          <p:nvPr/>
        </p:nvSpPr>
        <p:spPr>
          <a:xfrm>
            <a:off x="7290000" y="2401200"/>
            <a:ext cx="1224000" cy="666000"/>
          </a:xfrm>
          <a:prstGeom prst="roundRect">
            <a:avLst>
              <a:gd name="adj" fmla="val 11765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Text 22"/>
          <p:cNvSpPr/>
          <p:nvPr/>
        </p:nvSpPr>
        <p:spPr>
          <a:xfrm>
            <a:off x="7290000" y="2437200"/>
            <a:ext cx="1224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5B544"/>
                </a:solidFill>
                <a:latin typeface="Consolas"/>
                <a:ea typeface="Consolas"/>
              </a:rPr>
              <a:t>47 h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 23"/>
          <p:cNvSpPr/>
          <p:nvPr/>
        </p:nvSpPr>
        <p:spPr>
          <a:xfrm>
            <a:off x="7290000" y="2728800"/>
            <a:ext cx="1224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alibri"/>
                <a:ea typeface="Calibri"/>
              </a:rPr>
              <a:t>Julian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Shape 24"/>
          <p:cNvSpPr/>
          <p:nvPr/>
        </p:nvSpPr>
        <p:spPr>
          <a:xfrm>
            <a:off x="5688000" y="3221999"/>
            <a:ext cx="2970000" cy="1303200"/>
          </a:xfrm>
          <a:prstGeom prst="roundRect">
            <a:avLst>
              <a:gd name="adj" fmla="val 6400"/>
            </a:avLst>
          </a:prstGeom>
          <a:solidFill>
            <a:srgbClr val="1B2542"/>
          </a:solidFill>
          <a:ln w="12700">
            <a:solidFill>
              <a:srgbClr val="35C4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 25"/>
          <p:cNvSpPr/>
          <p:nvPr/>
        </p:nvSpPr>
        <p:spPr>
          <a:xfrm>
            <a:off x="5813999" y="3311999"/>
            <a:ext cx="2700000" cy="10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r>
              <a:rPr lang="en-US" sz="2600" b="1" strike="noStrike" spc="-1">
                <a:solidFill>
                  <a:srgbClr val="35C46A"/>
                </a:solidFill>
                <a:latin typeface="Consolas"/>
                <a:ea typeface="Consolas"/>
              </a:rPr>
              <a:t>112,75 h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  tatsächlich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von 119,5 h geplant — </a:t>
            </a:r>
            <a:r>
              <a:rPr lang="en-US" sz="1050" b="1" strike="noStrike" spc="-1">
                <a:solidFill>
                  <a:srgbClr val="EEF1FB"/>
                </a:solidFill>
                <a:latin typeface="Calibri"/>
                <a:ea typeface="Calibri"/>
              </a:rPr>
              <a:t>94 % Auslastung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 26"/>
          <p:cNvSpPr/>
          <p:nvPr/>
        </p:nvSpPr>
        <p:spPr>
          <a:xfrm>
            <a:off x="502920" y="452628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6B7596"/>
                </a:solidFill>
                <a:latin typeface="Consolas"/>
                <a:ea typeface="Consolas"/>
              </a:rPr>
              <a:t>Über das GitHub-Scrum-Board erfasst (Auszug dokumentierte Sprints). Schätzgenauigkeit stieg über die Sprints.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JULIAN · ARCHITEKTUR &amp; DB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Risiken (RMMM)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20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549" name="Table 0"/>
          <p:cNvGraphicFramePr/>
          <p:nvPr/>
        </p:nvGraphicFramePr>
        <p:xfrm>
          <a:off x="502920" y="1280160"/>
          <a:ext cx="8183880" cy="26316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0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ID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Beschreibung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W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S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Score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5B8DEF"/>
                          </a:solidFill>
                          <a:latin typeface="Consolas"/>
                          <a:ea typeface="Consolas"/>
                        </a:rPr>
                        <a:t>Strategie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B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EEF1FB"/>
                          </a:solidFill>
                          <a:latin typeface="Consolas"/>
                          <a:ea typeface="Consolas"/>
                        </a:rPr>
                        <a:t>T-01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CoinGecko-API-Ausfall / Rate-Limit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4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5B544"/>
                          </a:solidFill>
                          <a:latin typeface="Consolas"/>
                          <a:ea typeface="Consolas"/>
                        </a:rPr>
                        <a:t>12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Lokales Caching in SQLite, INSERT OR REPLACE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EEF1FB"/>
                          </a:solidFill>
                          <a:latin typeface="Consolas"/>
                          <a:ea typeface="Consolas"/>
                        </a:rPr>
                        <a:t>T-02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SQLite Race-Conditions bei Trades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5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5B544"/>
                          </a:solidFill>
                          <a:latin typeface="Consolas"/>
                          <a:ea typeface="Consolas"/>
                        </a:rPr>
                        <a:t>10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WAL-Modus aktivieren, später PostgreSQL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EEF1FB"/>
                          </a:solidFill>
                          <a:latin typeface="Consolas"/>
                          <a:ea typeface="Consolas"/>
                        </a:rPr>
                        <a:t>P-01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Teamausfall (Krankheit / Prüfungsphase)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5B544"/>
                          </a:solidFill>
                          <a:latin typeface="Consolas"/>
                          <a:ea typeface="Consolas"/>
                        </a:rPr>
                        <a:t>9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Pair-Programming, Code-Reviews, Wissen teilen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EEF1FB"/>
                          </a:solidFill>
                          <a:latin typeface="Consolas"/>
                          <a:ea typeface="Consolas"/>
                        </a:rPr>
                        <a:t>P-02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Scope Creep – Feature-Wachstum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4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5B544"/>
                          </a:solidFill>
                          <a:latin typeface="Consolas"/>
                          <a:ea typeface="Consolas"/>
                        </a:rPr>
                        <a:t>12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Strikte Definition of Done pro Sprint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EEF1FB"/>
                          </a:solidFill>
                          <a:latin typeface="Consolas"/>
                          <a:ea typeface="Consolas"/>
                        </a:rPr>
                        <a:t>P-03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Fehlende automatisierte Tests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4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5B544"/>
                          </a:solidFill>
                          <a:latin typeface="Consolas"/>
                          <a:ea typeface="Consolas"/>
                        </a:rPr>
                        <a:t>12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pytest-Framework + CI eingeführt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strike="noStrike" spc="-1">
                          <a:solidFill>
                            <a:srgbClr val="EEF1FB"/>
                          </a:solidFill>
                          <a:latin typeface="Consolas"/>
                          <a:ea typeface="Consolas"/>
                        </a:rPr>
                        <a:t>P-04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Zeitdruck vor Abgabe / Blog-Deadlines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35C46A"/>
                          </a:solidFill>
                          <a:latin typeface="Consolas"/>
                          <a:ea typeface="Consolas"/>
                        </a:rPr>
                        <a:t>6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strike="noStrike" spc="-1">
                          <a:solidFill>
                            <a:srgbClr val="98A2C4"/>
                          </a:solidFill>
                          <a:latin typeface="Calibri"/>
                          <a:ea typeface="Calibri"/>
                        </a:rPr>
                        <a:t>Wöchentliche Sprints, Blogs parallel</a:t>
                      </a:r>
                      <a:endParaRPr lang="en-US" sz="10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2B3658"/>
                      </a:solidFill>
                      <a:prstDash val="solid"/>
                    </a:lnL>
                    <a:lnR w="12240">
                      <a:solidFill>
                        <a:srgbClr val="2B3658"/>
                      </a:solidFill>
                      <a:prstDash val="solid"/>
                    </a:lnR>
                    <a:lnT w="12240">
                      <a:solidFill>
                        <a:srgbClr val="2B3658"/>
                      </a:solidFill>
                      <a:prstDash val="solid"/>
                    </a:lnT>
                    <a:lnB w="12240">
                      <a:solidFill>
                        <a:srgbClr val="2B3658"/>
                      </a:solidFill>
                      <a:prstDash val="solid"/>
                    </a:lnB>
                    <a:solidFill>
                      <a:srgbClr val="15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50" name="Shape 6"/>
          <p:cNvSpPr/>
          <p:nvPr/>
        </p:nvSpPr>
        <p:spPr>
          <a:xfrm>
            <a:off x="502920" y="4434840"/>
            <a:ext cx="145800" cy="145800"/>
          </a:xfrm>
          <a:prstGeom prst="roundRect">
            <a:avLst>
              <a:gd name="adj" fmla="val 18750"/>
            </a:avLst>
          </a:prstGeom>
          <a:solidFill>
            <a:srgbClr val="35C46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 7"/>
          <p:cNvSpPr/>
          <p:nvPr/>
        </p:nvSpPr>
        <p:spPr>
          <a:xfrm>
            <a:off x="704160" y="438012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≤ 8 gering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Shape 8"/>
          <p:cNvSpPr/>
          <p:nvPr/>
        </p:nvSpPr>
        <p:spPr>
          <a:xfrm>
            <a:off x="2057400" y="4434840"/>
            <a:ext cx="145800" cy="145800"/>
          </a:xfrm>
          <a:prstGeom prst="roundRect">
            <a:avLst>
              <a:gd name="adj" fmla="val 18750"/>
            </a:avLst>
          </a:prstGeom>
          <a:solidFill>
            <a:srgbClr val="F5B54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9"/>
          <p:cNvSpPr/>
          <p:nvPr/>
        </p:nvSpPr>
        <p:spPr>
          <a:xfrm>
            <a:off x="2258640" y="438012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9–14 mittel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Shape 10"/>
          <p:cNvSpPr/>
          <p:nvPr/>
        </p:nvSpPr>
        <p:spPr>
          <a:xfrm>
            <a:off x="3611880" y="4434840"/>
            <a:ext cx="145800" cy="145800"/>
          </a:xfrm>
          <a:prstGeom prst="roundRect">
            <a:avLst>
              <a:gd name="adj" fmla="val 18750"/>
            </a:avLst>
          </a:prstGeom>
          <a:solidFill>
            <a:srgbClr val="FF6B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11"/>
          <p:cNvSpPr/>
          <p:nvPr/>
        </p:nvSpPr>
        <p:spPr>
          <a:xfrm>
            <a:off x="3813120" y="438012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8A2C4"/>
                </a:solidFill>
                <a:latin typeface="Consolas"/>
                <a:ea typeface="Consolas"/>
              </a:rPr>
              <a:t>≥ 15 hoch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Text 12"/>
          <p:cNvSpPr/>
          <p:nvPr/>
        </p:nvSpPr>
        <p:spPr>
          <a:xfrm>
            <a:off x="4937760" y="438012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596"/>
                </a:solidFill>
                <a:latin typeface="Consolas"/>
                <a:ea typeface="Consolas"/>
              </a:rPr>
              <a:t>6 Risiken (2 technisch · 4 Projekt) · vollständige Liste: docs/RMMM_CryptoBroker.xlsx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JONATHAN · TEAM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Retrospektive &amp; Erkenntnisse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21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Shape 6"/>
          <p:cNvSpPr/>
          <p:nvPr/>
        </p:nvSpPr>
        <p:spPr>
          <a:xfrm>
            <a:off x="502920" y="1325880"/>
            <a:ext cx="3977280" cy="1371240"/>
          </a:xfrm>
          <a:prstGeom prst="roundRect">
            <a:avLst>
              <a:gd name="adj" fmla="val 5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Shape 7"/>
          <p:cNvSpPr/>
          <p:nvPr/>
        </p:nvSpPr>
        <p:spPr>
          <a:xfrm>
            <a:off x="722520" y="154548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5" name="Image 0" descr="preencoded.png"/>
          <p:cNvPicPr/>
          <p:nvPr/>
        </p:nvPicPr>
        <p:blipFill>
          <a:blip r:embed="rId3"/>
          <a:stretch/>
        </p:blipFill>
        <p:spPr>
          <a:xfrm>
            <a:off x="870840" y="169380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566" name="Text 8"/>
          <p:cNvSpPr/>
          <p:nvPr/>
        </p:nvSpPr>
        <p:spPr>
          <a:xfrm>
            <a:off x="1398960" y="15454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Technologie früh evaluieren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Text 9"/>
          <p:cNvSpPr/>
          <p:nvPr/>
        </p:nvSpPr>
        <p:spPr>
          <a:xfrm>
            <a:off x="758880" y="2039040"/>
            <a:ext cx="35658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Der JavaFX→Flask-Wechsel kostete 7 h – früher erkannt, hätte er noch weniger gekostet.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Shape 10"/>
          <p:cNvSpPr/>
          <p:nvPr/>
        </p:nvSpPr>
        <p:spPr>
          <a:xfrm>
            <a:off x="4709160" y="1325880"/>
            <a:ext cx="3977280" cy="1371240"/>
          </a:xfrm>
          <a:prstGeom prst="roundRect">
            <a:avLst>
              <a:gd name="adj" fmla="val 5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Shape 11"/>
          <p:cNvSpPr/>
          <p:nvPr/>
        </p:nvSpPr>
        <p:spPr>
          <a:xfrm>
            <a:off x="4928760" y="154548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70" name="Image 1" descr="preencoded.png"/>
          <p:cNvPicPr/>
          <p:nvPr/>
        </p:nvPicPr>
        <p:blipFill>
          <a:blip r:embed="rId4"/>
          <a:stretch/>
        </p:blipFill>
        <p:spPr>
          <a:xfrm>
            <a:off x="5077080" y="169380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571" name="Text 12"/>
          <p:cNvSpPr/>
          <p:nvPr/>
        </p:nvSpPr>
        <p:spPr>
          <a:xfrm>
            <a:off x="5605200" y="15454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Tests &amp; CI früher einführen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 13"/>
          <p:cNvSpPr/>
          <p:nvPr/>
        </p:nvSpPr>
        <p:spPr>
          <a:xfrm>
            <a:off x="4965120" y="2039040"/>
            <a:ext cx="35658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Automatisierte Tests hätten Regressionen von Anfang an gefangen.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Shape 14"/>
          <p:cNvSpPr/>
          <p:nvPr/>
        </p:nvSpPr>
        <p:spPr>
          <a:xfrm>
            <a:off x="502920" y="2880360"/>
            <a:ext cx="3977280" cy="1371240"/>
          </a:xfrm>
          <a:prstGeom prst="roundRect">
            <a:avLst>
              <a:gd name="adj" fmla="val 5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Shape 15"/>
          <p:cNvSpPr/>
          <p:nvPr/>
        </p:nvSpPr>
        <p:spPr>
          <a:xfrm>
            <a:off x="722520" y="309996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75" name="Image 2" descr="preencoded.png"/>
          <p:cNvPicPr/>
          <p:nvPr/>
        </p:nvPicPr>
        <p:blipFill>
          <a:blip r:embed="rId5"/>
          <a:stretch/>
        </p:blipFill>
        <p:spPr>
          <a:xfrm>
            <a:off x="870840" y="324828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576" name="Text 16"/>
          <p:cNvSpPr/>
          <p:nvPr/>
        </p:nvSpPr>
        <p:spPr>
          <a:xfrm>
            <a:off x="1398960" y="30999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Reviews lohnen sich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 17"/>
          <p:cNvSpPr/>
          <p:nvPr/>
        </p:nvSpPr>
        <p:spPr>
          <a:xfrm>
            <a:off x="758880" y="3593520"/>
            <a:ext cx="35658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Das gravierende DROP-TABLE-Problem fiel erst beim gemeinsamen Draufschauen auf.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Shape 18"/>
          <p:cNvSpPr/>
          <p:nvPr/>
        </p:nvSpPr>
        <p:spPr>
          <a:xfrm>
            <a:off x="4709160" y="2880360"/>
            <a:ext cx="3977280" cy="1371240"/>
          </a:xfrm>
          <a:prstGeom prst="roundRect">
            <a:avLst>
              <a:gd name="adj" fmla="val 533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Shape 19"/>
          <p:cNvSpPr/>
          <p:nvPr/>
        </p:nvSpPr>
        <p:spPr>
          <a:xfrm>
            <a:off x="4928760" y="3099960"/>
            <a:ext cx="529920" cy="52992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0" name="Image 3" descr="preencoded.png"/>
          <p:cNvPicPr/>
          <p:nvPr/>
        </p:nvPicPr>
        <p:blipFill>
          <a:blip r:embed="rId6"/>
          <a:stretch/>
        </p:blipFill>
        <p:spPr>
          <a:xfrm>
            <a:off x="5077080" y="3248280"/>
            <a:ext cx="232920" cy="232920"/>
          </a:xfrm>
          <a:prstGeom prst="rect">
            <a:avLst/>
          </a:prstGeom>
          <a:ln w="0">
            <a:noFill/>
          </a:ln>
        </p:spPr>
      </p:pic>
      <p:sp>
        <p:nvSpPr>
          <p:cNvPr id="581" name="Text 20"/>
          <p:cNvSpPr/>
          <p:nvPr/>
        </p:nvSpPr>
        <p:spPr>
          <a:xfrm>
            <a:off x="5605200" y="30999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Clean Code zahlt sich aus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Text 21"/>
          <p:cNvSpPr/>
          <p:nvPr/>
        </p:nvSpPr>
        <p:spPr>
          <a:xfrm>
            <a:off x="4965120" y="3593520"/>
            <a:ext cx="35658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Gezielte Refactorings (IOSP, DRY) senkten die Komplexität messbar – execute_trade auf A(1) – und machten die Service-Schicht isoliert testbar.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Shape 0"/>
          <p:cNvSpPr/>
          <p:nvPr/>
        </p:nvSpPr>
        <p:spPr>
          <a:xfrm>
            <a:off x="502920" y="384120"/>
            <a:ext cx="155160" cy="15516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Shape 1"/>
          <p:cNvSpPr/>
          <p:nvPr/>
        </p:nvSpPr>
        <p:spPr>
          <a:xfrm>
            <a:off x="603360" y="457200"/>
            <a:ext cx="118440" cy="1184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250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 2"/>
          <p:cNvSpPr/>
          <p:nvPr/>
        </p:nvSpPr>
        <p:spPr>
          <a:xfrm>
            <a:off x="822960" y="3657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// SARA · TEAM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Text 3"/>
          <p:cNvSpPr/>
          <p:nvPr/>
        </p:nvSpPr>
        <p:spPr>
          <a:xfrm>
            <a:off x="484560" y="603360"/>
            <a:ext cx="8183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Fazit – worauf wir stolz sind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 4"/>
          <p:cNvSpPr/>
          <p:nvPr/>
        </p:nvSpPr>
        <p:spPr>
          <a:xfrm>
            <a:off x="502920" y="4827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5B8DEF"/>
                </a:solidFill>
                <a:latin typeface="Consolas"/>
                <a:ea typeface="Consolas"/>
              </a:rPr>
              <a:t>CryptoBroker</a:t>
            </a:r>
            <a:r>
              <a:rPr lang="en-US" sz="950" b="0" strike="noStrike" spc="97">
                <a:solidFill>
                  <a:srgbClr val="6B7596"/>
                </a:solidFill>
                <a:latin typeface="Consolas"/>
                <a:ea typeface="Consolas"/>
              </a:rPr>
              <a:t>  ·  CryptoSim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 5"/>
          <p:cNvSpPr/>
          <p:nvPr/>
        </p:nvSpPr>
        <p:spPr>
          <a:xfrm>
            <a:off x="7269480" y="4827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EF1FB"/>
                </a:solidFill>
                <a:latin typeface="Consolas"/>
                <a:ea typeface="Consolas"/>
              </a:rPr>
              <a:t>22</a:t>
            </a: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 / 23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Shape 6"/>
          <p:cNvSpPr/>
          <p:nvPr/>
        </p:nvSpPr>
        <p:spPr>
          <a:xfrm>
            <a:off x="502920" y="1325880"/>
            <a:ext cx="3977280" cy="1023840"/>
          </a:xfrm>
          <a:prstGeom prst="roundRect">
            <a:avLst>
              <a:gd name="adj" fmla="val 714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Shape 7"/>
          <p:cNvSpPr/>
          <p:nvPr/>
        </p:nvSpPr>
        <p:spPr>
          <a:xfrm>
            <a:off x="704160" y="157284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1" name="Image 0" descr="preencoded.png"/>
          <p:cNvPicPr/>
          <p:nvPr/>
        </p:nvPicPr>
        <p:blipFill>
          <a:blip r:embed="rId3"/>
          <a:stretch/>
        </p:blipFill>
        <p:spPr>
          <a:xfrm>
            <a:off x="847440" y="171612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592" name="Text 8"/>
          <p:cNvSpPr/>
          <p:nvPr/>
        </p:nvSpPr>
        <p:spPr>
          <a:xfrm>
            <a:off x="1344240" y="14904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Vollständiges Produkt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Text 9"/>
          <p:cNvSpPr/>
          <p:nvPr/>
        </p:nvSpPr>
        <p:spPr>
          <a:xfrm>
            <a:off x="1344240" y="185616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Funktionierender Trading-Simulator mit echten Live-Daten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Shape 10"/>
          <p:cNvSpPr/>
          <p:nvPr/>
        </p:nvSpPr>
        <p:spPr>
          <a:xfrm>
            <a:off x="4709160" y="1325880"/>
            <a:ext cx="3977280" cy="1023840"/>
          </a:xfrm>
          <a:prstGeom prst="roundRect">
            <a:avLst>
              <a:gd name="adj" fmla="val 714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Shape 11"/>
          <p:cNvSpPr/>
          <p:nvPr/>
        </p:nvSpPr>
        <p:spPr>
          <a:xfrm>
            <a:off x="4910400" y="157284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6" name="Image 1" descr="preencoded.png"/>
          <p:cNvPicPr/>
          <p:nvPr/>
        </p:nvPicPr>
        <p:blipFill>
          <a:blip r:embed="rId4"/>
          <a:stretch/>
        </p:blipFill>
        <p:spPr>
          <a:xfrm>
            <a:off x="5053680" y="171612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597" name="Text 12"/>
          <p:cNvSpPr/>
          <p:nvPr/>
        </p:nvSpPr>
        <p:spPr>
          <a:xfrm>
            <a:off x="5550480" y="14904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Saubere Architektur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 13"/>
          <p:cNvSpPr/>
          <p:nvPr/>
        </p:nvSpPr>
        <p:spPr>
          <a:xfrm>
            <a:off x="5550480" y="185616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3 Schichten, 5 begründete ADRs, arc42-Dokumentation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Shape 14"/>
          <p:cNvSpPr/>
          <p:nvPr/>
        </p:nvSpPr>
        <p:spPr>
          <a:xfrm>
            <a:off x="502920" y="2496240"/>
            <a:ext cx="3977280" cy="1023840"/>
          </a:xfrm>
          <a:prstGeom prst="roundRect">
            <a:avLst>
              <a:gd name="adj" fmla="val 714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Shape 15"/>
          <p:cNvSpPr/>
          <p:nvPr/>
        </p:nvSpPr>
        <p:spPr>
          <a:xfrm>
            <a:off x="704160" y="274320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1" name="Image 2" descr="preencoded.png"/>
          <p:cNvPicPr/>
          <p:nvPr/>
        </p:nvPicPr>
        <p:blipFill>
          <a:blip r:embed="rId5"/>
          <a:stretch/>
        </p:blipFill>
        <p:spPr>
          <a:xfrm>
            <a:off x="847440" y="288648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602" name="Text 16"/>
          <p:cNvSpPr/>
          <p:nvPr/>
        </p:nvSpPr>
        <p:spPr>
          <a:xfrm>
            <a:off x="1344240" y="266076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Echte Qualität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 17"/>
          <p:cNvSpPr/>
          <p:nvPr/>
        </p:nvSpPr>
        <p:spPr>
          <a:xfrm>
            <a:off x="1344240" y="302652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35 Tests grün, 92 % Coverage (market_service), Metriken in der Pipeline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Shape 18"/>
          <p:cNvSpPr/>
          <p:nvPr/>
        </p:nvSpPr>
        <p:spPr>
          <a:xfrm>
            <a:off x="4709160" y="2496240"/>
            <a:ext cx="3977280" cy="1023840"/>
          </a:xfrm>
          <a:prstGeom prst="roundRect">
            <a:avLst>
              <a:gd name="adj" fmla="val 7143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Shape 19"/>
          <p:cNvSpPr/>
          <p:nvPr/>
        </p:nvSpPr>
        <p:spPr>
          <a:xfrm>
            <a:off x="4910400" y="2743200"/>
            <a:ext cx="511560" cy="511560"/>
          </a:xfr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6" name="Image 3" descr="preencoded.png"/>
          <p:cNvPicPr/>
          <p:nvPr/>
        </p:nvPicPr>
        <p:blipFill>
          <a:blip r:embed="rId6"/>
          <a:stretch/>
        </p:blipFill>
        <p:spPr>
          <a:xfrm>
            <a:off x="5053680" y="288648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607" name="Text 20"/>
          <p:cNvSpPr/>
          <p:nvPr/>
        </p:nvSpPr>
        <p:spPr>
          <a:xfrm>
            <a:off x="5550480" y="266076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Automatisierte Pipeline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Text 21"/>
          <p:cNvSpPr/>
          <p:nvPr/>
        </p:nvSpPr>
        <p:spPr>
          <a:xfrm>
            <a:off x="5550480" y="302652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Tests, Metriken &amp; Docker-Build bei jedem Push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Shape 22"/>
          <p:cNvSpPr/>
          <p:nvPr/>
        </p:nvSpPr>
        <p:spPr>
          <a:xfrm>
            <a:off x="502920" y="3703320"/>
            <a:ext cx="8183520" cy="731160"/>
          </a:xfrm>
          <a:prstGeom prst="roundRect">
            <a:avLst>
              <a:gd name="adj" fmla="val 10000"/>
            </a:avLst>
          </a:prstGeom>
          <a:solidFill>
            <a:srgbClr val="1B2542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Text 23"/>
          <p:cNvSpPr/>
          <p:nvPr/>
        </p:nvSpPr>
        <p:spPr>
          <a:xfrm>
            <a:off x="502920" y="3703320"/>
            <a:ext cx="1636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5B8DEF"/>
                </a:solidFill>
                <a:latin typeface="Consolas"/>
                <a:ea typeface="Consolas"/>
              </a:rPr>
              <a:t>100  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Coins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Text 24"/>
          <p:cNvSpPr/>
          <p:nvPr/>
        </p:nvSpPr>
        <p:spPr>
          <a:xfrm>
            <a:off x="2139840" y="3703320"/>
            <a:ext cx="1636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35C46A"/>
                </a:solidFill>
                <a:latin typeface="Consolas"/>
                <a:ea typeface="Consolas"/>
              </a:rPr>
              <a:t>35  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Tests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Text 25"/>
          <p:cNvSpPr/>
          <p:nvPr/>
        </p:nvSpPr>
        <p:spPr>
          <a:xfrm>
            <a:off x="3776400" y="3703320"/>
            <a:ext cx="1636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8B7CF6"/>
                </a:solidFill>
                <a:latin typeface="Consolas"/>
                <a:ea typeface="Consolas"/>
              </a:rPr>
              <a:t>92 %  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Coverage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Text 26"/>
          <p:cNvSpPr/>
          <p:nvPr/>
        </p:nvSpPr>
        <p:spPr>
          <a:xfrm>
            <a:off x="5413320" y="3703320"/>
            <a:ext cx="1636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5B544"/>
                </a:solidFill>
                <a:latin typeface="Consolas"/>
                <a:ea typeface="Consolas"/>
              </a:rPr>
              <a:t>5  </a:t>
            </a:r>
            <a:r>
              <a:rPr lang="en-US" sz="1100" b="0" strike="noStrike" spc="-1">
                <a:solidFill>
                  <a:srgbClr val="98A2C4"/>
                </a:solidFill>
                <a:latin typeface="Calibri"/>
                <a:ea typeface="Calibri"/>
              </a:rPr>
              <a:t>ADRs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Text 27"/>
          <p:cNvSpPr/>
          <p:nvPr/>
        </p:nvSpPr>
        <p:spPr>
          <a:xfrm>
            <a:off x="7004160" y="3703320"/>
            <a:ext cx="16822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spc="-1" dirty="0">
                <a:solidFill>
                  <a:srgbClr val="5B8DEF"/>
                </a:solidFill>
                <a:latin typeface="Consolas"/>
                <a:ea typeface="Consolas"/>
              </a:rPr>
              <a:t>112,75</a:t>
            </a:r>
            <a:r>
              <a:rPr lang="en-US" sz="1800" b="1" strike="noStrike" spc="-1" dirty="0">
                <a:solidFill>
                  <a:srgbClr val="5B8DEF"/>
                </a:solidFill>
                <a:latin typeface="Consolas"/>
                <a:ea typeface="Consolas"/>
              </a:rPr>
              <a:t>h </a:t>
            </a:r>
            <a:r>
              <a:rPr lang="en-US" sz="1100" b="0" strike="noStrike" spc="-1" dirty="0" err="1">
                <a:solidFill>
                  <a:srgbClr val="98A2C4"/>
                </a:solidFill>
                <a:latin typeface="Calibri"/>
                <a:ea typeface="Calibri"/>
              </a:rPr>
              <a:t>Aufwand</a:t>
            </a:r>
            <a:endParaRPr lang="en-US" sz="11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hape 0"/>
          <p:cNvSpPr/>
          <p:nvPr/>
        </p:nvSpPr>
        <p:spPr>
          <a:xfrm>
            <a:off x="4974480" y="1316880"/>
            <a:ext cx="3767040" cy="2578320"/>
          </a:xfrm>
          <a:prstGeom prst="roundRect">
            <a:avLst>
              <a:gd name="adj" fmla="val 2482"/>
            </a:avLst>
          </a:prstGeom>
          <a:solidFill>
            <a:srgbClr val="060912"/>
          </a:solidFill>
          <a:ln w="12700">
            <a:solidFill>
              <a:srgbClr val="2B3658"/>
            </a:solidFill>
            <a:round/>
          </a:ln>
          <a:effectLst>
            <a:outerShdw blurRad="114480" dist="38160" dir="54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6" name="Image 0" descr="/home/claude/deck/assets/transactions.png"/>
          <p:cNvPicPr/>
          <p:nvPr/>
        </p:nvPicPr>
        <p:blipFill>
          <a:blip r:embed="rId3"/>
          <a:stretch/>
        </p:blipFill>
        <p:spPr>
          <a:xfrm>
            <a:off x="5029200" y="1371600"/>
            <a:ext cx="3657240" cy="2468520"/>
          </a:xfrm>
          <a:prstGeom prst="rect">
            <a:avLst/>
          </a:prstGeom>
          <a:ln w="0">
            <a:noFill/>
          </a:ln>
        </p:spPr>
      </p:pic>
      <p:sp>
        <p:nvSpPr>
          <p:cNvPr id="617" name="Shape 1"/>
          <p:cNvSpPr/>
          <p:nvPr/>
        </p:nvSpPr>
        <p:spPr>
          <a:xfrm>
            <a:off x="548640" y="914400"/>
            <a:ext cx="310680" cy="310680"/>
          </a:xfrm>
          <a:prstGeom prst="roundRect">
            <a:avLst>
              <a:gd name="adj" fmla="val 23529"/>
            </a:avLst>
          </a:prstGeom>
          <a:solidFill>
            <a:srgbClr val="5B8D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77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Shape 2"/>
          <p:cNvSpPr/>
          <p:nvPr/>
        </p:nvSpPr>
        <p:spPr>
          <a:xfrm>
            <a:off x="713160" y="1060560"/>
            <a:ext cx="237240" cy="237240"/>
          </a:xfrm>
          <a:prstGeom prst="roundRect">
            <a:avLst>
              <a:gd name="adj" fmla="val 23077"/>
            </a:avLst>
          </a:prstGeom>
          <a:solidFill>
            <a:srgbClr val="8B7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 fontScale="47500" lnSpcReduction="20000"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3"/>
          <p:cNvSpPr/>
          <p:nvPr/>
        </p:nvSpPr>
        <p:spPr>
          <a:xfrm>
            <a:off x="1051560" y="91440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B8DEF"/>
                </a:solidFill>
                <a:latin typeface="Consolas"/>
                <a:ea typeface="Consolas"/>
              </a:rPr>
              <a:t>VIELEN DANK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Text 4"/>
          <p:cNvSpPr/>
          <p:nvPr/>
        </p:nvSpPr>
        <p:spPr>
          <a:xfrm>
            <a:off x="502920" y="137160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strike="noStrike" spc="-1">
                <a:solidFill>
                  <a:srgbClr val="EEF1FB"/>
                </a:solidFill>
                <a:latin typeface="Trebuchet MS"/>
                <a:ea typeface="Trebuchet MS"/>
              </a:rPr>
              <a:t>Fragen?</a:t>
            </a:r>
            <a:endParaRPr lang="en-US" sz="5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" name="Text 5"/>
          <p:cNvSpPr/>
          <p:nvPr/>
        </p:nvSpPr>
        <p:spPr>
          <a:xfrm>
            <a:off x="521280" y="228600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98A2C4"/>
                </a:solidFill>
                <a:latin typeface="Calibri"/>
                <a:ea typeface="Calibri"/>
              </a:rPr>
              <a:t>Wir freuen uns auf eure Fragen zum CryptoBroker.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Shape 6"/>
          <p:cNvSpPr/>
          <p:nvPr/>
        </p:nvSpPr>
        <p:spPr>
          <a:xfrm>
            <a:off x="502920" y="2971800"/>
            <a:ext cx="4297320" cy="1416960"/>
          </a:xfrm>
          <a:prstGeom prst="roundRect">
            <a:avLst>
              <a:gd name="adj" fmla="val 5161"/>
            </a:avLst>
          </a:prstGeom>
          <a:solidFill>
            <a:srgbClr val="151E36"/>
          </a:solidFill>
          <a:ln w="12700">
            <a:solidFill>
              <a:srgbClr val="2B36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rm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Text 7"/>
          <p:cNvSpPr/>
          <p:nvPr/>
        </p:nvSpPr>
        <p:spPr>
          <a:xfrm>
            <a:off x="685800" y="30816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97">
                <a:solidFill>
                  <a:srgbClr val="5B8DEF"/>
                </a:solidFill>
                <a:latin typeface="Consolas"/>
                <a:ea typeface="Consolas"/>
              </a:rPr>
              <a:t>Ressourcen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4" name="Text 8"/>
          <p:cNvSpPr/>
          <p:nvPr/>
        </p:nvSpPr>
        <p:spPr>
          <a:xfrm>
            <a:off x="685800" y="3401640"/>
            <a:ext cx="3977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fontScale="92500" lnSpcReduction="10000"/>
          </a:bodyPr>
          <a:lstStyle/>
          <a:p>
            <a:r>
              <a:rPr lang="en-US" sz="1150" b="1" strike="noStrike" spc="-1">
                <a:solidFill>
                  <a:srgbClr val="EEF1FB"/>
                </a:solidFill>
                <a:latin typeface="Calibri"/>
                <a:ea typeface="Calibri"/>
              </a:rPr>
              <a:t>Code-Repository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98A2C4"/>
                </a:solidFill>
                <a:latin typeface="Consolas"/>
                <a:ea typeface="Consolas"/>
              </a:rPr>
              <a:t>github.com/Lucas-Klein1/CryptoBroker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EEF1FB"/>
                </a:solidFill>
                <a:latin typeface="Calibri"/>
                <a:ea typeface="Calibri"/>
              </a:rPr>
              <a:t>Doku  </a:t>
            </a:r>
            <a:r>
              <a:rPr lang="en-US" sz="1050" b="0" strike="noStrike" spc="-1">
                <a:solidFill>
                  <a:srgbClr val="98A2C4"/>
                </a:solidFill>
                <a:latin typeface="Calibri"/>
                <a:ea typeface="Calibri"/>
              </a:rPr>
              <a:t>arc42 · SRS · ASR · Testplan · Review · Metriken (im /docs-Verzeichnis)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 9"/>
          <p:cNvSpPr/>
          <p:nvPr/>
        </p:nvSpPr>
        <p:spPr>
          <a:xfrm>
            <a:off x="502920" y="482796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B7596"/>
                </a:solidFill>
                <a:latin typeface="Consolas"/>
                <a:ea typeface="Consolas"/>
              </a:rPr>
              <a:t>CryptoBroker · CryptoSim · Software Engineering · TINF24B4 · DHBW Karlsruhe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2033</Words>
  <Application>Microsoft Macintosh PowerPoint</Application>
  <PresentationFormat>Bildschirmpräsentation (16:9)</PresentationFormat>
  <Paragraphs>491</Paragraphs>
  <Slides>23</Slides>
  <Notes>23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33" baseType="lpstr">
      <vt:lpstr>Arial</vt:lpstr>
      <vt:lpstr>Calibri</vt:lpstr>
      <vt:lpstr>Consolas</vt:lpstr>
      <vt:lpstr>Monotype Sorts</vt:lpstr>
      <vt:lpstr>OpenSymbol</vt:lpstr>
      <vt:lpstr>Symbol</vt:lpstr>
      <vt:lpstr>Times New Roman</vt:lpstr>
      <vt:lpstr>Trebuchet MS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Bobanovic, Milena</cp:lastModifiedBy>
  <cp:revision>3</cp:revision>
  <dcterms:modified xsi:type="dcterms:W3CDTF">2026-06-08T09:09:46Z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2026-06-05T16:56:51Z</dcterms:created>
  <dc:creator>Team CryptoBroker</dc:creator>
  <dc:description/>
  <dc:language>en-US</dc:language>
  <cp:lastModifiedBy>Team CryptoBroker</cp:lastModifiedBy>
  <dcterms:modified xsi:type="dcterms:W3CDTF">2026-06-05T16:56:51Z</dcterms:modified>
  <cp:revision>1</cp:revision>
  <dc:subject>PptxGenJS Presentation</dc:subject>
  <dc:title>CryptoBroker – Abschlusspräsentation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23</vt:r8>
  </property>
  <property fmtid="{D5CDD505-2E9C-101B-9397-08002B2CF9AE}" pid="3" name="PresentationFormat">
    <vt:lpwstr>On-screen Show (16:9)</vt:lpwstr>
  </property>
  <property fmtid="{D5CDD505-2E9C-101B-9397-08002B2CF9AE}" pid="4" name="Slides">
    <vt:r8>23</vt:r8>
  </property>
</Properties>
</file>