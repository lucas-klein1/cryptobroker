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95" r:id="rId3"/>
    <p:sldId id="310" r:id="rId4"/>
    <p:sldId id="283" r:id="rId5"/>
    <p:sldId id="301" r:id="rId6"/>
    <p:sldId id="284" r:id="rId7"/>
    <p:sldId id="285" r:id="rId8"/>
    <p:sldId id="286" r:id="rId9"/>
    <p:sldId id="287" r:id="rId10"/>
    <p:sldId id="288" r:id="rId11"/>
    <p:sldId id="289" r:id="rId12"/>
    <p:sldId id="302" r:id="rId13"/>
    <p:sldId id="290" r:id="rId14"/>
    <p:sldId id="291" r:id="rId15"/>
    <p:sldId id="292" r:id="rId16"/>
    <p:sldId id="293" r:id="rId17"/>
    <p:sldId id="303" r:id="rId18"/>
    <p:sldId id="271" r:id="rId19"/>
    <p:sldId id="273" r:id="rId20"/>
    <p:sldId id="274" r:id="rId21"/>
    <p:sldId id="275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BCDF5-2877-4C3C-B166-B2596D54107C}" v="115" dt="2026-04-01T12:01:55.395"/>
    <p1510:client id="{749918BB-471C-46EB-83C7-8F49E6A4E8D4}" v="2" dt="2026-03-31T17:51:01.556"/>
    <p1510:client id="{B320D7D5-2679-4739-A229-017E6416D110}" v="1" dt="2026-04-01T14:02:00.909"/>
    <p1510:client id="{BD54F8CA-56AF-4FEF-8BC4-63FF9D23D53D}" v="2459" dt="2026-04-01T14:00:56.152"/>
    <p1510:client id="{DA880B1B-5E41-4A8E-A90C-15E2591625B2}" v="5" dt="2026-03-31T17:49:08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4"/>
    <p:restoredTop sz="94707"/>
  </p:normalViewPr>
  <p:slideViewPr>
    <p:cSldViewPr snapToGrid="0">
      <p:cViewPr varScale="1">
        <p:scale>
          <a:sx n="122" d="100"/>
          <a:sy n="122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6441C9-EABF-4BB6-A8F4-D9A87F80BEB7}" type="doc">
      <dgm:prSet loTypeId="urn:microsoft.com/office/officeart/2005/8/layout/chevron2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BBE097D-C172-4153-8866-A19201AC4024}">
      <dgm:prSet phldrT="[Text]" phldr="0"/>
      <dgm:spPr/>
      <dgm:t>
        <a:bodyPr/>
        <a:lstStyle/>
        <a:p>
          <a:endParaRPr lang="en-US"/>
        </a:p>
      </dgm:t>
    </dgm:pt>
    <dgm:pt modelId="{BE721E1C-C6C8-4BE0-9AEF-680C8A2DD2CB}" type="parTrans" cxnId="{3C608440-B8E3-407D-B769-EC6D23CE8F8E}">
      <dgm:prSet/>
      <dgm:spPr/>
      <dgm:t>
        <a:bodyPr/>
        <a:lstStyle/>
        <a:p>
          <a:endParaRPr lang="en-US"/>
        </a:p>
      </dgm:t>
    </dgm:pt>
    <dgm:pt modelId="{B72E9D03-7FDB-4E9D-A61B-09E7514C5070}" type="sibTrans" cxnId="{3C608440-B8E3-407D-B769-EC6D23CE8F8E}">
      <dgm:prSet/>
      <dgm:spPr/>
      <dgm:t>
        <a:bodyPr/>
        <a:lstStyle/>
        <a:p>
          <a:endParaRPr lang="en-US"/>
        </a:p>
      </dgm:t>
    </dgm:pt>
    <dgm:pt modelId="{E43D5178-FD6F-45B9-8F45-CB1BFF25BFF0}">
      <dgm:prSet phldrT="[Text]" phldr="0"/>
      <dgm:spPr/>
      <dgm:t>
        <a:bodyPr/>
        <a:lstStyle/>
        <a:p>
          <a:r>
            <a:rPr lang="de-DE"/>
            <a:t>Repo wird auf der VM gepullt</a:t>
          </a:r>
          <a:endParaRPr lang="en-US"/>
        </a:p>
      </dgm:t>
    </dgm:pt>
    <dgm:pt modelId="{58638BE5-A869-4477-B2D4-CEC16E0C6344}" type="parTrans" cxnId="{E5EED452-A5E9-47D3-ABBD-9D6FAF92DABC}">
      <dgm:prSet/>
      <dgm:spPr/>
      <dgm:t>
        <a:bodyPr/>
        <a:lstStyle/>
        <a:p>
          <a:endParaRPr lang="en-US"/>
        </a:p>
      </dgm:t>
    </dgm:pt>
    <dgm:pt modelId="{55B4D418-CE4C-46EC-BB84-DBB1451E0B13}" type="sibTrans" cxnId="{E5EED452-A5E9-47D3-ABBD-9D6FAF92DABC}">
      <dgm:prSet/>
      <dgm:spPr/>
      <dgm:t>
        <a:bodyPr/>
        <a:lstStyle/>
        <a:p>
          <a:endParaRPr lang="en-US"/>
        </a:p>
      </dgm:t>
    </dgm:pt>
    <dgm:pt modelId="{6CB2EBC9-20F7-40A0-A0C1-D3B57AF5BE76}">
      <dgm:prSet phldrT="[Text]" phldr="0"/>
      <dgm:spPr/>
      <dgm:t>
        <a:bodyPr/>
        <a:lstStyle/>
        <a:p>
          <a:endParaRPr lang="en-US"/>
        </a:p>
      </dgm:t>
    </dgm:pt>
    <dgm:pt modelId="{26604743-0A4E-42A0-80E1-2252BEA5301F}" type="parTrans" cxnId="{79FCBB7C-E487-490B-9C81-6ADC82F261ED}">
      <dgm:prSet/>
      <dgm:spPr/>
      <dgm:t>
        <a:bodyPr/>
        <a:lstStyle/>
        <a:p>
          <a:endParaRPr lang="en-US"/>
        </a:p>
      </dgm:t>
    </dgm:pt>
    <dgm:pt modelId="{A60CC96D-07D0-442A-A8CE-1CF0247719BD}" type="sibTrans" cxnId="{79FCBB7C-E487-490B-9C81-6ADC82F261ED}">
      <dgm:prSet/>
      <dgm:spPr/>
      <dgm:t>
        <a:bodyPr/>
        <a:lstStyle/>
        <a:p>
          <a:endParaRPr lang="en-US"/>
        </a:p>
      </dgm:t>
    </dgm:pt>
    <dgm:pt modelId="{22EDC8D2-6A38-4F79-95C7-E9C661F19F26}">
      <dgm:prSet phldrT="[Text]" phldr="0"/>
      <dgm:spPr/>
      <dgm:t>
        <a:bodyPr/>
        <a:lstStyle/>
        <a:p>
          <a:r>
            <a:rPr lang="de-DE"/>
            <a:t>Python installieren</a:t>
          </a:r>
          <a:endParaRPr lang="en-US"/>
        </a:p>
      </dgm:t>
    </dgm:pt>
    <dgm:pt modelId="{39E0886E-901C-4301-BA2C-F1C4D5FF3342}" type="parTrans" cxnId="{9D42099C-D5A8-4928-B26A-B476EBDB67D4}">
      <dgm:prSet/>
      <dgm:spPr/>
      <dgm:t>
        <a:bodyPr/>
        <a:lstStyle/>
        <a:p>
          <a:endParaRPr lang="en-US"/>
        </a:p>
      </dgm:t>
    </dgm:pt>
    <dgm:pt modelId="{FDE65CFA-024A-43C0-A22C-4E1D92572EBF}" type="sibTrans" cxnId="{9D42099C-D5A8-4928-B26A-B476EBDB67D4}">
      <dgm:prSet/>
      <dgm:spPr/>
      <dgm:t>
        <a:bodyPr/>
        <a:lstStyle/>
        <a:p>
          <a:endParaRPr lang="en-US"/>
        </a:p>
      </dgm:t>
    </dgm:pt>
    <dgm:pt modelId="{772498C9-FD4F-4540-8CC7-7C6BAF3269BD}">
      <dgm:prSet phldrT="[Text]" phldr="0"/>
      <dgm:spPr/>
      <dgm:t>
        <a:bodyPr/>
        <a:lstStyle/>
        <a:p>
          <a:endParaRPr lang="en-US"/>
        </a:p>
      </dgm:t>
    </dgm:pt>
    <dgm:pt modelId="{BADC46FD-19F2-4042-BE7B-1051015C61F8}" type="parTrans" cxnId="{44A70149-6E2C-4967-9FAF-1543A62FDC7A}">
      <dgm:prSet/>
      <dgm:spPr/>
      <dgm:t>
        <a:bodyPr/>
        <a:lstStyle/>
        <a:p>
          <a:endParaRPr lang="en-US"/>
        </a:p>
      </dgm:t>
    </dgm:pt>
    <dgm:pt modelId="{50F94CEB-53FB-42B3-8CEF-10B2597C73F0}" type="sibTrans" cxnId="{44A70149-6E2C-4967-9FAF-1543A62FDC7A}">
      <dgm:prSet/>
      <dgm:spPr/>
      <dgm:t>
        <a:bodyPr/>
        <a:lstStyle/>
        <a:p>
          <a:endParaRPr lang="en-US"/>
        </a:p>
      </dgm:t>
    </dgm:pt>
    <dgm:pt modelId="{5A5EAC11-66DD-49A9-9592-40015D04E00A}">
      <dgm:prSet phldrT="[Text]" phldr="0"/>
      <dgm:spPr/>
      <dgm:t>
        <a:bodyPr/>
        <a:lstStyle/>
        <a:p>
          <a:r>
            <a:rPr lang="de-DE"/>
            <a:t>Dependencies installieren</a:t>
          </a:r>
          <a:endParaRPr lang="en-US"/>
        </a:p>
      </dgm:t>
    </dgm:pt>
    <dgm:pt modelId="{F84C13C3-6887-4AFA-A39A-F37F69184330}" type="parTrans" cxnId="{8DBCB7E2-36E3-4A7D-9C91-D52D03A71609}">
      <dgm:prSet/>
      <dgm:spPr/>
      <dgm:t>
        <a:bodyPr/>
        <a:lstStyle/>
        <a:p>
          <a:endParaRPr lang="en-US"/>
        </a:p>
      </dgm:t>
    </dgm:pt>
    <dgm:pt modelId="{DBE9B44C-687C-4557-BA7A-A44CA7C358D6}" type="sibTrans" cxnId="{8DBCB7E2-36E3-4A7D-9C91-D52D03A71609}">
      <dgm:prSet/>
      <dgm:spPr/>
      <dgm:t>
        <a:bodyPr/>
        <a:lstStyle/>
        <a:p>
          <a:endParaRPr lang="en-US"/>
        </a:p>
      </dgm:t>
    </dgm:pt>
    <dgm:pt modelId="{FCD2FB7C-3B23-4DC5-A09E-4A96765CC5D9}">
      <dgm:prSet phldrT="[Text]" phldr="0"/>
      <dgm:spPr/>
      <dgm:t>
        <a:bodyPr/>
        <a:lstStyle/>
        <a:p>
          <a:endParaRPr lang="en-US"/>
        </a:p>
      </dgm:t>
    </dgm:pt>
    <dgm:pt modelId="{3F737E67-1FD4-4704-A157-B97205FDB036}" type="parTrans" cxnId="{5C48132E-CA1B-40A0-BAD9-7ABC33EF7921}">
      <dgm:prSet/>
      <dgm:spPr/>
      <dgm:t>
        <a:bodyPr/>
        <a:lstStyle/>
        <a:p>
          <a:endParaRPr lang="en-US"/>
        </a:p>
      </dgm:t>
    </dgm:pt>
    <dgm:pt modelId="{A24B5A41-72D9-4F85-859D-8BF24A245751}" type="sibTrans" cxnId="{5C48132E-CA1B-40A0-BAD9-7ABC33EF7921}">
      <dgm:prSet/>
      <dgm:spPr/>
      <dgm:t>
        <a:bodyPr/>
        <a:lstStyle/>
        <a:p>
          <a:endParaRPr lang="en-US"/>
        </a:p>
      </dgm:t>
    </dgm:pt>
    <dgm:pt modelId="{484D471E-B5B4-4F3E-8140-A05BBF8C1E35}">
      <dgm:prSet phldrT="[Text]" phldr="0"/>
      <dgm:spPr/>
      <dgm:t>
        <a:bodyPr/>
        <a:lstStyle/>
        <a:p>
          <a:r>
            <a:rPr lang="de-DE"/>
            <a:t>Syntax checken</a:t>
          </a:r>
          <a:endParaRPr lang="en-US"/>
        </a:p>
      </dgm:t>
    </dgm:pt>
    <dgm:pt modelId="{1FEB9361-3D87-462D-A169-59DCE75BB545}" type="parTrans" cxnId="{906610F1-A197-4022-9554-D1A6D87684A0}">
      <dgm:prSet/>
      <dgm:spPr/>
      <dgm:t>
        <a:bodyPr/>
        <a:lstStyle/>
        <a:p>
          <a:endParaRPr lang="en-US"/>
        </a:p>
      </dgm:t>
    </dgm:pt>
    <dgm:pt modelId="{29B42252-D888-4310-B95F-6A82A7B6EDC2}" type="sibTrans" cxnId="{906610F1-A197-4022-9554-D1A6D87684A0}">
      <dgm:prSet/>
      <dgm:spPr/>
      <dgm:t>
        <a:bodyPr/>
        <a:lstStyle/>
        <a:p>
          <a:endParaRPr lang="en-US"/>
        </a:p>
      </dgm:t>
    </dgm:pt>
    <dgm:pt modelId="{F82FC78E-45FB-423B-AAE0-1B084A55B24C}">
      <dgm:prSet phldrT="[Text]" phldr="0"/>
      <dgm:spPr/>
      <dgm:t>
        <a:bodyPr/>
        <a:lstStyle/>
        <a:p>
          <a:endParaRPr lang="en-US"/>
        </a:p>
      </dgm:t>
    </dgm:pt>
    <dgm:pt modelId="{58ACFD99-5721-4645-8FB2-50319866863A}" type="parTrans" cxnId="{35A75157-D745-4B03-B67A-5B30647F765F}">
      <dgm:prSet/>
      <dgm:spPr/>
      <dgm:t>
        <a:bodyPr/>
        <a:lstStyle/>
        <a:p>
          <a:endParaRPr lang="en-US"/>
        </a:p>
      </dgm:t>
    </dgm:pt>
    <dgm:pt modelId="{AB418D8A-A791-47B9-BDA7-533F84D8A030}" type="sibTrans" cxnId="{35A75157-D745-4B03-B67A-5B30647F765F}">
      <dgm:prSet/>
      <dgm:spPr/>
      <dgm:t>
        <a:bodyPr/>
        <a:lstStyle/>
        <a:p>
          <a:endParaRPr lang="en-US"/>
        </a:p>
      </dgm:t>
    </dgm:pt>
    <dgm:pt modelId="{7C6508A1-222D-4FA7-A744-69ADBAEB19D9}">
      <dgm:prSet phldrT="[Text]" phldr="0"/>
      <dgm:spPr/>
      <dgm:t>
        <a:bodyPr/>
        <a:lstStyle/>
        <a:p>
          <a:r>
            <a:rPr lang="de-DE"/>
            <a:t>Docker Image bauen</a:t>
          </a:r>
          <a:endParaRPr lang="en-US"/>
        </a:p>
      </dgm:t>
    </dgm:pt>
    <dgm:pt modelId="{56520B3B-F565-4782-A5CA-962AE044D397}" type="parTrans" cxnId="{7315A469-8E8B-4BBB-8D67-064533EDC44B}">
      <dgm:prSet/>
      <dgm:spPr/>
      <dgm:t>
        <a:bodyPr/>
        <a:lstStyle/>
        <a:p>
          <a:endParaRPr lang="en-US"/>
        </a:p>
      </dgm:t>
    </dgm:pt>
    <dgm:pt modelId="{58A192B4-8569-42E2-BF9D-00221949F447}" type="sibTrans" cxnId="{7315A469-8E8B-4BBB-8D67-064533EDC44B}">
      <dgm:prSet/>
      <dgm:spPr/>
      <dgm:t>
        <a:bodyPr/>
        <a:lstStyle/>
        <a:p>
          <a:endParaRPr lang="en-US"/>
        </a:p>
      </dgm:t>
    </dgm:pt>
    <dgm:pt modelId="{6A462899-545A-4A46-9E00-018CAC175D03}">
      <dgm:prSet phldrT="[Text]" phldr="0"/>
      <dgm:spPr/>
      <dgm:t>
        <a:bodyPr/>
        <a:lstStyle/>
        <a:p>
          <a:endParaRPr lang="en-US"/>
        </a:p>
      </dgm:t>
    </dgm:pt>
    <dgm:pt modelId="{1387E980-D64C-4BF1-851A-022EA725471F}" type="parTrans" cxnId="{32B730D7-D4B6-4639-97E4-84F4B5E9C092}">
      <dgm:prSet/>
      <dgm:spPr/>
      <dgm:t>
        <a:bodyPr/>
        <a:lstStyle/>
        <a:p>
          <a:endParaRPr lang="en-US"/>
        </a:p>
      </dgm:t>
    </dgm:pt>
    <dgm:pt modelId="{2407570B-CAB0-4D07-8857-CAB4F32A0AD5}" type="sibTrans" cxnId="{32B730D7-D4B6-4639-97E4-84F4B5E9C092}">
      <dgm:prSet/>
      <dgm:spPr/>
      <dgm:t>
        <a:bodyPr/>
        <a:lstStyle/>
        <a:p>
          <a:endParaRPr lang="en-US"/>
        </a:p>
      </dgm:t>
    </dgm:pt>
    <dgm:pt modelId="{D2A8B86A-ACFE-41F4-8619-BDC11C252C03}">
      <dgm:prSet phldrT="[Text]" phldr="0"/>
      <dgm:spPr/>
      <dgm:t>
        <a:bodyPr/>
        <a:lstStyle/>
        <a:p>
          <a:r>
            <a:rPr lang="de-DE"/>
            <a:t>Docker starten </a:t>
          </a:r>
          <a:endParaRPr lang="en-US"/>
        </a:p>
      </dgm:t>
    </dgm:pt>
    <dgm:pt modelId="{6EF10723-D9DE-4A2E-BF95-BA5BFD029E79}" type="parTrans" cxnId="{76B7D248-D8F0-40FA-ADE6-6085F1F841EB}">
      <dgm:prSet/>
      <dgm:spPr/>
      <dgm:t>
        <a:bodyPr/>
        <a:lstStyle/>
        <a:p>
          <a:endParaRPr lang="en-US"/>
        </a:p>
      </dgm:t>
    </dgm:pt>
    <dgm:pt modelId="{F8F6D264-937A-408A-8408-559300A01012}" type="sibTrans" cxnId="{76B7D248-D8F0-40FA-ADE6-6085F1F841EB}">
      <dgm:prSet/>
      <dgm:spPr/>
      <dgm:t>
        <a:bodyPr/>
        <a:lstStyle/>
        <a:p>
          <a:endParaRPr lang="en-US"/>
        </a:p>
      </dgm:t>
    </dgm:pt>
    <dgm:pt modelId="{0D069FAC-CC2F-4431-A3E6-8571683D6E7E}">
      <dgm:prSet phldrT="[Text]" phldr="0"/>
      <dgm:spPr/>
      <dgm:t>
        <a:bodyPr/>
        <a:lstStyle/>
        <a:p>
          <a:endParaRPr lang="en-US"/>
        </a:p>
      </dgm:t>
    </dgm:pt>
    <dgm:pt modelId="{D863DD8C-8140-435A-9827-911B3C31960F}" type="parTrans" cxnId="{02AA4B8D-7E38-4FD3-BDD4-1D89EDA35B37}">
      <dgm:prSet/>
      <dgm:spPr/>
      <dgm:t>
        <a:bodyPr/>
        <a:lstStyle/>
        <a:p>
          <a:endParaRPr lang="en-US"/>
        </a:p>
      </dgm:t>
    </dgm:pt>
    <dgm:pt modelId="{EA4CD958-CDF1-40CA-A5C5-451535786EBD}" type="sibTrans" cxnId="{02AA4B8D-7E38-4FD3-BDD4-1D89EDA35B37}">
      <dgm:prSet/>
      <dgm:spPr/>
      <dgm:t>
        <a:bodyPr/>
        <a:lstStyle/>
        <a:p>
          <a:endParaRPr lang="en-US"/>
        </a:p>
      </dgm:t>
    </dgm:pt>
    <dgm:pt modelId="{ABAAC717-3DAE-45A9-8E53-8FA12842D0F7}">
      <dgm:prSet phldrT="[Text]" phldr="0"/>
      <dgm:spPr/>
      <dgm:t>
        <a:bodyPr/>
        <a:lstStyle/>
        <a:p>
          <a:r>
            <a:rPr lang="de-DE"/>
            <a:t>Erreichbarkeit des </a:t>
          </a:r>
          <a:r>
            <a:rPr lang="de-DE" err="1"/>
            <a:t>Cryptobroker</a:t>
          </a:r>
          <a:r>
            <a:rPr lang="de-DE"/>
            <a:t>  testen</a:t>
          </a:r>
          <a:endParaRPr lang="en-US"/>
        </a:p>
      </dgm:t>
    </dgm:pt>
    <dgm:pt modelId="{FC6B8876-F11D-4A14-80E1-A255BE8FFD6C}" type="parTrans" cxnId="{A1DB3244-2532-4EC6-A0BF-8D10B9DEBB7A}">
      <dgm:prSet/>
      <dgm:spPr/>
      <dgm:t>
        <a:bodyPr/>
        <a:lstStyle/>
        <a:p>
          <a:endParaRPr lang="en-US"/>
        </a:p>
      </dgm:t>
    </dgm:pt>
    <dgm:pt modelId="{B21A6411-C630-4A94-A228-8A36EB5FB6A2}" type="sibTrans" cxnId="{A1DB3244-2532-4EC6-A0BF-8D10B9DEBB7A}">
      <dgm:prSet/>
      <dgm:spPr/>
      <dgm:t>
        <a:bodyPr/>
        <a:lstStyle/>
        <a:p>
          <a:endParaRPr lang="en-US"/>
        </a:p>
      </dgm:t>
    </dgm:pt>
    <dgm:pt modelId="{C0C3655E-C92F-4D9B-922E-0FA12AAEE7A6}">
      <dgm:prSet phldrT="[Text]" phldr="0"/>
      <dgm:spPr/>
      <dgm:t>
        <a:bodyPr/>
        <a:lstStyle/>
        <a:p>
          <a:endParaRPr lang="en-US"/>
        </a:p>
      </dgm:t>
    </dgm:pt>
    <dgm:pt modelId="{FFA1F1C9-CA96-4815-AE2C-6E5C2B5387C2}" type="parTrans" cxnId="{02042BC6-6DD2-4D03-9F67-9FCCCC8B49FD}">
      <dgm:prSet/>
      <dgm:spPr/>
      <dgm:t>
        <a:bodyPr/>
        <a:lstStyle/>
        <a:p>
          <a:endParaRPr lang="en-US"/>
        </a:p>
      </dgm:t>
    </dgm:pt>
    <dgm:pt modelId="{CC5E6918-1FAD-4165-AEEA-65EDEF89376B}" type="sibTrans" cxnId="{02042BC6-6DD2-4D03-9F67-9FCCCC8B49FD}">
      <dgm:prSet/>
      <dgm:spPr/>
      <dgm:t>
        <a:bodyPr/>
        <a:lstStyle/>
        <a:p>
          <a:endParaRPr lang="en-US"/>
        </a:p>
      </dgm:t>
    </dgm:pt>
    <dgm:pt modelId="{9C765AE6-46F1-4959-9ECC-19B041BD82E2}">
      <dgm:prSet phldrT="[Text]" phldr="0"/>
      <dgm:spPr/>
      <dgm:t>
        <a:bodyPr/>
        <a:lstStyle/>
        <a:p>
          <a:r>
            <a:rPr lang="de-DE"/>
            <a:t>Close/Remove Docker Container</a:t>
          </a:r>
          <a:endParaRPr lang="en-US"/>
        </a:p>
      </dgm:t>
    </dgm:pt>
    <dgm:pt modelId="{F59D7B8D-78D4-473B-8407-8792574F66DD}" type="parTrans" cxnId="{DA40BA0B-8CD8-43D9-9315-69271362AF99}">
      <dgm:prSet/>
      <dgm:spPr/>
      <dgm:t>
        <a:bodyPr/>
        <a:lstStyle/>
        <a:p>
          <a:endParaRPr lang="en-US"/>
        </a:p>
      </dgm:t>
    </dgm:pt>
    <dgm:pt modelId="{B0A24EC0-3DB6-48DA-8501-0EB674DE0973}" type="sibTrans" cxnId="{DA40BA0B-8CD8-43D9-9315-69271362AF99}">
      <dgm:prSet/>
      <dgm:spPr/>
      <dgm:t>
        <a:bodyPr/>
        <a:lstStyle/>
        <a:p>
          <a:endParaRPr lang="en-US"/>
        </a:p>
      </dgm:t>
    </dgm:pt>
    <dgm:pt modelId="{E0F2014F-64B9-4D0B-8FE2-187D79C33D6F}" type="pres">
      <dgm:prSet presAssocID="{856441C9-EABF-4BB6-A8F4-D9A87F80BEB7}" presName="linearFlow" presStyleCnt="0">
        <dgm:presLayoutVars>
          <dgm:dir/>
          <dgm:animLvl val="lvl"/>
          <dgm:resizeHandles val="exact"/>
        </dgm:presLayoutVars>
      </dgm:prSet>
      <dgm:spPr/>
    </dgm:pt>
    <dgm:pt modelId="{C2F11AE9-A5B4-405C-AF1D-E1C5EEF93C6C}" type="pres">
      <dgm:prSet presAssocID="{6BBE097D-C172-4153-8866-A19201AC4024}" presName="composite" presStyleCnt="0"/>
      <dgm:spPr/>
    </dgm:pt>
    <dgm:pt modelId="{2DCBE458-ED83-4BCA-AFCF-74179E413F1C}" type="pres">
      <dgm:prSet presAssocID="{6BBE097D-C172-4153-8866-A19201AC4024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FBB0E5B8-4AC2-41F2-8107-2A96A03888D7}" type="pres">
      <dgm:prSet presAssocID="{6BBE097D-C172-4153-8866-A19201AC4024}" presName="descendantText" presStyleLbl="alignAcc1" presStyleIdx="0" presStyleCnt="8">
        <dgm:presLayoutVars>
          <dgm:bulletEnabled val="1"/>
        </dgm:presLayoutVars>
      </dgm:prSet>
      <dgm:spPr/>
    </dgm:pt>
    <dgm:pt modelId="{AB3E7F77-3B6B-4A8C-8932-4BA31521F441}" type="pres">
      <dgm:prSet presAssocID="{B72E9D03-7FDB-4E9D-A61B-09E7514C5070}" presName="sp" presStyleCnt="0"/>
      <dgm:spPr/>
    </dgm:pt>
    <dgm:pt modelId="{4B3D807E-E712-4CB0-A4A9-42482D652A74}" type="pres">
      <dgm:prSet presAssocID="{6CB2EBC9-20F7-40A0-A0C1-D3B57AF5BE76}" presName="composite" presStyleCnt="0"/>
      <dgm:spPr/>
    </dgm:pt>
    <dgm:pt modelId="{7FFE25EF-AEB9-4207-BC64-9EF0D3AC8F45}" type="pres">
      <dgm:prSet presAssocID="{6CB2EBC9-20F7-40A0-A0C1-D3B57AF5BE76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04FF591E-CBFF-43DC-9F5B-510AB5DFA7CB}" type="pres">
      <dgm:prSet presAssocID="{6CB2EBC9-20F7-40A0-A0C1-D3B57AF5BE76}" presName="descendantText" presStyleLbl="alignAcc1" presStyleIdx="1" presStyleCnt="8">
        <dgm:presLayoutVars>
          <dgm:bulletEnabled val="1"/>
        </dgm:presLayoutVars>
      </dgm:prSet>
      <dgm:spPr/>
    </dgm:pt>
    <dgm:pt modelId="{E4CEE7F5-CAE9-4B18-AD63-EEC7699ABC24}" type="pres">
      <dgm:prSet presAssocID="{A60CC96D-07D0-442A-A8CE-1CF0247719BD}" presName="sp" presStyleCnt="0"/>
      <dgm:spPr/>
    </dgm:pt>
    <dgm:pt modelId="{1434AE91-F683-47F8-A00B-AD1C1F41FF16}" type="pres">
      <dgm:prSet presAssocID="{772498C9-FD4F-4540-8CC7-7C6BAF3269BD}" presName="composite" presStyleCnt="0"/>
      <dgm:spPr/>
    </dgm:pt>
    <dgm:pt modelId="{6086F85B-73CC-4C52-A9DF-336928303CD2}" type="pres">
      <dgm:prSet presAssocID="{772498C9-FD4F-4540-8CC7-7C6BAF3269BD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01C833FA-8760-4006-9493-B8EED5801106}" type="pres">
      <dgm:prSet presAssocID="{772498C9-FD4F-4540-8CC7-7C6BAF3269BD}" presName="descendantText" presStyleLbl="alignAcc1" presStyleIdx="2" presStyleCnt="8">
        <dgm:presLayoutVars>
          <dgm:bulletEnabled val="1"/>
        </dgm:presLayoutVars>
      </dgm:prSet>
      <dgm:spPr/>
    </dgm:pt>
    <dgm:pt modelId="{4CBE4769-B58A-4F5F-B5BE-0DE9A0A0EC43}" type="pres">
      <dgm:prSet presAssocID="{50F94CEB-53FB-42B3-8CEF-10B2597C73F0}" presName="sp" presStyleCnt="0"/>
      <dgm:spPr/>
    </dgm:pt>
    <dgm:pt modelId="{56B13084-4F16-45D5-A89F-5C42D4AB92A7}" type="pres">
      <dgm:prSet presAssocID="{FCD2FB7C-3B23-4DC5-A09E-4A96765CC5D9}" presName="composite" presStyleCnt="0"/>
      <dgm:spPr/>
    </dgm:pt>
    <dgm:pt modelId="{D3C4B8EB-2C56-4C6B-AA73-A9939AA919C7}" type="pres">
      <dgm:prSet presAssocID="{FCD2FB7C-3B23-4DC5-A09E-4A96765CC5D9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B6C53C1E-67F9-441E-AC71-C4753E273FC2}" type="pres">
      <dgm:prSet presAssocID="{FCD2FB7C-3B23-4DC5-A09E-4A96765CC5D9}" presName="descendantText" presStyleLbl="alignAcc1" presStyleIdx="3" presStyleCnt="8">
        <dgm:presLayoutVars>
          <dgm:bulletEnabled val="1"/>
        </dgm:presLayoutVars>
      </dgm:prSet>
      <dgm:spPr/>
    </dgm:pt>
    <dgm:pt modelId="{616FFA85-1CB7-4F79-A2D2-9377B47519CC}" type="pres">
      <dgm:prSet presAssocID="{A24B5A41-72D9-4F85-859D-8BF24A245751}" presName="sp" presStyleCnt="0"/>
      <dgm:spPr/>
    </dgm:pt>
    <dgm:pt modelId="{020ED7CC-03AC-4731-AF36-81E2978AF58F}" type="pres">
      <dgm:prSet presAssocID="{F82FC78E-45FB-423B-AAE0-1B084A55B24C}" presName="composite" presStyleCnt="0"/>
      <dgm:spPr/>
    </dgm:pt>
    <dgm:pt modelId="{C789875D-C4F3-430C-B0C4-77FF6A05F69C}" type="pres">
      <dgm:prSet presAssocID="{F82FC78E-45FB-423B-AAE0-1B084A55B24C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6D76E112-9046-4DBD-BF88-8B6D010D3E06}" type="pres">
      <dgm:prSet presAssocID="{F82FC78E-45FB-423B-AAE0-1B084A55B24C}" presName="descendantText" presStyleLbl="alignAcc1" presStyleIdx="4" presStyleCnt="8">
        <dgm:presLayoutVars>
          <dgm:bulletEnabled val="1"/>
        </dgm:presLayoutVars>
      </dgm:prSet>
      <dgm:spPr/>
    </dgm:pt>
    <dgm:pt modelId="{716C7257-C95B-46E6-A741-F20CC3826D1F}" type="pres">
      <dgm:prSet presAssocID="{AB418D8A-A791-47B9-BDA7-533F84D8A030}" presName="sp" presStyleCnt="0"/>
      <dgm:spPr/>
    </dgm:pt>
    <dgm:pt modelId="{3F3132F0-4AF3-40E7-A7E7-DACEB8075E40}" type="pres">
      <dgm:prSet presAssocID="{6A462899-545A-4A46-9E00-018CAC175D03}" presName="composite" presStyleCnt="0"/>
      <dgm:spPr/>
    </dgm:pt>
    <dgm:pt modelId="{40EE9EA5-D9C2-4389-A911-6DCB627B832E}" type="pres">
      <dgm:prSet presAssocID="{6A462899-545A-4A46-9E00-018CAC175D03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02F4089E-D5C3-4B79-99A1-4842E3A4EA9F}" type="pres">
      <dgm:prSet presAssocID="{6A462899-545A-4A46-9E00-018CAC175D03}" presName="descendantText" presStyleLbl="alignAcc1" presStyleIdx="5" presStyleCnt="8">
        <dgm:presLayoutVars>
          <dgm:bulletEnabled val="1"/>
        </dgm:presLayoutVars>
      </dgm:prSet>
      <dgm:spPr/>
    </dgm:pt>
    <dgm:pt modelId="{CF75D632-3F22-4FAF-A5D0-EC73A1DE3F34}" type="pres">
      <dgm:prSet presAssocID="{2407570B-CAB0-4D07-8857-CAB4F32A0AD5}" presName="sp" presStyleCnt="0"/>
      <dgm:spPr/>
    </dgm:pt>
    <dgm:pt modelId="{DEB6FCBD-A3ED-41F4-8B31-087EDAC94EB7}" type="pres">
      <dgm:prSet presAssocID="{0D069FAC-CC2F-4431-A3E6-8571683D6E7E}" presName="composite" presStyleCnt="0"/>
      <dgm:spPr/>
    </dgm:pt>
    <dgm:pt modelId="{8BF953CF-6E27-4E02-BD7A-394A12388C88}" type="pres">
      <dgm:prSet presAssocID="{0D069FAC-CC2F-4431-A3E6-8571683D6E7E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A780B866-BAA5-469C-9920-0424F54BFFC3}" type="pres">
      <dgm:prSet presAssocID="{0D069FAC-CC2F-4431-A3E6-8571683D6E7E}" presName="descendantText" presStyleLbl="alignAcc1" presStyleIdx="6" presStyleCnt="8">
        <dgm:presLayoutVars>
          <dgm:bulletEnabled val="1"/>
        </dgm:presLayoutVars>
      </dgm:prSet>
      <dgm:spPr/>
    </dgm:pt>
    <dgm:pt modelId="{C7A8F2A0-9702-4CCD-9E62-55EE669D9D10}" type="pres">
      <dgm:prSet presAssocID="{EA4CD958-CDF1-40CA-A5C5-451535786EBD}" presName="sp" presStyleCnt="0"/>
      <dgm:spPr/>
    </dgm:pt>
    <dgm:pt modelId="{05B07101-3951-410D-B7BB-A99A97210F6D}" type="pres">
      <dgm:prSet presAssocID="{C0C3655E-C92F-4D9B-922E-0FA12AAEE7A6}" presName="composite" presStyleCnt="0"/>
      <dgm:spPr/>
    </dgm:pt>
    <dgm:pt modelId="{1D538BD5-29A0-4D1D-9080-2A292C7BEF1F}" type="pres">
      <dgm:prSet presAssocID="{C0C3655E-C92F-4D9B-922E-0FA12AAEE7A6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8D5FA66A-6F7E-4B93-8FB3-02A27E74BFD3}" type="pres">
      <dgm:prSet presAssocID="{C0C3655E-C92F-4D9B-922E-0FA12AAEE7A6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DA40BA0B-8CD8-43D9-9315-69271362AF99}" srcId="{C0C3655E-C92F-4D9B-922E-0FA12AAEE7A6}" destId="{9C765AE6-46F1-4959-9ECC-19B041BD82E2}" srcOrd="0" destOrd="0" parTransId="{F59D7B8D-78D4-473B-8407-8792574F66DD}" sibTransId="{B0A24EC0-3DB6-48DA-8501-0EB674DE0973}"/>
    <dgm:cxn modelId="{EFFF0218-5C67-4704-84C6-56966E789950}" type="presOf" srcId="{D2A8B86A-ACFE-41F4-8619-BDC11C252C03}" destId="{02F4089E-D5C3-4B79-99A1-4842E3A4EA9F}" srcOrd="0" destOrd="0" presId="urn:microsoft.com/office/officeart/2005/8/layout/chevron2"/>
    <dgm:cxn modelId="{FF35161E-726A-4A47-B9F0-95F2F1E67A43}" type="presOf" srcId="{FCD2FB7C-3B23-4DC5-A09E-4A96765CC5D9}" destId="{D3C4B8EB-2C56-4C6B-AA73-A9939AA919C7}" srcOrd="0" destOrd="0" presId="urn:microsoft.com/office/officeart/2005/8/layout/chevron2"/>
    <dgm:cxn modelId="{31873120-2B37-48CD-9262-8ABA0B38C8B2}" type="presOf" srcId="{7C6508A1-222D-4FA7-A744-69ADBAEB19D9}" destId="{6D76E112-9046-4DBD-BF88-8B6D010D3E06}" srcOrd="0" destOrd="0" presId="urn:microsoft.com/office/officeart/2005/8/layout/chevron2"/>
    <dgm:cxn modelId="{5C48132E-CA1B-40A0-BAD9-7ABC33EF7921}" srcId="{856441C9-EABF-4BB6-A8F4-D9A87F80BEB7}" destId="{FCD2FB7C-3B23-4DC5-A09E-4A96765CC5D9}" srcOrd="3" destOrd="0" parTransId="{3F737E67-1FD4-4704-A157-B97205FDB036}" sibTransId="{A24B5A41-72D9-4F85-859D-8BF24A245751}"/>
    <dgm:cxn modelId="{B8D70035-82C2-4C79-96FC-D0FC38A24A8B}" type="presOf" srcId="{6BBE097D-C172-4153-8866-A19201AC4024}" destId="{2DCBE458-ED83-4BCA-AFCF-74179E413F1C}" srcOrd="0" destOrd="0" presId="urn:microsoft.com/office/officeart/2005/8/layout/chevron2"/>
    <dgm:cxn modelId="{3C608440-B8E3-407D-B769-EC6D23CE8F8E}" srcId="{856441C9-EABF-4BB6-A8F4-D9A87F80BEB7}" destId="{6BBE097D-C172-4153-8866-A19201AC4024}" srcOrd="0" destOrd="0" parTransId="{BE721E1C-C6C8-4BE0-9AEF-680C8A2DD2CB}" sibTransId="{B72E9D03-7FDB-4E9D-A61B-09E7514C5070}"/>
    <dgm:cxn modelId="{A1DB3244-2532-4EC6-A0BF-8D10B9DEBB7A}" srcId="{0D069FAC-CC2F-4431-A3E6-8571683D6E7E}" destId="{ABAAC717-3DAE-45A9-8E53-8FA12842D0F7}" srcOrd="0" destOrd="0" parTransId="{FC6B8876-F11D-4A14-80E1-A255BE8FFD6C}" sibTransId="{B21A6411-C630-4A94-A228-8A36EB5FB6A2}"/>
    <dgm:cxn modelId="{76B7D248-D8F0-40FA-ADE6-6085F1F841EB}" srcId="{6A462899-545A-4A46-9E00-018CAC175D03}" destId="{D2A8B86A-ACFE-41F4-8619-BDC11C252C03}" srcOrd="0" destOrd="0" parTransId="{6EF10723-D9DE-4A2E-BF95-BA5BFD029E79}" sibTransId="{F8F6D264-937A-408A-8408-559300A01012}"/>
    <dgm:cxn modelId="{44A70149-6E2C-4967-9FAF-1543A62FDC7A}" srcId="{856441C9-EABF-4BB6-A8F4-D9A87F80BEB7}" destId="{772498C9-FD4F-4540-8CC7-7C6BAF3269BD}" srcOrd="2" destOrd="0" parTransId="{BADC46FD-19F2-4042-BE7B-1051015C61F8}" sibTransId="{50F94CEB-53FB-42B3-8CEF-10B2597C73F0}"/>
    <dgm:cxn modelId="{E5EED452-A5E9-47D3-ABBD-9D6FAF92DABC}" srcId="{6BBE097D-C172-4153-8866-A19201AC4024}" destId="{E43D5178-FD6F-45B9-8F45-CB1BFF25BFF0}" srcOrd="0" destOrd="0" parTransId="{58638BE5-A869-4477-B2D4-CEC16E0C6344}" sibTransId="{55B4D418-CE4C-46EC-BB84-DBB1451E0B13}"/>
    <dgm:cxn modelId="{35A75157-D745-4B03-B67A-5B30647F765F}" srcId="{856441C9-EABF-4BB6-A8F4-D9A87F80BEB7}" destId="{F82FC78E-45FB-423B-AAE0-1B084A55B24C}" srcOrd="4" destOrd="0" parTransId="{58ACFD99-5721-4645-8FB2-50319866863A}" sibTransId="{AB418D8A-A791-47B9-BDA7-533F84D8A030}"/>
    <dgm:cxn modelId="{CCD8F358-C6DB-48AE-8C88-03C594B121FB}" type="presOf" srcId="{ABAAC717-3DAE-45A9-8E53-8FA12842D0F7}" destId="{A780B866-BAA5-469C-9920-0424F54BFFC3}" srcOrd="0" destOrd="0" presId="urn:microsoft.com/office/officeart/2005/8/layout/chevron2"/>
    <dgm:cxn modelId="{98CD4163-6623-4F05-9D71-D796540D395B}" type="presOf" srcId="{6CB2EBC9-20F7-40A0-A0C1-D3B57AF5BE76}" destId="{7FFE25EF-AEB9-4207-BC64-9EF0D3AC8F45}" srcOrd="0" destOrd="0" presId="urn:microsoft.com/office/officeart/2005/8/layout/chevron2"/>
    <dgm:cxn modelId="{7315A469-8E8B-4BBB-8D67-064533EDC44B}" srcId="{F82FC78E-45FB-423B-AAE0-1B084A55B24C}" destId="{7C6508A1-222D-4FA7-A744-69ADBAEB19D9}" srcOrd="0" destOrd="0" parTransId="{56520B3B-F565-4782-A5CA-962AE044D397}" sibTransId="{58A192B4-8569-42E2-BF9D-00221949F447}"/>
    <dgm:cxn modelId="{A0920378-CCAA-4DE0-ADE2-4FF5D5B27ECE}" type="presOf" srcId="{0D069FAC-CC2F-4431-A3E6-8571683D6E7E}" destId="{8BF953CF-6E27-4E02-BD7A-394A12388C88}" srcOrd="0" destOrd="0" presId="urn:microsoft.com/office/officeart/2005/8/layout/chevron2"/>
    <dgm:cxn modelId="{79FCBB7C-E487-490B-9C81-6ADC82F261ED}" srcId="{856441C9-EABF-4BB6-A8F4-D9A87F80BEB7}" destId="{6CB2EBC9-20F7-40A0-A0C1-D3B57AF5BE76}" srcOrd="1" destOrd="0" parTransId="{26604743-0A4E-42A0-80E1-2252BEA5301F}" sibTransId="{A60CC96D-07D0-442A-A8CE-1CF0247719BD}"/>
    <dgm:cxn modelId="{FF91D988-4BAE-4077-B373-2D15EF5C862E}" type="presOf" srcId="{5A5EAC11-66DD-49A9-9592-40015D04E00A}" destId="{01C833FA-8760-4006-9493-B8EED5801106}" srcOrd="0" destOrd="0" presId="urn:microsoft.com/office/officeart/2005/8/layout/chevron2"/>
    <dgm:cxn modelId="{02AA4B8D-7E38-4FD3-BDD4-1D89EDA35B37}" srcId="{856441C9-EABF-4BB6-A8F4-D9A87F80BEB7}" destId="{0D069FAC-CC2F-4431-A3E6-8571683D6E7E}" srcOrd="6" destOrd="0" parTransId="{D863DD8C-8140-435A-9827-911B3C31960F}" sibTransId="{EA4CD958-CDF1-40CA-A5C5-451535786EBD}"/>
    <dgm:cxn modelId="{46C4B28D-B519-4FE8-8CD5-C118BFFCE504}" type="presOf" srcId="{484D471E-B5B4-4F3E-8140-A05BBF8C1E35}" destId="{B6C53C1E-67F9-441E-AC71-C4753E273FC2}" srcOrd="0" destOrd="0" presId="urn:microsoft.com/office/officeart/2005/8/layout/chevron2"/>
    <dgm:cxn modelId="{9D42099C-D5A8-4928-B26A-B476EBDB67D4}" srcId="{6CB2EBC9-20F7-40A0-A0C1-D3B57AF5BE76}" destId="{22EDC8D2-6A38-4F79-95C7-E9C661F19F26}" srcOrd="0" destOrd="0" parTransId="{39E0886E-901C-4301-BA2C-F1C4D5FF3342}" sibTransId="{FDE65CFA-024A-43C0-A22C-4E1D92572EBF}"/>
    <dgm:cxn modelId="{C145F4B6-D0AB-416A-A481-012318F5EA07}" type="presOf" srcId="{C0C3655E-C92F-4D9B-922E-0FA12AAEE7A6}" destId="{1D538BD5-29A0-4D1D-9080-2A292C7BEF1F}" srcOrd="0" destOrd="0" presId="urn:microsoft.com/office/officeart/2005/8/layout/chevron2"/>
    <dgm:cxn modelId="{02042BC6-6DD2-4D03-9F67-9FCCCC8B49FD}" srcId="{856441C9-EABF-4BB6-A8F4-D9A87F80BEB7}" destId="{C0C3655E-C92F-4D9B-922E-0FA12AAEE7A6}" srcOrd="7" destOrd="0" parTransId="{FFA1F1C9-CA96-4815-AE2C-6E5C2B5387C2}" sibTransId="{CC5E6918-1FAD-4165-AEEA-65EDEF89376B}"/>
    <dgm:cxn modelId="{7F92B4D1-2D04-477D-A251-50B9DBC148CD}" type="presOf" srcId="{9C765AE6-46F1-4959-9ECC-19B041BD82E2}" destId="{8D5FA66A-6F7E-4B93-8FB3-02A27E74BFD3}" srcOrd="0" destOrd="0" presId="urn:microsoft.com/office/officeart/2005/8/layout/chevron2"/>
    <dgm:cxn modelId="{C7C636D2-607E-400D-9177-88B1F63DD4A7}" type="presOf" srcId="{E43D5178-FD6F-45B9-8F45-CB1BFF25BFF0}" destId="{FBB0E5B8-4AC2-41F2-8107-2A96A03888D7}" srcOrd="0" destOrd="0" presId="urn:microsoft.com/office/officeart/2005/8/layout/chevron2"/>
    <dgm:cxn modelId="{9790E8D3-08D7-497E-9EB4-702B4D57D417}" type="presOf" srcId="{22EDC8D2-6A38-4F79-95C7-E9C661F19F26}" destId="{04FF591E-CBFF-43DC-9F5B-510AB5DFA7CB}" srcOrd="0" destOrd="0" presId="urn:microsoft.com/office/officeart/2005/8/layout/chevron2"/>
    <dgm:cxn modelId="{8A04FBD5-9ED2-4B6A-A0D0-52536EB88840}" type="presOf" srcId="{856441C9-EABF-4BB6-A8F4-D9A87F80BEB7}" destId="{E0F2014F-64B9-4D0B-8FE2-187D79C33D6F}" srcOrd="0" destOrd="0" presId="urn:microsoft.com/office/officeart/2005/8/layout/chevron2"/>
    <dgm:cxn modelId="{32B730D7-D4B6-4639-97E4-84F4B5E9C092}" srcId="{856441C9-EABF-4BB6-A8F4-D9A87F80BEB7}" destId="{6A462899-545A-4A46-9E00-018CAC175D03}" srcOrd="5" destOrd="0" parTransId="{1387E980-D64C-4BF1-851A-022EA725471F}" sibTransId="{2407570B-CAB0-4D07-8857-CAB4F32A0AD5}"/>
    <dgm:cxn modelId="{C99443E1-2F94-4440-8B51-AE41DA3214AF}" type="presOf" srcId="{772498C9-FD4F-4540-8CC7-7C6BAF3269BD}" destId="{6086F85B-73CC-4C52-A9DF-336928303CD2}" srcOrd="0" destOrd="0" presId="urn:microsoft.com/office/officeart/2005/8/layout/chevron2"/>
    <dgm:cxn modelId="{8DBCB7E2-36E3-4A7D-9C91-D52D03A71609}" srcId="{772498C9-FD4F-4540-8CC7-7C6BAF3269BD}" destId="{5A5EAC11-66DD-49A9-9592-40015D04E00A}" srcOrd="0" destOrd="0" parTransId="{F84C13C3-6887-4AFA-A39A-F37F69184330}" sibTransId="{DBE9B44C-687C-4557-BA7A-A44CA7C358D6}"/>
    <dgm:cxn modelId="{0743B0E8-88C2-4182-A173-5736038FAA35}" type="presOf" srcId="{6A462899-545A-4A46-9E00-018CAC175D03}" destId="{40EE9EA5-D9C2-4389-A911-6DCB627B832E}" srcOrd="0" destOrd="0" presId="urn:microsoft.com/office/officeart/2005/8/layout/chevron2"/>
    <dgm:cxn modelId="{906610F1-A197-4022-9554-D1A6D87684A0}" srcId="{FCD2FB7C-3B23-4DC5-A09E-4A96765CC5D9}" destId="{484D471E-B5B4-4F3E-8140-A05BBF8C1E35}" srcOrd="0" destOrd="0" parTransId="{1FEB9361-3D87-462D-A169-59DCE75BB545}" sibTransId="{29B42252-D888-4310-B95F-6A82A7B6EDC2}"/>
    <dgm:cxn modelId="{5B2EBCF9-8E9C-4550-8C1A-47AC192647D4}" type="presOf" srcId="{F82FC78E-45FB-423B-AAE0-1B084A55B24C}" destId="{C789875D-C4F3-430C-B0C4-77FF6A05F69C}" srcOrd="0" destOrd="0" presId="urn:microsoft.com/office/officeart/2005/8/layout/chevron2"/>
    <dgm:cxn modelId="{167FCF84-1E13-4F3B-83F0-9FDECEB1F5E9}" type="presParOf" srcId="{E0F2014F-64B9-4D0B-8FE2-187D79C33D6F}" destId="{C2F11AE9-A5B4-405C-AF1D-E1C5EEF93C6C}" srcOrd="0" destOrd="0" presId="urn:microsoft.com/office/officeart/2005/8/layout/chevron2"/>
    <dgm:cxn modelId="{D4C6FBD8-09B2-4904-B240-AB81E4861FB1}" type="presParOf" srcId="{C2F11AE9-A5B4-405C-AF1D-E1C5EEF93C6C}" destId="{2DCBE458-ED83-4BCA-AFCF-74179E413F1C}" srcOrd="0" destOrd="0" presId="urn:microsoft.com/office/officeart/2005/8/layout/chevron2"/>
    <dgm:cxn modelId="{29B4D19C-0DB8-4387-9D98-060BBCFA3658}" type="presParOf" srcId="{C2F11AE9-A5B4-405C-AF1D-E1C5EEF93C6C}" destId="{FBB0E5B8-4AC2-41F2-8107-2A96A03888D7}" srcOrd="1" destOrd="0" presId="urn:microsoft.com/office/officeart/2005/8/layout/chevron2"/>
    <dgm:cxn modelId="{36A12C2F-0140-401C-9A3A-2ABCFE2AADAD}" type="presParOf" srcId="{E0F2014F-64B9-4D0B-8FE2-187D79C33D6F}" destId="{AB3E7F77-3B6B-4A8C-8932-4BA31521F441}" srcOrd="1" destOrd="0" presId="urn:microsoft.com/office/officeart/2005/8/layout/chevron2"/>
    <dgm:cxn modelId="{143771F0-F605-41BA-B358-282B6A8A2FD4}" type="presParOf" srcId="{E0F2014F-64B9-4D0B-8FE2-187D79C33D6F}" destId="{4B3D807E-E712-4CB0-A4A9-42482D652A74}" srcOrd="2" destOrd="0" presId="urn:microsoft.com/office/officeart/2005/8/layout/chevron2"/>
    <dgm:cxn modelId="{63CCD91D-89BC-4DB3-B128-747E8397F2AE}" type="presParOf" srcId="{4B3D807E-E712-4CB0-A4A9-42482D652A74}" destId="{7FFE25EF-AEB9-4207-BC64-9EF0D3AC8F45}" srcOrd="0" destOrd="0" presId="urn:microsoft.com/office/officeart/2005/8/layout/chevron2"/>
    <dgm:cxn modelId="{E4C83296-2144-47BF-BA3B-95D60CF49031}" type="presParOf" srcId="{4B3D807E-E712-4CB0-A4A9-42482D652A74}" destId="{04FF591E-CBFF-43DC-9F5B-510AB5DFA7CB}" srcOrd="1" destOrd="0" presId="urn:microsoft.com/office/officeart/2005/8/layout/chevron2"/>
    <dgm:cxn modelId="{A71EEAF8-5615-474E-B68C-230FBBCC4625}" type="presParOf" srcId="{E0F2014F-64B9-4D0B-8FE2-187D79C33D6F}" destId="{E4CEE7F5-CAE9-4B18-AD63-EEC7699ABC24}" srcOrd="3" destOrd="0" presId="urn:microsoft.com/office/officeart/2005/8/layout/chevron2"/>
    <dgm:cxn modelId="{EA983959-ACD7-4E56-86C7-6F0D8CC8368E}" type="presParOf" srcId="{E0F2014F-64B9-4D0B-8FE2-187D79C33D6F}" destId="{1434AE91-F683-47F8-A00B-AD1C1F41FF16}" srcOrd="4" destOrd="0" presId="urn:microsoft.com/office/officeart/2005/8/layout/chevron2"/>
    <dgm:cxn modelId="{94D8A03E-9579-4CD3-8684-F06A10F4735D}" type="presParOf" srcId="{1434AE91-F683-47F8-A00B-AD1C1F41FF16}" destId="{6086F85B-73CC-4C52-A9DF-336928303CD2}" srcOrd="0" destOrd="0" presId="urn:microsoft.com/office/officeart/2005/8/layout/chevron2"/>
    <dgm:cxn modelId="{505BAD55-31C8-45DC-B9BB-46F5109F814B}" type="presParOf" srcId="{1434AE91-F683-47F8-A00B-AD1C1F41FF16}" destId="{01C833FA-8760-4006-9493-B8EED5801106}" srcOrd="1" destOrd="0" presId="urn:microsoft.com/office/officeart/2005/8/layout/chevron2"/>
    <dgm:cxn modelId="{393F2D0A-2DED-4A76-9979-23F9E35705F3}" type="presParOf" srcId="{E0F2014F-64B9-4D0B-8FE2-187D79C33D6F}" destId="{4CBE4769-B58A-4F5F-B5BE-0DE9A0A0EC43}" srcOrd="5" destOrd="0" presId="urn:microsoft.com/office/officeart/2005/8/layout/chevron2"/>
    <dgm:cxn modelId="{46257BAB-397F-436A-8F69-738B2340C8F5}" type="presParOf" srcId="{E0F2014F-64B9-4D0B-8FE2-187D79C33D6F}" destId="{56B13084-4F16-45D5-A89F-5C42D4AB92A7}" srcOrd="6" destOrd="0" presId="urn:microsoft.com/office/officeart/2005/8/layout/chevron2"/>
    <dgm:cxn modelId="{23BA5728-DA8C-435D-B5FA-8D7623ABE5CA}" type="presParOf" srcId="{56B13084-4F16-45D5-A89F-5C42D4AB92A7}" destId="{D3C4B8EB-2C56-4C6B-AA73-A9939AA919C7}" srcOrd="0" destOrd="0" presId="urn:microsoft.com/office/officeart/2005/8/layout/chevron2"/>
    <dgm:cxn modelId="{D1F21A55-A0F0-4428-961A-5ED43E25BA0A}" type="presParOf" srcId="{56B13084-4F16-45D5-A89F-5C42D4AB92A7}" destId="{B6C53C1E-67F9-441E-AC71-C4753E273FC2}" srcOrd="1" destOrd="0" presId="urn:microsoft.com/office/officeart/2005/8/layout/chevron2"/>
    <dgm:cxn modelId="{93EF671D-E9AD-4E51-96CA-92A7D41D194F}" type="presParOf" srcId="{E0F2014F-64B9-4D0B-8FE2-187D79C33D6F}" destId="{616FFA85-1CB7-4F79-A2D2-9377B47519CC}" srcOrd="7" destOrd="0" presId="urn:microsoft.com/office/officeart/2005/8/layout/chevron2"/>
    <dgm:cxn modelId="{A416E96D-1E41-4CA7-BC51-645876E6ECA8}" type="presParOf" srcId="{E0F2014F-64B9-4D0B-8FE2-187D79C33D6F}" destId="{020ED7CC-03AC-4731-AF36-81E2978AF58F}" srcOrd="8" destOrd="0" presId="urn:microsoft.com/office/officeart/2005/8/layout/chevron2"/>
    <dgm:cxn modelId="{E8E1770E-3252-4DD2-916A-474501CA87A8}" type="presParOf" srcId="{020ED7CC-03AC-4731-AF36-81E2978AF58F}" destId="{C789875D-C4F3-430C-B0C4-77FF6A05F69C}" srcOrd="0" destOrd="0" presId="urn:microsoft.com/office/officeart/2005/8/layout/chevron2"/>
    <dgm:cxn modelId="{3F054FBE-2CBB-499A-A429-3EEF9F9856A9}" type="presParOf" srcId="{020ED7CC-03AC-4731-AF36-81E2978AF58F}" destId="{6D76E112-9046-4DBD-BF88-8B6D010D3E06}" srcOrd="1" destOrd="0" presId="urn:microsoft.com/office/officeart/2005/8/layout/chevron2"/>
    <dgm:cxn modelId="{D386056C-2101-4266-8105-CF06033953E2}" type="presParOf" srcId="{E0F2014F-64B9-4D0B-8FE2-187D79C33D6F}" destId="{716C7257-C95B-46E6-A741-F20CC3826D1F}" srcOrd="9" destOrd="0" presId="urn:microsoft.com/office/officeart/2005/8/layout/chevron2"/>
    <dgm:cxn modelId="{0FCB4108-9F88-44EF-B7DD-C2AE0946808C}" type="presParOf" srcId="{E0F2014F-64B9-4D0B-8FE2-187D79C33D6F}" destId="{3F3132F0-4AF3-40E7-A7E7-DACEB8075E40}" srcOrd="10" destOrd="0" presId="urn:microsoft.com/office/officeart/2005/8/layout/chevron2"/>
    <dgm:cxn modelId="{96C7E67D-00CC-4B61-87F5-1EEFC088A017}" type="presParOf" srcId="{3F3132F0-4AF3-40E7-A7E7-DACEB8075E40}" destId="{40EE9EA5-D9C2-4389-A911-6DCB627B832E}" srcOrd="0" destOrd="0" presId="urn:microsoft.com/office/officeart/2005/8/layout/chevron2"/>
    <dgm:cxn modelId="{BD658B51-317C-45BC-A4FD-B4DAD28FA953}" type="presParOf" srcId="{3F3132F0-4AF3-40E7-A7E7-DACEB8075E40}" destId="{02F4089E-D5C3-4B79-99A1-4842E3A4EA9F}" srcOrd="1" destOrd="0" presId="urn:microsoft.com/office/officeart/2005/8/layout/chevron2"/>
    <dgm:cxn modelId="{663F693E-C89D-47B4-BA6D-12D46167763B}" type="presParOf" srcId="{E0F2014F-64B9-4D0B-8FE2-187D79C33D6F}" destId="{CF75D632-3F22-4FAF-A5D0-EC73A1DE3F34}" srcOrd="11" destOrd="0" presId="urn:microsoft.com/office/officeart/2005/8/layout/chevron2"/>
    <dgm:cxn modelId="{2A3B2C2F-3CFF-46B5-835D-1DC9B0017F62}" type="presParOf" srcId="{E0F2014F-64B9-4D0B-8FE2-187D79C33D6F}" destId="{DEB6FCBD-A3ED-41F4-8B31-087EDAC94EB7}" srcOrd="12" destOrd="0" presId="urn:microsoft.com/office/officeart/2005/8/layout/chevron2"/>
    <dgm:cxn modelId="{31C0075D-50F0-4DE0-A3BC-5BF5A0A1DDBD}" type="presParOf" srcId="{DEB6FCBD-A3ED-41F4-8B31-087EDAC94EB7}" destId="{8BF953CF-6E27-4E02-BD7A-394A12388C88}" srcOrd="0" destOrd="0" presId="urn:microsoft.com/office/officeart/2005/8/layout/chevron2"/>
    <dgm:cxn modelId="{34F8BB5E-6643-4306-A795-BDAC026A3E09}" type="presParOf" srcId="{DEB6FCBD-A3ED-41F4-8B31-087EDAC94EB7}" destId="{A780B866-BAA5-469C-9920-0424F54BFFC3}" srcOrd="1" destOrd="0" presId="urn:microsoft.com/office/officeart/2005/8/layout/chevron2"/>
    <dgm:cxn modelId="{95B6DB91-3489-453E-BB73-6039A7EDA56F}" type="presParOf" srcId="{E0F2014F-64B9-4D0B-8FE2-187D79C33D6F}" destId="{C7A8F2A0-9702-4CCD-9E62-55EE669D9D10}" srcOrd="13" destOrd="0" presId="urn:microsoft.com/office/officeart/2005/8/layout/chevron2"/>
    <dgm:cxn modelId="{00FE2DFF-6F1E-4C9B-9BE3-655B14BBC09C}" type="presParOf" srcId="{E0F2014F-64B9-4D0B-8FE2-187D79C33D6F}" destId="{05B07101-3951-410D-B7BB-A99A97210F6D}" srcOrd="14" destOrd="0" presId="urn:microsoft.com/office/officeart/2005/8/layout/chevron2"/>
    <dgm:cxn modelId="{CF130867-8847-4985-8D15-F133FF87BA08}" type="presParOf" srcId="{05B07101-3951-410D-B7BB-A99A97210F6D}" destId="{1D538BD5-29A0-4D1D-9080-2A292C7BEF1F}" srcOrd="0" destOrd="0" presId="urn:microsoft.com/office/officeart/2005/8/layout/chevron2"/>
    <dgm:cxn modelId="{0F0725DE-B127-49B3-BA7D-03017676977D}" type="presParOf" srcId="{05B07101-3951-410D-B7BB-A99A97210F6D}" destId="{8D5FA66A-6F7E-4B93-8FB3-02A27E74BFD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BE458-ED83-4BCA-AFCF-74179E413F1C}">
      <dsp:nvSpPr>
        <dsp:cNvPr id="0" name=""/>
        <dsp:cNvSpPr/>
      </dsp:nvSpPr>
      <dsp:spPr>
        <a:xfrm rot="5400000">
          <a:off x="-91307" y="94379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216123"/>
        <a:ext cx="426103" cy="182616"/>
      </dsp:txXfrm>
    </dsp:sp>
    <dsp:sp modelId="{FBB0E5B8-4AC2-41F2-8107-2A96A03888D7}">
      <dsp:nvSpPr>
        <dsp:cNvPr id="0" name=""/>
        <dsp:cNvSpPr/>
      </dsp:nvSpPr>
      <dsp:spPr>
        <a:xfrm rot="5400000">
          <a:off x="5273017" y="-4843842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Repo wird auf der VM gepullt</a:t>
          </a:r>
          <a:endParaRPr lang="en-US" sz="2300" kern="1200"/>
        </a:p>
      </dsp:txBody>
      <dsp:txXfrm rot="-5400000">
        <a:off x="426103" y="22387"/>
        <a:ext cx="10070181" cy="357037"/>
      </dsp:txXfrm>
    </dsp:sp>
    <dsp:sp modelId="{7FFE25EF-AEB9-4207-BC64-9EF0D3AC8F45}">
      <dsp:nvSpPr>
        <dsp:cNvPr id="0" name=""/>
        <dsp:cNvSpPr/>
      </dsp:nvSpPr>
      <dsp:spPr>
        <a:xfrm rot="5400000">
          <a:off x="-91307" y="628161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749905"/>
        <a:ext cx="426103" cy="182616"/>
      </dsp:txXfrm>
    </dsp:sp>
    <dsp:sp modelId="{04FF591E-CBFF-43DC-9F5B-510AB5DFA7CB}">
      <dsp:nvSpPr>
        <dsp:cNvPr id="0" name=""/>
        <dsp:cNvSpPr/>
      </dsp:nvSpPr>
      <dsp:spPr>
        <a:xfrm rot="5400000">
          <a:off x="5273017" y="-4310060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Python installieren</a:t>
          </a:r>
          <a:endParaRPr lang="en-US" sz="2300" kern="1200"/>
        </a:p>
      </dsp:txBody>
      <dsp:txXfrm rot="-5400000">
        <a:off x="426103" y="556169"/>
        <a:ext cx="10070181" cy="357037"/>
      </dsp:txXfrm>
    </dsp:sp>
    <dsp:sp modelId="{6086F85B-73CC-4C52-A9DF-336928303CD2}">
      <dsp:nvSpPr>
        <dsp:cNvPr id="0" name=""/>
        <dsp:cNvSpPr/>
      </dsp:nvSpPr>
      <dsp:spPr>
        <a:xfrm rot="5400000">
          <a:off x="-91307" y="1161943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1283687"/>
        <a:ext cx="426103" cy="182616"/>
      </dsp:txXfrm>
    </dsp:sp>
    <dsp:sp modelId="{01C833FA-8760-4006-9493-B8EED5801106}">
      <dsp:nvSpPr>
        <dsp:cNvPr id="0" name=""/>
        <dsp:cNvSpPr/>
      </dsp:nvSpPr>
      <dsp:spPr>
        <a:xfrm rot="5400000">
          <a:off x="5273017" y="-3776278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Dependencies installieren</a:t>
          </a:r>
          <a:endParaRPr lang="en-US" sz="2300" kern="1200"/>
        </a:p>
      </dsp:txBody>
      <dsp:txXfrm rot="-5400000">
        <a:off x="426103" y="1089951"/>
        <a:ext cx="10070181" cy="357037"/>
      </dsp:txXfrm>
    </dsp:sp>
    <dsp:sp modelId="{D3C4B8EB-2C56-4C6B-AA73-A9939AA919C7}">
      <dsp:nvSpPr>
        <dsp:cNvPr id="0" name=""/>
        <dsp:cNvSpPr/>
      </dsp:nvSpPr>
      <dsp:spPr>
        <a:xfrm rot="5400000">
          <a:off x="-91307" y="1695725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1817469"/>
        <a:ext cx="426103" cy="182616"/>
      </dsp:txXfrm>
    </dsp:sp>
    <dsp:sp modelId="{B6C53C1E-67F9-441E-AC71-C4753E273FC2}">
      <dsp:nvSpPr>
        <dsp:cNvPr id="0" name=""/>
        <dsp:cNvSpPr/>
      </dsp:nvSpPr>
      <dsp:spPr>
        <a:xfrm rot="5400000">
          <a:off x="5273017" y="-3242496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Syntax checken</a:t>
          </a:r>
          <a:endParaRPr lang="en-US" sz="2300" kern="1200"/>
        </a:p>
      </dsp:txBody>
      <dsp:txXfrm rot="-5400000">
        <a:off x="426103" y="1623733"/>
        <a:ext cx="10070181" cy="357037"/>
      </dsp:txXfrm>
    </dsp:sp>
    <dsp:sp modelId="{C789875D-C4F3-430C-B0C4-77FF6A05F69C}">
      <dsp:nvSpPr>
        <dsp:cNvPr id="0" name=""/>
        <dsp:cNvSpPr/>
      </dsp:nvSpPr>
      <dsp:spPr>
        <a:xfrm rot="5400000">
          <a:off x="-91307" y="2229508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2351252"/>
        <a:ext cx="426103" cy="182616"/>
      </dsp:txXfrm>
    </dsp:sp>
    <dsp:sp modelId="{6D76E112-9046-4DBD-BF88-8B6D010D3E06}">
      <dsp:nvSpPr>
        <dsp:cNvPr id="0" name=""/>
        <dsp:cNvSpPr/>
      </dsp:nvSpPr>
      <dsp:spPr>
        <a:xfrm rot="5400000">
          <a:off x="5273017" y="-2708713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Docker Image bauen</a:t>
          </a:r>
          <a:endParaRPr lang="en-US" sz="2300" kern="1200"/>
        </a:p>
      </dsp:txBody>
      <dsp:txXfrm rot="-5400000">
        <a:off x="426103" y="2157516"/>
        <a:ext cx="10070181" cy="357037"/>
      </dsp:txXfrm>
    </dsp:sp>
    <dsp:sp modelId="{40EE9EA5-D9C2-4389-A911-6DCB627B832E}">
      <dsp:nvSpPr>
        <dsp:cNvPr id="0" name=""/>
        <dsp:cNvSpPr/>
      </dsp:nvSpPr>
      <dsp:spPr>
        <a:xfrm rot="5400000">
          <a:off x="-91307" y="2763290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2885034"/>
        <a:ext cx="426103" cy="182616"/>
      </dsp:txXfrm>
    </dsp:sp>
    <dsp:sp modelId="{02F4089E-D5C3-4B79-99A1-4842E3A4EA9F}">
      <dsp:nvSpPr>
        <dsp:cNvPr id="0" name=""/>
        <dsp:cNvSpPr/>
      </dsp:nvSpPr>
      <dsp:spPr>
        <a:xfrm rot="5400000">
          <a:off x="5273017" y="-2174931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Docker starten </a:t>
          </a:r>
          <a:endParaRPr lang="en-US" sz="2300" kern="1200"/>
        </a:p>
      </dsp:txBody>
      <dsp:txXfrm rot="-5400000">
        <a:off x="426103" y="2691298"/>
        <a:ext cx="10070181" cy="357037"/>
      </dsp:txXfrm>
    </dsp:sp>
    <dsp:sp modelId="{8BF953CF-6E27-4E02-BD7A-394A12388C88}">
      <dsp:nvSpPr>
        <dsp:cNvPr id="0" name=""/>
        <dsp:cNvSpPr/>
      </dsp:nvSpPr>
      <dsp:spPr>
        <a:xfrm rot="5400000">
          <a:off x="-91307" y="3297072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3418816"/>
        <a:ext cx="426103" cy="182616"/>
      </dsp:txXfrm>
    </dsp:sp>
    <dsp:sp modelId="{A780B866-BAA5-469C-9920-0424F54BFFC3}">
      <dsp:nvSpPr>
        <dsp:cNvPr id="0" name=""/>
        <dsp:cNvSpPr/>
      </dsp:nvSpPr>
      <dsp:spPr>
        <a:xfrm rot="5400000">
          <a:off x="5273017" y="-1641149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Erreichbarkeit des </a:t>
          </a:r>
          <a:r>
            <a:rPr lang="de-DE" sz="2300" kern="1200" err="1"/>
            <a:t>Cryptobroker</a:t>
          </a:r>
          <a:r>
            <a:rPr lang="de-DE" sz="2300" kern="1200"/>
            <a:t>  testen</a:t>
          </a:r>
          <a:endParaRPr lang="en-US" sz="2300" kern="1200"/>
        </a:p>
      </dsp:txBody>
      <dsp:txXfrm rot="-5400000">
        <a:off x="426103" y="3225080"/>
        <a:ext cx="10070181" cy="357037"/>
      </dsp:txXfrm>
    </dsp:sp>
    <dsp:sp modelId="{1D538BD5-29A0-4D1D-9080-2A292C7BEF1F}">
      <dsp:nvSpPr>
        <dsp:cNvPr id="0" name=""/>
        <dsp:cNvSpPr/>
      </dsp:nvSpPr>
      <dsp:spPr>
        <a:xfrm rot="5400000">
          <a:off x="-91307" y="3830854"/>
          <a:ext cx="608719" cy="426103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" y="3952598"/>
        <a:ext cx="426103" cy="182616"/>
      </dsp:txXfrm>
    </dsp:sp>
    <dsp:sp modelId="{8D5FA66A-6F7E-4B93-8FB3-02A27E74BFD3}">
      <dsp:nvSpPr>
        <dsp:cNvPr id="0" name=""/>
        <dsp:cNvSpPr/>
      </dsp:nvSpPr>
      <dsp:spPr>
        <a:xfrm rot="5400000">
          <a:off x="5273017" y="-1107367"/>
          <a:ext cx="395667" cy="10089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/>
            <a:t>Close/Remove Docker Container</a:t>
          </a:r>
          <a:endParaRPr lang="en-US" sz="2300" kern="1200"/>
        </a:p>
      </dsp:txBody>
      <dsp:txXfrm rot="-5400000">
        <a:off x="426103" y="3758862"/>
        <a:ext cx="10070181" cy="357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D29FB-D79E-C25F-5942-F149BB631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A3C3C3-D6FA-8881-F5E7-0D2BF12E8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25B354-2F53-F8FB-2E1A-7499DBCC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31EF3B-8E2A-5175-1434-383AA3E5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F566C5-471D-9E70-676C-967DB3FA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62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E31A2-6B53-874D-0181-DED12F3F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A3913C-6FC5-07E7-4E08-13A80B637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83CD30-65A5-80CB-68AB-6C3982DB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D5BD0C-128A-4D41-DB38-3C25875C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52223-861D-1DDD-EF96-D5F40467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77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AB329-5714-F0A8-8243-573734F7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F47223-2F9B-D019-37E8-7FCA3CA56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038ACB-DFC5-6035-2FB0-843BBC95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7A9B88-9FEA-D1FD-DE1E-2922FEA4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76464B-A159-8EA8-9A9E-5E9E13F4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86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197F7-1397-F74B-1CE5-88246A82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641D42-215D-B622-7126-D6FE54248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90278C-6621-3222-D90F-A9AE1E43A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8CC89B-598E-05DC-32D8-29A33030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E661F7-E444-EB06-8A19-97E46CD3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0F435F-033D-DB96-FE14-26AFCA90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89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A1F2A-BECC-FACE-975B-5CB0ADE5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121B3A-C2E0-6364-A714-CE1F5AD2F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E534FE-D92C-C98D-F7C5-DA419AFDC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B6CF66-5ED4-1851-73CF-9AE400134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2B23FC-FD04-E6D4-CE08-B4FFB2676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8E8B601-7737-5765-1F9A-493E81A9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4C09DB-C480-7787-2CD8-E3B28892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9472B2-9E4D-3E7D-B039-C8EB8601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48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8A53B5-EC5C-16D0-59A7-A34666D9C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99084B-CE1C-17BA-188D-347D6EF0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B85A69-97B2-32C8-3B39-6DE9EDF0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F4378B-538E-61BF-B6DF-E43054E1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0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8E66841-15E6-3C3B-B000-327A1BDA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8EC512-EC5A-CF2E-881E-E6EC5483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74F1E2-BDC2-2EE7-C2D3-9C64A55D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28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38185-B04F-876C-90D1-CBF1BF87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25933C-E787-E8ED-3183-1405BEAED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D271AD-CE33-BA63-0B8D-B7EFFFD95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A0B0A0-72D6-73C5-2651-98110A58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EF203B-9640-37A3-05EC-2428104A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6911FE-908B-3E7C-908F-721C60FF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06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8CDA7-093F-2D9C-2209-B32547C4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B74C594-7732-9EF6-7C8B-B5A93529E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C798A6-8DB4-3AA6-BA5E-A04B6BFA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8F2A68-CFFC-C9CE-0E0B-FE1ED3EB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E45556-7AB7-EA2E-9075-A6099661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FEFB41-93EA-B525-A782-4F55CFF1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36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7ED8A-27D8-AE02-F49C-63708EEF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75336C-1B76-F102-E33C-8ECE2DCD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7BA1A6-D0D8-AA40-C356-758C8D17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84CEC5-714C-7039-457D-AD26C0E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2ED340-4E81-49BA-ED99-28977676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22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16ADFE9-79F9-15B7-CB36-F11D00FC0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D8FCE9-4557-5C68-6438-4DA459410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EACE74-045B-DAAE-1ACF-C7BD9350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8C1A1B-CCDD-9787-77F9-E2905B20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B824F5-5521-4502-2CA3-F615BBDA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457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C5CE4B-3699-A9C1-67D2-F54F148E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655EF9-0EE0-1AF5-3354-3274DCD7E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8460A3-CB9A-7FBD-F2E8-A67D1F793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2B717-45BF-46E8-B649-7524C48184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9A2190-FB40-5537-3FFB-FFF7EC649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EBD5E4-EE4C-DA83-487B-1353B33F4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DD3F8-54FA-4951-A321-BFCB0BF2FE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63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6B7DD-0B5D-B6D8-9170-D4A17D65C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200" b="1" dirty="0">
                <a:solidFill>
                  <a:srgbClr val="00D4FF"/>
                </a:solidFill>
              </a:rPr>
              <a:t>CryptoSim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227EE-D967-0929-FA37-5C4931B70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3307" y="3602038"/>
            <a:ext cx="938538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de-DE" sz="1600" dirty="0">
                <a:solidFill>
                  <a:srgbClr val="CCD6E0"/>
                </a:solidFill>
              </a:rPr>
              <a:t>Von Sara Kocak, Lucas Kleineidam, Jonathan Karrer und Julian Schüler</a:t>
            </a:r>
          </a:p>
          <a:p>
            <a:pPr algn="ctr"/>
            <a:r>
              <a:rPr lang="de-DE" sz="1400" i="1" dirty="0">
                <a:solidFill>
                  <a:srgbClr val="CCD6E0"/>
                </a:solidFill>
              </a:rPr>
              <a:t>Softwareengineering | DHBW | Semester 3/4</a:t>
            </a:r>
          </a:p>
        </p:txBody>
      </p:sp>
      <p:sp>
        <p:nvSpPr>
          <p:cNvPr id="100" name="AccentLine"/>
          <p:cNvSpPr/>
          <p:nvPr/>
        </p:nvSpPr>
        <p:spPr>
          <a:xfrm>
            <a:off x="1371600" y="3429000"/>
            <a:ext cx="6400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201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 txBox="1"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de-DE" sz="4000" b="1" dirty="0">
                <a:solidFill>
                  <a:srgbClr val="00D4FF"/>
                </a:solidFill>
              </a:rPr>
              <a:t>Projektüberblick</a:t>
            </a:r>
          </a:p>
        </p:txBody>
      </p:sp>
      <p:sp>
        <p:nvSpPr>
          <p:cNvPr id="11" name="AccentLine"/>
          <p:cNvSpPr/>
          <p:nvPr/>
        </p:nvSpPr>
        <p:spPr>
          <a:xfrm>
            <a:off x="3657600" y="2971800"/>
            <a:ext cx="4876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Sub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de-DE" sz="1600" i="1" dirty="0">
                <a:solidFill>
                  <a:srgbClr val="CCD6E0"/>
                </a:solidFill>
              </a:rPr>
              <a:t>Vision, Ziele &amp; Funktionsumfang</a:t>
            </a:r>
          </a:p>
        </p:txBody>
      </p:sp>
    </p:spTree>
    <p:extLst>
      <p:ext uri="{BB962C8B-B14F-4D97-AF65-F5344CB8AC3E}">
        <p14:creationId xmlns:p14="http://schemas.microsoft.com/office/powerpoint/2010/main" val="108587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E2E39-2B57-C101-8C94-820CC37E8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6350000" cy="685800"/>
          </a:xfrm>
        </p:spPr>
        <p:txBody>
          <a:bodyPr/>
          <a:lstStyle/>
          <a:p>
            <a:r>
              <a:rPr lang="de-DE" sz="3200" b="1" dirty="0">
                <a:solidFill>
                  <a:srgbClr val="00D5FF"/>
                </a:solidFill>
              </a:rPr>
              <a:t>Motivation</a:t>
            </a:r>
          </a:p>
        </p:txBody>
      </p:sp>
      <p:sp>
        <p:nvSpPr>
          <p:cNvPr id="10" name="TitleUnderline"/>
          <p:cNvSpPr>
            <a:spLocks noGrp="1"/>
          </p:cNvSpPr>
          <p:nvPr/>
        </p:nvSpPr>
        <p:spPr>
          <a:xfrm>
            <a:off x="609600" y="939800"/>
            <a:ext cx="2286000" cy="38100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Card_20"/>
          <p:cNvSpPr>
            <a:spLocks noGrp="1"/>
          </p:cNvSpPr>
          <p:nvPr/>
        </p:nvSpPr>
        <p:spPr>
          <a:xfrm>
            <a:off x="609600" y="1460500"/>
            <a:ext cx="3505200" cy="3937000"/>
          </a:xfrm>
          <a:prstGeom prst="roundRect">
            <a:avLst>
              <a:gd name="adj" fmla="val 30000"/>
            </a:avLst>
          </a:prstGeom>
          <a:solidFill>
            <a:srgbClr val="112233">
              <a:alpha val="100000"/>
            </a:srgbClr>
          </a:solidFill>
          <a:ln w="19050">
            <a:solidFill>
              <a:srgbClr val="00D5FF"/>
            </a:solidFill>
          </a:ln>
        </p:spPr>
        <p:txBody>
          <a:bodyPr vertOverflow="clip" horzOverflow="clip" wrap="square" lIns="0" tIns="0" rIns="0" bIns="0"/>
          <a:lstStyle/>
          <a:p>
            <a:endParaRPr lang="de-DE" dirty="0"/>
          </a:p>
        </p:txBody>
      </p:sp>
      <p:sp>
        <p:nvSpPr>
          <p:cNvPr id="21" name="AccentLine_21"/>
          <p:cNvSpPr>
            <a:spLocks noGrp="1"/>
          </p:cNvSpPr>
          <p:nvPr/>
        </p:nvSpPr>
        <p:spPr>
          <a:xfrm>
            <a:off x="609600" y="1460500"/>
            <a:ext cx="3505200" cy="50800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2" name="NumCircle_22"/>
          <p:cNvSpPr>
            <a:spLocks noGrp="1"/>
          </p:cNvSpPr>
          <p:nvPr/>
        </p:nvSpPr>
        <p:spPr>
          <a:xfrm>
            <a:off x="2108200" y="1612900"/>
            <a:ext cx="508000" cy="508000"/>
          </a:xfrm>
          <a:prstGeom prst="ellipse">
            <a:avLst/>
          </a:prstGeom>
          <a:solidFill>
            <a:srgbClr val="00D5FF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de-DE" sz="1800" b="1" dirty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3" name="CardText_23"/>
          <p:cNvSpPr txBox="1">
            <a:spLocks noGrp="1"/>
          </p:cNvSpPr>
          <p:nvPr/>
        </p:nvSpPr>
        <p:spPr>
          <a:xfrm>
            <a:off x="762000" y="3111500"/>
            <a:ext cx="3200400" cy="2286000"/>
          </a:xfrm>
          <a:prstGeom prst="rect">
            <a:avLst/>
          </a:prstGeom>
          <a:noFill/>
        </p:spPr>
        <p:txBody>
          <a:bodyPr wrap="square" lIns="114300" tIns="57150" rIns="114300" bIns="57150" anchor="t"/>
          <a:lstStyle/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Innovatives</a:t>
            </a:r>
          </a:p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Krypto-Planspiel</a:t>
            </a:r>
          </a:p>
        </p:txBody>
      </p:sp>
      <p:sp>
        <p:nvSpPr>
          <p:cNvPr id="30" name="Card_30"/>
          <p:cNvSpPr>
            <a:spLocks noGrp="1"/>
          </p:cNvSpPr>
          <p:nvPr/>
        </p:nvSpPr>
        <p:spPr>
          <a:xfrm>
            <a:off x="4343400" y="1460500"/>
            <a:ext cx="3505200" cy="3937000"/>
          </a:xfrm>
          <a:prstGeom prst="roundRect">
            <a:avLst>
              <a:gd name="adj" fmla="val 30000"/>
            </a:avLst>
          </a:prstGeom>
          <a:solidFill>
            <a:srgbClr val="112233">
              <a:alpha val="100000"/>
            </a:srgbClr>
          </a:solidFill>
          <a:ln w="19050">
            <a:solidFill>
              <a:srgbClr val="00D5FF"/>
            </a:solidFill>
          </a:ln>
        </p:spPr>
        <p:txBody>
          <a:bodyPr vertOverflow="clip" horzOverflow="clip" wrap="square" lIns="0" tIns="0" rIns="0" bIns="0"/>
          <a:lstStyle/>
          <a:p>
            <a:endParaRPr lang="de-DE" dirty="0"/>
          </a:p>
        </p:txBody>
      </p:sp>
      <p:sp>
        <p:nvSpPr>
          <p:cNvPr id="31" name="AccentLine_31"/>
          <p:cNvSpPr>
            <a:spLocks noGrp="1"/>
          </p:cNvSpPr>
          <p:nvPr/>
        </p:nvSpPr>
        <p:spPr>
          <a:xfrm>
            <a:off x="4343400" y="1460500"/>
            <a:ext cx="3505200" cy="50800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32" name="NumCircle_32"/>
          <p:cNvSpPr>
            <a:spLocks noGrp="1"/>
          </p:cNvSpPr>
          <p:nvPr/>
        </p:nvSpPr>
        <p:spPr>
          <a:xfrm>
            <a:off x="5842000" y="1612900"/>
            <a:ext cx="508000" cy="508000"/>
          </a:xfrm>
          <a:prstGeom prst="ellipse">
            <a:avLst/>
          </a:prstGeom>
          <a:solidFill>
            <a:srgbClr val="00D5FF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de-DE" sz="1800" b="1" dirty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33" name="CardText_33"/>
          <p:cNvSpPr txBox="1">
            <a:spLocks noGrp="1"/>
          </p:cNvSpPr>
          <p:nvPr/>
        </p:nvSpPr>
        <p:spPr>
          <a:xfrm>
            <a:off x="4495800" y="3111500"/>
            <a:ext cx="3200400" cy="2286000"/>
          </a:xfrm>
          <a:prstGeom prst="rect">
            <a:avLst/>
          </a:prstGeom>
          <a:noFill/>
        </p:spPr>
        <p:txBody>
          <a:bodyPr wrap="square" lIns="114300" tIns="57150" rIns="114300" bIns="57150" anchor="t"/>
          <a:lstStyle/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Barrierefreier</a:t>
            </a:r>
          </a:p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Marktzugang</a:t>
            </a:r>
          </a:p>
        </p:txBody>
      </p:sp>
      <p:sp>
        <p:nvSpPr>
          <p:cNvPr id="40" name="Card_40"/>
          <p:cNvSpPr>
            <a:spLocks noGrp="1"/>
          </p:cNvSpPr>
          <p:nvPr/>
        </p:nvSpPr>
        <p:spPr>
          <a:xfrm>
            <a:off x="8077200" y="1460500"/>
            <a:ext cx="3505200" cy="3937000"/>
          </a:xfrm>
          <a:prstGeom prst="roundRect">
            <a:avLst>
              <a:gd name="adj" fmla="val 30000"/>
            </a:avLst>
          </a:prstGeom>
          <a:solidFill>
            <a:srgbClr val="112233">
              <a:alpha val="100000"/>
            </a:srgbClr>
          </a:solidFill>
          <a:ln w="19050">
            <a:solidFill>
              <a:srgbClr val="00D5FF"/>
            </a:solidFill>
          </a:ln>
        </p:spPr>
        <p:txBody>
          <a:bodyPr vertOverflow="clip" horzOverflow="clip" wrap="square" lIns="0" tIns="0" rIns="0" bIns="0"/>
          <a:lstStyle/>
          <a:p>
            <a:endParaRPr lang="de-DE" dirty="0"/>
          </a:p>
        </p:txBody>
      </p:sp>
      <p:sp>
        <p:nvSpPr>
          <p:cNvPr id="41" name="AccentLine_41"/>
          <p:cNvSpPr>
            <a:spLocks noGrp="1"/>
          </p:cNvSpPr>
          <p:nvPr/>
        </p:nvSpPr>
        <p:spPr>
          <a:xfrm>
            <a:off x="8077200" y="1460500"/>
            <a:ext cx="3505200" cy="50800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42" name="NumCircle_42"/>
          <p:cNvSpPr>
            <a:spLocks noGrp="1"/>
          </p:cNvSpPr>
          <p:nvPr/>
        </p:nvSpPr>
        <p:spPr>
          <a:xfrm>
            <a:off x="9575800" y="1612900"/>
            <a:ext cx="508000" cy="508000"/>
          </a:xfrm>
          <a:prstGeom prst="ellipse">
            <a:avLst/>
          </a:prstGeom>
          <a:solidFill>
            <a:srgbClr val="00D5FF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de-DE" sz="1800" b="1" dirty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43" name="CardText_43"/>
          <p:cNvSpPr txBox="1">
            <a:spLocks noGrp="1"/>
          </p:cNvSpPr>
          <p:nvPr/>
        </p:nvSpPr>
        <p:spPr>
          <a:xfrm>
            <a:off x="8229600" y="3111500"/>
            <a:ext cx="3200400" cy="2286000"/>
          </a:xfrm>
          <a:prstGeom prst="rect">
            <a:avLst/>
          </a:prstGeom>
          <a:noFill/>
        </p:spPr>
        <p:txBody>
          <a:bodyPr wrap="square" lIns="114300" tIns="57150" rIns="114300" bIns="57150" anchor="t"/>
          <a:lstStyle/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Praktische</a:t>
            </a:r>
          </a:p>
          <a:p>
            <a:pPr algn="ctr">
              <a:buNone/>
            </a:pPr>
            <a:r>
              <a:rPr lang="de-DE" sz="1600" b="1" dirty="0">
                <a:solidFill>
                  <a:srgbClr val="00D5FF"/>
                </a:solidFill>
              </a:rPr>
              <a:t>Lernerfahrung</a:t>
            </a:r>
          </a:p>
        </p:txBody>
      </p:sp>
      <p:pic>
        <p:nvPicPr>
          <p:cNvPr id="44" name="Graphic 44" descr="Krypto-Planspie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9300" y="2222500"/>
            <a:ext cx="685800" cy="685800"/>
          </a:xfrm>
          <a:prstGeom prst="rect">
            <a:avLst/>
          </a:prstGeom>
        </p:spPr>
      </p:pic>
      <p:pic>
        <p:nvPicPr>
          <p:cNvPr id="45" name="Graphic 45" descr="Marktzuga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100" y="2222500"/>
            <a:ext cx="685800" cy="685800"/>
          </a:xfrm>
          <a:prstGeom prst="rect">
            <a:avLst/>
          </a:prstGeom>
        </p:spPr>
      </p:pic>
      <p:pic>
        <p:nvPicPr>
          <p:cNvPr id="46" name="Graphic 46" descr="Lernerfahru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86900" y="22225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7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B0554F-1AD3-3E14-A12E-4A538A60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>
                <a:solidFill>
                  <a:srgbClr val="00D4FF"/>
                </a:solidFill>
              </a:rPr>
              <a:t>LIVE DEMO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B8ADB4D2-D88C-97C2-0E42-A8E836382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78" y="6124470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CCD6E0"/>
                </a:solidFill>
              </a:rPr>
              <a:t>HomeScreen</a:t>
            </a:r>
            <a:r>
              <a:rPr lang="en-US" sz="1600" dirty="0">
                <a:solidFill>
                  <a:srgbClr val="CCD6E0"/>
                </a:solidFill>
              </a:rPr>
              <a:t> des </a:t>
            </a:r>
            <a:r>
              <a:rPr lang="en-US" sz="1600" dirty="0" err="1">
                <a:solidFill>
                  <a:srgbClr val="CCD6E0"/>
                </a:solidFill>
              </a:rPr>
              <a:t>CryptoSim</a:t>
            </a:r>
            <a:endParaRPr lang="en-US" sz="1600" dirty="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rgbClr val="00D4FF"/>
          </a:solidFill>
          <a:ln w="41275" cap="rnd">
            <a:solidFill>
              <a:srgbClr val="00D4FF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nhaltsplatzhalter 8">
            <a:hlinkClick r:id="rId2"/>
            <a:extLst>
              <a:ext uri="{FF2B5EF4-FFF2-40B4-BE49-F238E27FC236}">
                <a16:creationId xmlns:a16="http://schemas.microsoft.com/office/drawing/2014/main" id="{8542C634-0C43-0BED-DA7C-C98940C9B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018" y="2197959"/>
            <a:ext cx="7025963" cy="39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4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 txBox="1"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de-DE" sz="4000" b="1" dirty="0">
                <a:solidFill>
                  <a:srgbClr val="00D4FF"/>
                </a:solidFill>
              </a:rPr>
              <a:t>Technische Umsetzung</a:t>
            </a:r>
          </a:p>
        </p:txBody>
      </p:sp>
      <p:sp>
        <p:nvSpPr>
          <p:cNvPr id="11" name="AccentLine"/>
          <p:cNvSpPr/>
          <p:nvPr/>
        </p:nvSpPr>
        <p:spPr>
          <a:xfrm>
            <a:off x="3657600" y="2971800"/>
            <a:ext cx="4876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Sub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de-DE" sz="1600" i="1" dirty="0">
                <a:solidFill>
                  <a:srgbClr val="CCD6E0"/>
                </a:solidFill>
              </a:rPr>
              <a:t>Tech Stack, CI/CD 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180873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EDC4AAA-46AD-D40C-0102-23B12FE1674D}"/>
              </a:ext>
            </a:extLst>
          </p:cNvPr>
          <p:cNvGrpSpPr/>
          <p:nvPr/>
        </p:nvGrpSpPr>
        <p:grpSpPr>
          <a:xfrm>
            <a:off x="1046478" y="1666498"/>
            <a:ext cx="3644900" cy="4372292"/>
            <a:chOff x="1046478" y="1666498"/>
            <a:chExt cx="3644900" cy="4372292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6A8300BA-D1DF-D2A8-7883-1CE98CADF0DD}"/>
                </a:ext>
              </a:extLst>
            </p:cNvPr>
            <p:cNvSpPr/>
            <p:nvPr/>
          </p:nvSpPr>
          <p:spPr>
            <a:xfrm>
              <a:off x="1046478" y="1666498"/>
              <a:ext cx="3644900" cy="4372292"/>
            </a:xfrm>
            <a:prstGeom prst="roundRect">
              <a:avLst/>
            </a:prstGeom>
            <a:solidFill>
              <a:srgbClr val="0070C0">
                <a:alpha val="5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Black" panose="020B0A04020102020204" pitchFamily="34" charset="0"/>
              </a:endParaRPr>
            </a:p>
          </p:txBody>
        </p:sp>
        <p:pic>
          <p:nvPicPr>
            <p:cNvPr id="7" name="Grafik 6" descr="Monitor mit einfarbiger Füllung">
              <a:extLst>
                <a:ext uri="{FF2B5EF4-FFF2-40B4-BE49-F238E27FC236}">
                  <a16:creationId xmlns:a16="http://schemas.microsoft.com/office/drawing/2014/main" id="{09020303-2958-43BE-AC8D-6F6CB983F9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70287" y="2552660"/>
              <a:ext cx="1413510" cy="1413510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FE64E11-803F-BB32-57F2-83BB4CC472AE}"/>
                </a:ext>
              </a:extLst>
            </p:cNvPr>
            <p:cNvSpPr txBox="1"/>
            <p:nvPr/>
          </p:nvSpPr>
          <p:spPr>
            <a:xfrm>
              <a:off x="1651395" y="4011632"/>
              <a:ext cx="1459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D3E9C7C3-6B04-DADE-C1E4-B4DCF661B746}"/>
                </a:ext>
              </a:extLst>
            </p:cNvPr>
            <p:cNvSpPr/>
            <p:nvPr/>
          </p:nvSpPr>
          <p:spPr>
            <a:xfrm>
              <a:off x="1515822" y="1892964"/>
              <a:ext cx="1717040" cy="50419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AB12E36-3985-11D9-3916-4E638480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Tech Stack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1" name="Verbinder: gekrümmt 10">
            <a:extLst>
              <a:ext uri="{FF2B5EF4-FFF2-40B4-BE49-F238E27FC236}">
                <a16:creationId xmlns:a16="http://schemas.microsoft.com/office/drawing/2014/main" id="{8853E460-163E-5B88-5ABB-E2E4662DEE8B}"/>
              </a:ext>
            </a:extLst>
          </p:cNvPr>
          <p:cNvCxnSpPr/>
          <p:nvPr/>
        </p:nvCxnSpPr>
        <p:spPr>
          <a:xfrm>
            <a:off x="6862362" y="3257893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5B1D998-A2D6-ABE2-5D06-A6C89593803D}"/>
              </a:ext>
            </a:extLst>
          </p:cNvPr>
          <p:cNvSpPr/>
          <p:nvPr/>
        </p:nvSpPr>
        <p:spPr>
          <a:xfrm>
            <a:off x="3933110" y="1666498"/>
            <a:ext cx="6771323" cy="4372292"/>
          </a:xfrm>
          <a:prstGeom prst="roundRect">
            <a:avLst/>
          </a:prstGeom>
          <a:solidFill>
            <a:srgbClr val="1A2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A648B5D6-B538-AA73-FE77-EB5D69777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457" y="2551138"/>
            <a:ext cx="1413510" cy="14135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E41524B-0AA0-825F-D353-4AFFBBA90311}"/>
              </a:ext>
            </a:extLst>
          </p:cNvPr>
          <p:cNvSpPr txBox="1"/>
          <p:nvPr/>
        </p:nvSpPr>
        <p:spPr>
          <a:xfrm>
            <a:off x="8638619" y="4037450"/>
            <a:ext cx="162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Datenbank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EA481D4-828C-EB36-ED2C-09AE30FB7A7E}"/>
              </a:ext>
            </a:extLst>
          </p:cNvPr>
          <p:cNvSpPr txBox="1"/>
          <p:nvPr/>
        </p:nvSpPr>
        <p:spPr>
          <a:xfrm>
            <a:off x="5153737" y="4037450"/>
            <a:ext cx="145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Server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AE0C7AB-15C8-A164-C6BF-2A80BB01A351}"/>
              </a:ext>
            </a:extLst>
          </p:cNvPr>
          <p:cNvSpPr/>
          <p:nvPr/>
        </p:nvSpPr>
        <p:spPr>
          <a:xfrm>
            <a:off x="8594169" y="1884551"/>
            <a:ext cx="1717040" cy="504190"/>
          </a:xfrm>
          <a:prstGeom prst="round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Backend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BC717C78-7F2D-8926-5C00-A7424B905A26}"/>
              </a:ext>
            </a:extLst>
          </p:cNvPr>
          <p:cNvCxnSpPr/>
          <p:nvPr/>
        </p:nvCxnSpPr>
        <p:spPr>
          <a:xfrm>
            <a:off x="3286206" y="32853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Datenbank mit einfarbiger Füllung">
            <a:extLst>
              <a:ext uri="{FF2B5EF4-FFF2-40B4-BE49-F238E27FC236}">
                <a16:creationId xmlns:a16="http://schemas.microsoft.com/office/drawing/2014/main" id="{52DF51B3-3000-D26E-E3C3-1263C8262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5215" y="2508271"/>
            <a:ext cx="1494948" cy="1494948"/>
          </a:xfrm>
        </p:spPr>
      </p:pic>
      <p:cxnSp>
        <p:nvCxnSpPr>
          <p:cNvPr id="3" name="Verbinder: gekrümmt 11">
            <a:extLst>
              <a:ext uri="{FF2B5EF4-FFF2-40B4-BE49-F238E27FC236}">
                <a16:creationId xmlns:a16="http://schemas.microsoft.com/office/drawing/2014/main" id="{FBD19F5A-17FD-394D-76F0-813CEE314FFB}"/>
              </a:ext>
            </a:extLst>
          </p:cNvPr>
          <p:cNvCxnSpPr/>
          <p:nvPr/>
        </p:nvCxnSpPr>
        <p:spPr>
          <a:xfrm>
            <a:off x="6762788" y="32980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57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8EEC8-E723-BF70-7D8C-0268F793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6B5CEB0E-1DDF-D6F5-6E06-25D475B0C8F0}"/>
              </a:ext>
            </a:extLst>
          </p:cNvPr>
          <p:cNvGrpSpPr/>
          <p:nvPr/>
        </p:nvGrpSpPr>
        <p:grpSpPr>
          <a:xfrm>
            <a:off x="1046478" y="1666498"/>
            <a:ext cx="3644900" cy="4372292"/>
            <a:chOff x="1046478" y="1666498"/>
            <a:chExt cx="3644900" cy="4372292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A171F7EA-F6AB-5D80-D836-EDE85B7B8F09}"/>
                </a:ext>
              </a:extLst>
            </p:cNvPr>
            <p:cNvSpPr/>
            <p:nvPr/>
          </p:nvSpPr>
          <p:spPr>
            <a:xfrm>
              <a:off x="1046478" y="1666498"/>
              <a:ext cx="3644900" cy="4372292"/>
            </a:xfrm>
            <a:prstGeom prst="roundRect">
              <a:avLst/>
            </a:prstGeom>
            <a:solidFill>
              <a:srgbClr val="0070C0">
                <a:alpha val="5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Black" panose="020B0A04020102020204" pitchFamily="34" charset="0"/>
              </a:endParaRPr>
            </a:p>
          </p:txBody>
        </p:sp>
        <p:pic>
          <p:nvPicPr>
            <p:cNvPr id="7" name="Grafik 6" descr="Monitor mit einfarbiger Füllung">
              <a:extLst>
                <a:ext uri="{FF2B5EF4-FFF2-40B4-BE49-F238E27FC236}">
                  <a16:creationId xmlns:a16="http://schemas.microsoft.com/office/drawing/2014/main" id="{A110E068-E0F3-2880-A717-D4BF1D1850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70287" y="2552660"/>
              <a:ext cx="1413510" cy="1413510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5B704D44-2762-4EE3-BACF-DECBF506AB19}"/>
                </a:ext>
              </a:extLst>
            </p:cNvPr>
            <p:cNvSpPr txBox="1"/>
            <p:nvPr/>
          </p:nvSpPr>
          <p:spPr>
            <a:xfrm>
              <a:off x="1651395" y="4011632"/>
              <a:ext cx="1459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6A1C2D72-EDE5-D625-621E-5D7D190B5586}"/>
                </a:ext>
              </a:extLst>
            </p:cNvPr>
            <p:cNvSpPr/>
            <p:nvPr/>
          </p:nvSpPr>
          <p:spPr>
            <a:xfrm>
              <a:off x="1515822" y="1892964"/>
              <a:ext cx="1717040" cy="50419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D7D6D79-DA48-5C89-413B-98BCC1CE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Tech Stack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1" name="Verbinder: gekrümmt 10">
            <a:extLst>
              <a:ext uri="{FF2B5EF4-FFF2-40B4-BE49-F238E27FC236}">
                <a16:creationId xmlns:a16="http://schemas.microsoft.com/office/drawing/2014/main" id="{339E9EA0-EFAC-A700-A6F3-73E733C00193}"/>
              </a:ext>
            </a:extLst>
          </p:cNvPr>
          <p:cNvCxnSpPr/>
          <p:nvPr/>
        </p:nvCxnSpPr>
        <p:spPr>
          <a:xfrm>
            <a:off x="6862362" y="3257893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DF65341C-5730-A474-D833-9B08DCA57DD0}"/>
              </a:ext>
            </a:extLst>
          </p:cNvPr>
          <p:cNvSpPr/>
          <p:nvPr/>
        </p:nvSpPr>
        <p:spPr>
          <a:xfrm>
            <a:off x="3933110" y="1666498"/>
            <a:ext cx="6771323" cy="4372292"/>
          </a:xfrm>
          <a:prstGeom prst="roundRect">
            <a:avLst/>
          </a:prstGeom>
          <a:solidFill>
            <a:srgbClr val="1A2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DD290E02-FD91-5C62-A62C-DE6CDD038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457" y="2551138"/>
            <a:ext cx="1413510" cy="14135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264BF88-6F81-7588-07E3-E6AE1413B687}"/>
              </a:ext>
            </a:extLst>
          </p:cNvPr>
          <p:cNvSpPr txBox="1"/>
          <p:nvPr/>
        </p:nvSpPr>
        <p:spPr>
          <a:xfrm>
            <a:off x="8638619" y="4037450"/>
            <a:ext cx="162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Datenbank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24C3EB5-F48A-F187-E8A5-BD638B264805}"/>
              </a:ext>
            </a:extLst>
          </p:cNvPr>
          <p:cNvSpPr txBox="1"/>
          <p:nvPr/>
        </p:nvSpPr>
        <p:spPr>
          <a:xfrm>
            <a:off x="5153737" y="4037450"/>
            <a:ext cx="145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Server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0ABA31E-E7D4-2242-F403-CD26E402AEEA}"/>
              </a:ext>
            </a:extLst>
          </p:cNvPr>
          <p:cNvSpPr/>
          <p:nvPr/>
        </p:nvSpPr>
        <p:spPr>
          <a:xfrm>
            <a:off x="8594169" y="1884551"/>
            <a:ext cx="1717040" cy="504190"/>
          </a:xfrm>
          <a:prstGeom prst="round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Backend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9A3B6671-08C9-AEB3-1B3D-4E44A04546E6}"/>
              </a:ext>
            </a:extLst>
          </p:cNvPr>
          <p:cNvCxnSpPr/>
          <p:nvPr/>
        </p:nvCxnSpPr>
        <p:spPr>
          <a:xfrm>
            <a:off x="3286206" y="32853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Datenbank mit einfarbiger Füllung">
            <a:extLst>
              <a:ext uri="{FF2B5EF4-FFF2-40B4-BE49-F238E27FC236}">
                <a16:creationId xmlns:a16="http://schemas.microsoft.com/office/drawing/2014/main" id="{564C86C2-38E2-BD03-7D2F-E52068727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5215" y="2508271"/>
            <a:ext cx="1494948" cy="1494948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4760ABA-0FBF-AB1C-FB17-B8F0E302991C}"/>
              </a:ext>
            </a:extLst>
          </p:cNvPr>
          <p:cNvSpPr txBox="1"/>
          <p:nvPr/>
        </p:nvSpPr>
        <p:spPr>
          <a:xfrm>
            <a:off x="1741921" y="4512488"/>
            <a:ext cx="12781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CCD6E0"/>
                </a:solidFill>
                <a:latin typeface="Arial "/>
              </a:rPr>
              <a:t>HTML5</a:t>
            </a:r>
            <a:br>
              <a:rPr lang="de-DE" sz="1400" b="1">
                <a:solidFill>
                  <a:srgbClr val="CCD6E0"/>
                </a:solidFill>
                <a:latin typeface="Arial "/>
              </a:rPr>
            </a:br>
            <a:r>
              <a:rPr lang="de-DE" sz="1400" b="1">
                <a:solidFill>
                  <a:srgbClr val="CCD6E0"/>
                </a:solidFill>
                <a:latin typeface="Arial "/>
              </a:rPr>
              <a:t>CSS</a:t>
            </a:r>
            <a:br>
              <a:rPr lang="de-DE" sz="1400" b="1">
                <a:solidFill>
                  <a:srgbClr val="CCD6E0"/>
                </a:solidFill>
                <a:latin typeface="Arial "/>
              </a:rPr>
            </a:br>
            <a:r>
              <a:rPr lang="de-DE" sz="1400" b="1">
                <a:solidFill>
                  <a:srgbClr val="CCD6E0"/>
                </a:solidFill>
                <a:latin typeface="Arial "/>
              </a:rPr>
              <a:t>JavaScript</a:t>
            </a:r>
          </a:p>
          <a:p>
            <a:pPr algn="ctr"/>
            <a:r>
              <a:rPr lang="de-DE" sz="1400" b="1">
                <a:solidFill>
                  <a:srgbClr val="CCD6E0"/>
                </a:solidFill>
                <a:latin typeface="Arial "/>
              </a:rPr>
              <a:t>Chart.js</a:t>
            </a:r>
          </a:p>
        </p:txBody>
      </p:sp>
      <p:cxnSp>
        <p:nvCxnSpPr>
          <p:cNvPr id="4" name="Verbinder: gekrümmt 11">
            <a:extLst>
              <a:ext uri="{FF2B5EF4-FFF2-40B4-BE49-F238E27FC236}">
                <a16:creationId xmlns:a16="http://schemas.microsoft.com/office/drawing/2014/main" id="{76F6C28E-C43B-F61C-AC92-8423C32DE598}"/>
              </a:ext>
            </a:extLst>
          </p:cNvPr>
          <p:cNvCxnSpPr/>
          <p:nvPr/>
        </p:nvCxnSpPr>
        <p:spPr>
          <a:xfrm>
            <a:off x="6762788" y="32980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14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F7195-B266-FA3F-7A58-A6178FFB2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239AB874-879F-068B-CBB8-BD7924ABB2A6}"/>
              </a:ext>
            </a:extLst>
          </p:cNvPr>
          <p:cNvGrpSpPr/>
          <p:nvPr/>
        </p:nvGrpSpPr>
        <p:grpSpPr>
          <a:xfrm>
            <a:off x="1046478" y="1666498"/>
            <a:ext cx="3644900" cy="4372292"/>
            <a:chOff x="1046478" y="1666498"/>
            <a:chExt cx="3644900" cy="4372292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578BDB82-4139-4EA1-22C1-287C463F2F77}"/>
                </a:ext>
              </a:extLst>
            </p:cNvPr>
            <p:cNvSpPr/>
            <p:nvPr/>
          </p:nvSpPr>
          <p:spPr>
            <a:xfrm>
              <a:off x="1046478" y="1666498"/>
              <a:ext cx="3644900" cy="4372292"/>
            </a:xfrm>
            <a:prstGeom prst="roundRect">
              <a:avLst/>
            </a:prstGeom>
            <a:solidFill>
              <a:srgbClr val="0070C0">
                <a:alpha val="5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Black" panose="020B0A04020102020204" pitchFamily="34" charset="0"/>
              </a:endParaRPr>
            </a:p>
          </p:txBody>
        </p:sp>
        <p:pic>
          <p:nvPicPr>
            <p:cNvPr id="7" name="Grafik 6" descr="Monitor mit einfarbiger Füllung">
              <a:extLst>
                <a:ext uri="{FF2B5EF4-FFF2-40B4-BE49-F238E27FC236}">
                  <a16:creationId xmlns:a16="http://schemas.microsoft.com/office/drawing/2014/main" id="{B2616C02-119A-D0E2-E4ED-8164F4B58B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70287" y="2552660"/>
              <a:ext cx="1413510" cy="1413510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9046B68-2EF8-3BF2-B2CC-A4379B98F53F}"/>
                </a:ext>
              </a:extLst>
            </p:cNvPr>
            <p:cNvSpPr txBox="1"/>
            <p:nvPr/>
          </p:nvSpPr>
          <p:spPr>
            <a:xfrm>
              <a:off x="1651395" y="4011632"/>
              <a:ext cx="1459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9AC09DA9-4215-4536-42FD-D29EF8F3BF06}"/>
                </a:ext>
              </a:extLst>
            </p:cNvPr>
            <p:cNvSpPr/>
            <p:nvPr/>
          </p:nvSpPr>
          <p:spPr>
            <a:xfrm>
              <a:off x="1515822" y="1892964"/>
              <a:ext cx="1717040" cy="50419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A38D4AE-91D6-5185-445F-3A3A1A47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Tech Stack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1" name="Verbinder: gekrümmt 10">
            <a:extLst>
              <a:ext uri="{FF2B5EF4-FFF2-40B4-BE49-F238E27FC236}">
                <a16:creationId xmlns:a16="http://schemas.microsoft.com/office/drawing/2014/main" id="{30B21B96-92AC-2752-A848-768A0379813A}"/>
              </a:ext>
            </a:extLst>
          </p:cNvPr>
          <p:cNvCxnSpPr/>
          <p:nvPr/>
        </p:nvCxnSpPr>
        <p:spPr>
          <a:xfrm>
            <a:off x="6862362" y="3257893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E6C4421F-7DD7-7D03-43C8-7E5C302AA51D}"/>
              </a:ext>
            </a:extLst>
          </p:cNvPr>
          <p:cNvSpPr/>
          <p:nvPr/>
        </p:nvSpPr>
        <p:spPr>
          <a:xfrm>
            <a:off x="3933110" y="1666498"/>
            <a:ext cx="6771323" cy="4372292"/>
          </a:xfrm>
          <a:prstGeom prst="roundRect">
            <a:avLst/>
          </a:prstGeom>
          <a:solidFill>
            <a:srgbClr val="1A2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652CB1BB-690F-6092-EEC0-A1074C8C3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457" y="2551138"/>
            <a:ext cx="1413510" cy="14135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0E19FFB-D248-F93C-8A2C-AEEAB5CC2666}"/>
              </a:ext>
            </a:extLst>
          </p:cNvPr>
          <p:cNvSpPr txBox="1"/>
          <p:nvPr/>
        </p:nvSpPr>
        <p:spPr>
          <a:xfrm>
            <a:off x="8638619" y="4037450"/>
            <a:ext cx="162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Datenbank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3D095F4-4FD6-2A86-962C-872E373BD766}"/>
              </a:ext>
            </a:extLst>
          </p:cNvPr>
          <p:cNvSpPr txBox="1"/>
          <p:nvPr/>
        </p:nvSpPr>
        <p:spPr>
          <a:xfrm>
            <a:off x="5153737" y="4037450"/>
            <a:ext cx="145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Server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3F2A52B-3016-A735-2F7A-24F74DD1C173}"/>
              </a:ext>
            </a:extLst>
          </p:cNvPr>
          <p:cNvSpPr/>
          <p:nvPr/>
        </p:nvSpPr>
        <p:spPr>
          <a:xfrm>
            <a:off x="8594169" y="1884551"/>
            <a:ext cx="1717040" cy="504190"/>
          </a:xfrm>
          <a:prstGeom prst="round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Backend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902615D2-4D78-EA1E-9F24-F48FFAD16C88}"/>
              </a:ext>
            </a:extLst>
          </p:cNvPr>
          <p:cNvCxnSpPr/>
          <p:nvPr/>
        </p:nvCxnSpPr>
        <p:spPr>
          <a:xfrm>
            <a:off x="3286206" y="32853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Datenbank mit einfarbiger Füllung">
            <a:extLst>
              <a:ext uri="{FF2B5EF4-FFF2-40B4-BE49-F238E27FC236}">
                <a16:creationId xmlns:a16="http://schemas.microsoft.com/office/drawing/2014/main" id="{B2181B56-79B2-0A1A-C9B7-578FBD03C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5215" y="2508271"/>
            <a:ext cx="1494948" cy="1494948"/>
          </a:xfr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8521873-C099-72C6-31C7-1B19331C6FEC}"/>
              </a:ext>
            </a:extLst>
          </p:cNvPr>
          <p:cNvSpPr txBox="1"/>
          <p:nvPr/>
        </p:nvSpPr>
        <p:spPr>
          <a:xfrm>
            <a:off x="5244263" y="4512488"/>
            <a:ext cx="12781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CCD6E0"/>
                </a:solidFill>
                <a:latin typeface="Arial "/>
              </a:rPr>
              <a:t>Python</a:t>
            </a:r>
          </a:p>
          <a:p>
            <a:pPr algn="ctr"/>
            <a:r>
              <a:rPr lang="de-DE" sz="1400" b="1" err="1">
                <a:solidFill>
                  <a:srgbClr val="CCD6E0"/>
                </a:solidFill>
                <a:latin typeface="Arial "/>
              </a:rPr>
              <a:t>Flask</a:t>
            </a:r>
            <a:endParaRPr lang="de-DE" sz="1400" b="1">
              <a:latin typeface="Arial "/>
            </a:endParaRPr>
          </a:p>
          <a:p>
            <a:pPr algn="ctr"/>
            <a:r>
              <a:rPr lang="de-DE" sz="1400" b="1">
                <a:solidFill>
                  <a:srgbClr val="CCD6E0"/>
                </a:solidFill>
                <a:latin typeface="Arial "/>
              </a:rPr>
              <a:t>Jinja2</a:t>
            </a:r>
          </a:p>
        </p:txBody>
      </p:sp>
      <p:cxnSp>
        <p:nvCxnSpPr>
          <p:cNvPr id="3" name="Verbinder: gekrümmt 11">
            <a:extLst>
              <a:ext uri="{FF2B5EF4-FFF2-40B4-BE49-F238E27FC236}">
                <a16:creationId xmlns:a16="http://schemas.microsoft.com/office/drawing/2014/main" id="{0FF8E4FA-9EF7-6419-F45F-FA51ADB5CDD1}"/>
              </a:ext>
            </a:extLst>
          </p:cNvPr>
          <p:cNvCxnSpPr/>
          <p:nvPr/>
        </p:nvCxnSpPr>
        <p:spPr>
          <a:xfrm>
            <a:off x="6762788" y="32980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08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DC03E-B75F-C0AE-E915-C3C397B1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8506CFD-81E5-8B3D-5111-615D0FB8314A}"/>
              </a:ext>
            </a:extLst>
          </p:cNvPr>
          <p:cNvGrpSpPr/>
          <p:nvPr/>
        </p:nvGrpSpPr>
        <p:grpSpPr>
          <a:xfrm>
            <a:off x="1046478" y="1666498"/>
            <a:ext cx="3644900" cy="4372292"/>
            <a:chOff x="1046478" y="1666498"/>
            <a:chExt cx="3644900" cy="4372292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53425D80-DF98-D989-6B41-AF7316B216BD}"/>
                </a:ext>
              </a:extLst>
            </p:cNvPr>
            <p:cNvSpPr/>
            <p:nvPr/>
          </p:nvSpPr>
          <p:spPr>
            <a:xfrm>
              <a:off x="1046478" y="1666498"/>
              <a:ext cx="3644900" cy="4372292"/>
            </a:xfrm>
            <a:prstGeom prst="roundRect">
              <a:avLst/>
            </a:prstGeom>
            <a:solidFill>
              <a:srgbClr val="0070C0">
                <a:alpha val="5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Black" panose="020B0A04020102020204" pitchFamily="34" charset="0"/>
              </a:endParaRPr>
            </a:p>
          </p:txBody>
        </p:sp>
        <p:pic>
          <p:nvPicPr>
            <p:cNvPr id="7" name="Grafik 6" descr="Monitor mit einfarbiger Füllung">
              <a:extLst>
                <a:ext uri="{FF2B5EF4-FFF2-40B4-BE49-F238E27FC236}">
                  <a16:creationId xmlns:a16="http://schemas.microsoft.com/office/drawing/2014/main" id="{2F6179FB-E1DD-C224-B28D-B10FCC6575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70287" y="2552660"/>
              <a:ext cx="1413510" cy="1413510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2D1D862-D200-AADE-F941-840EEAD7C1C0}"/>
                </a:ext>
              </a:extLst>
            </p:cNvPr>
            <p:cNvSpPr txBox="1"/>
            <p:nvPr/>
          </p:nvSpPr>
          <p:spPr>
            <a:xfrm>
              <a:off x="1651395" y="4011632"/>
              <a:ext cx="1459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52E590E1-2DB2-6231-AC91-86A0AF2AF843}"/>
                </a:ext>
              </a:extLst>
            </p:cNvPr>
            <p:cNvSpPr/>
            <p:nvPr/>
          </p:nvSpPr>
          <p:spPr>
            <a:xfrm>
              <a:off x="1515822" y="1892964"/>
              <a:ext cx="1717040" cy="50419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solidFill>
                    <a:srgbClr val="CCD6E0"/>
                  </a:solidFill>
                  <a:latin typeface="Arial Black" panose="020B0A04020102020204" pitchFamily="34" charset="0"/>
                </a:rPr>
                <a:t>Frontend</a:t>
              </a:r>
              <a:endParaRPr lang="en-US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CF2CA13-8BB8-A700-706A-E08DDEAC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Tech Stack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1" name="Verbinder: gekrümmt 10">
            <a:extLst>
              <a:ext uri="{FF2B5EF4-FFF2-40B4-BE49-F238E27FC236}">
                <a16:creationId xmlns:a16="http://schemas.microsoft.com/office/drawing/2014/main" id="{31762203-D283-40DC-1EE6-C0D6753649DD}"/>
              </a:ext>
            </a:extLst>
          </p:cNvPr>
          <p:cNvCxnSpPr/>
          <p:nvPr/>
        </p:nvCxnSpPr>
        <p:spPr>
          <a:xfrm>
            <a:off x="6862362" y="3257893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12A488A-7C00-7D4F-38CE-FA11192BB8F0}"/>
              </a:ext>
            </a:extLst>
          </p:cNvPr>
          <p:cNvSpPr/>
          <p:nvPr/>
        </p:nvSpPr>
        <p:spPr>
          <a:xfrm>
            <a:off x="3933110" y="1666498"/>
            <a:ext cx="6771323" cy="4372292"/>
          </a:xfrm>
          <a:prstGeom prst="roundRect">
            <a:avLst/>
          </a:prstGeom>
          <a:solidFill>
            <a:srgbClr val="1A2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7304E5C3-DB63-5D0C-CB6F-2C60BCD39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457" y="2551138"/>
            <a:ext cx="1413510" cy="14135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795CD4C8-A98C-104E-0B27-56CA0F9E6810}"/>
              </a:ext>
            </a:extLst>
          </p:cNvPr>
          <p:cNvSpPr txBox="1"/>
          <p:nvPr/>
        </p:nvSpPr>
        <p:spPr>
          <a:xfrm>
            <a:off x="8638619" y="4037450"/>
            <a:ext cx="162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Datenbank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D11C248-CA00-BD3F-E393-8D8C55B107C9}"/>
              </a:ext>
            </a:extLst>
          </p:cNvPr>
          <p:cNvSpPr txBox="1"/>
          <p:nvPr/>
        </p:nvSpPr>
        <p:spPr>
          <a:xfrm>
            <a:off x="5153737" y="4037450"/>
            <a:ext cx="145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Server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3BC0065-B100-DC15-3B61-1E2FDB1AA02D}"/>
              </a:ext>
            </a:extLst>
          </p:cNvPr>
          <p:cNvSpPr/>
          <p:nvPr/>
        </p:nvSpPr>
        <p:spPr>
          <a:xfrm>
            <a:off x="8594169" y="1884551"/>
            <a:ext cx="1717040" cy="504190"/>
          </a:xfrm>
          <a:prstGeom prst="roundRect">
            <a:avLst/>
          </a:prstGeom>
          <a:solidFill>
            <a:srgbClr val="FF8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Backend</a:t>
            </a:r>
            <a:endParaRPr lang="en-US">
              <a:latin typeface="Arial Black" panose="020B0A04020102020204" pitchFamily="34" charset="0"/>
            </a:endParaRPr>
          </a:p>
        </p:txBody>
      </p: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D3DF6C15-B306-21C4-0634-9B759BE17E2E}"/>
              </a:ext>
            </a:extLst>
          </p:cNvPr>
          <p:cNvCxnSpPr/>
          <p:nvPr/>
        </p:nvCxnSpPr>
        <p:spPr>
          <a:xfrm>
            <a:off x="3286206" y="32853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Datenbank mit einfarbiger Füllung">
            <a:extLst>
              <a:ext uri="{FF2B5EF4-FFF2-40B4-BE49-F238E27FC236}">
                <a16:creationId xmlns:a16="http://schemas.microsoft.com/office/drawing/2014/main" id="{A2222DBB-088F-9968-132B-14F3BB723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5215" y="2508271"/>
            <a:ext cx="1494948" cy="1494948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0B837BB-BE1D-DCA0-3E6C-40F9C6E44214}"/>
              </a:ext>
            </a:extLst>
          </p:cNvPr>
          <p:cNvSpPr txBox="1"/>
          <p:nvPr/>
        </p:nvSpPr>
        <p:spPr>
          <a:xfrm>
            <a:off x="8813600" y="4512488"/>
            <a:ext cx="127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>
                <a:solidFill>
                  <a:srgbClr val="CCD6E0"/>
                </a:solidFill>
                <a:latin typeface="Arial "/>
              </a:rPr>
              <a:t>SQLite</a:t>
            </a:r>
          </a:p>
        </p:txBody>
      </p:sp>
      <p:cxnSp>
        <p:nvCxnSpPr>
          <p:cNvPr id="3" name="Verbinder: gekrümmt 11">
            <a:extLst>
              <a:ext uri="{FF2B5EF4-FFF2-40B4-BE49-F238E27FC236}">
                <a16:creationId xmlns:a16="http://schemas.microsoft.com/office/drawing/2014/main" id="{2FA8350D-217D-C2C6-258A-01596A7E1AAA}"/>
              </a:ext>
            </a:extLst>
          </p:cNvPr>
          <p:cNvCxnSpPr/>
          <p:nvPr/>
        </p:nvCxnSpPr>
        <p:spPr>
          <a:xfrm>
            <a:off x="6762788" y="3298052"/>
            <a:ext cx="1792605" cy="12700"/>
          </a:xfrm>
          <a:prstGeom prst="curvedConnector3">
            <a:avLst/>
          </a:prstGeom>
          <a:ln w="38100">
            <a:solidFill>
              <a:srgbClr val="00D4FF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082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41DF9-5FA8-1054-523B-A33F2B2A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CI Pipeline</a:t>
            </a:r>
            <a:endParaRPr lang="en-US">
              <a:latin typeface="Arial Black" panose="020B0A04020102020204" pitchFamily="34" charset="0"/>
            </a:endParaRPr>
          </a:p>
        </p:txBody>
      </p:sp>
      <p:pic>
        <p:nvPicPr>
          <p:cNvPr id="5" name="Inhaltsplatzhalter 4" descr="Webdesign mit einfarbiger Füllung">
            <a:extLst>
              <a:ext uri="{FF2B5EF4-FFF2-40B4-BE49-F238E27FC236}">
                <a16:creationId xmlns:a16="http://schemas.microsoft.com/office/drawing/2014/main" id="{E32F9BF7-5950-210A-A3BC-CA0A36D49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3109" y="2852738"/>
            <a:ext cx="1152524" cy="1152524"/>
          </a:xfrm>
        </p:spPr>
      </p:pic>
      <p:pic>
        <p:nvPicPr>
          <p:cNvPr id="1026" name="Picture 2" descr="GitHub Actions Logo PNG Vector (SVG) Free Download">
            <a:extLst>
              <a:ext uri="{FF2B5EF4-FFF2-40B4-BE49-F238E27FC236}">
                <a16:creationId xmlns:a16="http://schemas.microsoft.com/office/drawing/2014/main" id="{C82B854F-FE46-3454-AEF3-E9FAB7008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2852738"/>
            <a:ext cx="1152524" cy="115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A97F04D-9D73-753F-4E06-D53412FF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006" y="2852738"/>
            <a:ext cx="1152523" cy="1152523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7AF40CE-B02E-786C-75AA-2A28B46050F9}"/>
              </a:ext>
            </a:extLst>
          </p:cNvPr>
          <p:cNvCxnSpPr/>
          <p:nvPr/>
        </p:nvCxnSpPr>
        <p:spPr>
          <a:xfrm>
            <a:off x="3254829" y="3447288"/>
            <a:ext cx="2090057" cy="0"/>
          </a:xfrm>
          <a:prstGeom prst="straightConnector1">
            <a:avLst/>
          </a:prstGeom>
          <a:ln w="57150">
            <a:solidFill>
              <a:srgbClr val="00D4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8C46BB7-10CB-3C56-C728-6A04423A782B}"/>
              </a:ext>
            </a:extLst>
          </p:cNvPr>
          <p:cNvCxnSpPr/>
          <p:nvPr/>
        </p:nvCxnSpPr>
        <p:spPr>
          <a:xfrm>
            <a:off x="6973389" y="3429000"/>
            <a:ext cx="2090057" cy="0"/>
          </a:xfrm>
          <a:prstGeom prst="straightConnector1">
            <a:avLst/>
          </a:prstGeom>
          <a:ln w="57150">
            <a:solidFill>
              <a:srgbClr val="00D4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2FAE7C4C-03AD-388F-9849-069A2846DE74}"/>
              </a:ext>
            </a:extLst>
          </p:cNvPr>
          <p:cNvSpPr txBox="1"/>
          <p:nvPr/>
        </p:nvSpPr>
        <p:spPr>
          <a:xfrm>
            <a:off x="3646401" y="3059667"/>
            <a:ext cx="1380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"/>
              </a:rPr>
              <a:t>Commit</a:t>
            </a:r>
            <a:endParaRPr lang="en-US">
              <a:latin typeface="Arial 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163C421-B7A5-54F6-56F3-6EAE2215A5A1}"/>
              </a:ext>
            </a:extLst>
          </p:cNvPr>
          <p:cNvSpPr txBox="1"/>
          <p:nvPr/>
        </p:nvSpPr>
        <p:spPr>
          <a:xfrm>
            <a:off x="7220235" y="3059667"/>
            <a:ext cx="1415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"/>
              </a:rPr>
              <a:t>Trigger</a:t>
            </a:r>
            <a:endParaRPr lang="en-US">
              <a:latin typeface="Arial 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5A5EB85-20C5-1A98-05C4-FFCEF020B93D}"/>
              </a:ext>
            </a:extLst>
          </p:cNvPr>
          <p:cNvSpPr txBox="1"/>
          <p:nvPr/>
        </p:nvSpPr>
        <p:spPr>
          <a:xfrm>
            <a:off x="8715238" y="4187952"/>
            <a:ext cx="209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GitHub Actions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85CA52C-F64B-01CE-E6A5-6CD6A2D863D8}"/>
              </a:ext>
            </a:extLst>
          </p:cNvPr>
          <p:cNvSpPr txBox="1"/>
          <p:nvPr/>
        </p:nvSpPr>
        <p:spPr>
          <a:xfrm>
            <a:off x="5247323" y="4187952"/>
            <a:ext cx="169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GitHub</a:t>
            </a:r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59C212F-EBE9-8A65-6E84-6CF0EB9ED825}"/>
              </a:ext>
            </a:extLst>
          </p:cNvPr>
          <p:cNvSpPr txBox="1"/>
          <p:nvPr/>
        </p:nvSpPr>
        <p:spPr>
          <a:xfrm>
            <a:off x="1730694" y="4187952"/>
            <a:ext cx="169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CCD6E0"/>
                </a:solidFill>
                <a:latin typeface="Arial Black" panose="020B0A04020102020204" pitchFamily="34" charset="0"/>
              </a:rPr>
              <a:t>IDE</a:t>
            </a:r>
            <a:endParaRPr lang="en-US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01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6A5E6-33B5-4C87-3EF0-92AF25ED7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7EF7B-B36D-96CC-6AC9-7F2DF215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  <a:latin typeface="Arial Black" panose="020B0A04020102020204" pitchFamily="34" charset="0"/>
              </a:rPr>
              <a:t>CI Pipeline</a:t>
            </a:r>
            <a:endParaRPr lang="en-US">
              <a:latin typeface="Arial Black" panose="020B0A04020102020204" pitchFamily="34" charset="0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3ED9771-85BD-3F52-263F-9FDB35C4B9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982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 txBox="1"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de-DE" sz="4000" b="1" dirty="0">
                <a:solidFill>
                  <a:srgbClr val="00D4FF"/>
                </a:solidFill>
              </a:rPr>
              <a:t>Architektur</a:t>
            </a:r>
          </a:p>
        </p:txBody>
      </p:sp>
      <p:sp>
        <p:nvSpPr>
          <p:cNvPr id="11" name="AccentLine"/>
          <p:cNvSpPr/>
          <p:nvPr/>
        </p:nvSpPr>
        <p:spPr>
          <a:xfrm>
            <a:off x="3657600" y="2971800"/>
            <a:ext cx="4876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Sub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de-DE" sz="1600" i="1" dirty="0">
                <a:solidFill>
                  <a:srgbClr val="CCD6E0"/>
                </a:solidFill>
              </a:rPr>
              <a:t>Systemdesign, Datenbank &amp; Prinzipien</a:t>
            </a:r>
          </a:p>
        </p:txBody>
      </p:sp>
    </p:spTree>
    <p:extLst>
      <p:ext uri="{BB962C8B-B14F-4D97-AF65-F5344CB8AC3E}">
        <p14:creationId xmlns:p14="http://schemas.microsoft.com/office/powerpoint/2010/main" val="2399786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E7B9C-1E29-2987-9F32-F93B9D83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</a:rPr>
              <a:t>Architekturüberblick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1A3BE06-E132-7E92-CDE2-42041F1571CA}"/>
              </a:ext>
            </a:extLst>
          </p:cNvPr>
          <p:cNvGrpSpPr/>
          <p:nvPr/>
        </p:nvGrpSpPr>
        <p:grpSpPr>
          <a:xfrm>
            <a:off x="838200" y="1825625"/>
            <a:ext cx="5029200" cy="1234440"/>
            <a:chOff x="838200" y="1825625"/>
            <a:chExt cx="5029200" cy="12344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09114B-7E16-21BC-0B60-1FFE072763B5}"/>
                </a:ext>
              </a:extLst>
            </p:cNvPr>
            <p:cNvSpPr/>
            <p:nvPr/>
          </p:nvSpPr>
          <p:spPr>
            <a:xfrm>
              <a:off x="838200" y="1825625"/>
              <a:ext cx="5029200" cy="123444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F3FAA7-A4C2-DA6A-8AA9-F961F4B13E55}"/>
                </a:ext>
              </a:extLst>
            </p:cNvPr>
            <p:cNvSpPr/>
            <p:nvPr/>
          </p:nvSpPr>
          <p:spPr>
            <a:xfrm>
              <a:off x="838200" y="1825625"/>
              <a:ext cx="64008" cy="1234440"/>
            </a:xfrm>
            <a:prstGeom prst="rect">
              <a:avLst/>
            </a:prstGeom>
            <a:solidFill>
              <a:srgbClr val="38C7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D7F755-CC57-4092-B410-F1E1A5ABE0ED}"/>
                </a:ext>
              </a:extLst>
            </p:cNvPr>
            <p:cNvSpPr txBox="1"/>
            <p:nvPr/>
          </p:nvSpPr>
          <p:spPr>
            <a:xfrm>
              <a:off x="1066800" y="1917065"/>
              <a:ext cx="46634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Controller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861DC1-1EB3-8FA3-910B-84C36A806A7D}"/>
                </a:ext>
              </a:extLst>
            </p:cNvPr>
            <p:cNvSpPr txBox="1"/>
            <p:nvPr/>
          </p:nvSpPr>
          <p:spPr>
            <a:xfrm>
              <a:off x="1066800" y="2392553"/>
              <a:ext cx="4663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app.py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 -  Routen &amp;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Steuerung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FFA14F-F01A-6194-9E6C-434D09EFBD2F}"/>
              </a:ext>
            </a:extLst>
          </p:cNvPr>
          <p:cNvGrpSpPr/>
          <p:nvPr/>
        </p:nvGrpSpPr>
        <p:grpSpPr>
          <a:xfrm>
            <a:off x="838200" y="3384074"/>
            <a:ext cx="5029200" cy="1234440"/>
            <a:chOff x="838200" y="3429000"/>
            <a:chExt cx="5029200" cy="1234440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BECB51CF-D35A-6CD8-0040-3FE5C85F681C}"/>
                </a:ext>
              </a:extLst>
            </p:cNvPr>
            <p:cNvSpPr/>
            <p:nvPr/>
          </p:nvSpPr>
          <p:spPr>
            <a:xfrm>
              <a:off x="838200" y="3429000"/>
              <a:ext cx="5029200" cy="123444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59B86EA0-D5C4-36D2-225A-8B2DFBBE290B}"/>
                </a:ext>
              </a:extLst>
            </p:cNvPr>
            <p:cNvSpPr/>
            <p:nvPr/>
          </p:nvSpPr>
          <p:spPr>
            <a:xfrm>
              <a:off x="838200" y="3429000"/>
              <a:ext cx="64008" cy="1234440"/>
            </a:xfrm>
            <a:prstGeom prst="rect">
              <a:avLst/>
            </a:prstGeom>
            <a:solidFill>
              <a:srgbClr val="4A90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051A87B-F369-8B90-6B28-075A8DA93083}"/>
                </a:ext>
              </a:extLst>
            </p:cNvPr>
            <p:cNvSpPr txBox="1"/>
            <p:nvPr/>
          </p:nvSpPr>
          <p:spPr>
            <a:xfrm>
              <a:off x="1066800" y="3520440"/>
              <a:ext cx="46634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Service-Layer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C111E8E-B4B7-5A72-22B1-E8F8A8670A57}"/>
                </a:ext>
              </a:extLst>
            </p:cNvPr>
            <p:cNvSpPr txBox="1"/>
            <p:nvPr/>
          </p:nvSpPr>
          <p:spPr>
            <a:xfrm>
              <a:off x="1066800" y="3995928"/>
              <a:ext cx="4663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MarketService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 ·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PortfolioService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F8B91B2D-741F-AFD9-9652-B8BB3A230F3E}"/>
              </a:ext>
            </a:extLst>
          </p:cNvPr>
          <p:cNvGrpSpPr/>
          <p:nvPr/>
        </p:nvGrpSpPr>
        <p:grpSpPr>
          <a:xfrm>
            <a:off x="838200" y="4942523"/>
            <a:ext cx="5029200" cy="1234440"/>
            <a:chOff x="838200" y="4974336"/>
            <a:chExt cx="5029200" cy="1234440"/>
          </a:xfrm>
        </p:grpSpPr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9E9EB5CC-1B3A-8A75-45F6-9E3BBE6A2531}"/>
                </a:ext>
              </a:extLst>
            </p:cNvPr>
            <p:cNvSpPr/>
            <p:nvPr/>
          </p:nvSpPr>
          <p:spPr>
            <a:xfrm>
              <a:off x="838200" y="4974336"/>
              <a:ext cx="5029200" cy="123444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805294B-0E3B-1CE5-A8FB-52A6716D7F7E}"/>
                </a:ext>
              </a:extLst>
            </p:cNvPr>
            <p:cNvSpPr/>
            <p:nvPr/>
          </p:nvSpPr>
          <p:spPr>
            <a:xfrm>
              <a:off x="838200" y="4974336"/>
              <a:ext cx="64008" cy="1234440"/>
            </a:xfrm>
            <a:prstGeom prst="rect">
              <a:avLst/>
            </a:prstGeom>
            <a:solidFill>
              <a:srgbClr val="E2B0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D92908B3-0038-CEE0-4756-9F51B917A00A}"/>
                </a:ext>
              </a:extLst>
            </p:cNvPr>
            <p:cNvSpPr txBox="1"/>
            <p:nvPr/>
          </p:nvSpPr>
          <p:spPr>
            <a:xfrm>
              <a:off x="1066800" y="5065776"/>
              <a:ext cx="46634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Model / </a:t>
              </a:r>
              <a:r>
                <a:rPr lang="de-DE" sz="2000" b="1" i="0" noProof="0" dirty="0">
                  <a:solidFill>
                    <a:srgbClr val="CCD6E0"/>
                  </a:solidFill>
                  <a:latin typeface="Segoe UI"/>
                </a:rPr>
                <a:t>Datenbank</a:t>
              </a:r>
              <a:endParaRPr sz="2000" b="1" i="0" dirty="0">
                <a:solidFill>
                  <a:srgbClr val="E2B04A"/>
                </a:solidFill>
                <a:latin typeface="Segoe UI"/>
              </a:endParaRPr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AF22501D-81EC-C886-4733-E331DB1325D5}"/>
                </a:ext>
              </a:extLst>
            </p:cNvPr>
            <p:cNvSpPr txBox="1"/>
            <p:nvPr/>
          </p:nvSpPr>
          <p:spPr>
            <a:xfrm>
              <a:off x="1066800" y="5541264"/>
              <a:ext cx="4663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models/  -  </a:t>
              </a:r>
              <a:r>
                <a:rPr lang="de-DE" sz="1600" b="0" i="0" noProof="0" dirty="0">
                  <a:solidFill>
                    <a:srgbClr val="CCD6E0"/>
                  </a:solidFill>
                  <a:latin typeface="Segoe UI"/>
                </a:rPr>
                <a:t>Datenbanklogik</a:t>
              </a:r>
              <a:endParaRPr sz="1600" b="0" i="0" dirty="0">
                <a:solidFill>
                  <a:srgbClr val="B0B5D0"/>
                </a:solidFill>
                <a:latin typeface="Segoe UI"/>
              </a:endParaRP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81F8ACF-D01A-3F70-25BF-D99ED7F62DB1}"/>
              </a:ext>
            </a:extLst>
          </p:cNvPr>
          <p:cNvGrpSpPr/>
          <p:nvPr/>
        </p:nvGrpSpPr>
        <p:grpSpPr>
          <a:xfrm>
            <a:off x="6864086" y="1825625"/>
            <a:ext cx="4489714" cy="4351338"/>
            <a:chOff x="3512820" y="1188720"/>
            <a:chExt cx="5166360" cy="4480560"/>
          </a:xfrm>
        </p:grpSpPr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12360135-4130-DA98-693B-3A1A81EA04C5}"/>
                </a:ext>
              </a:extLst>
            </p:cNvPr>
            <p:cNvSpPr/>
            <p:nvPr/>
          </p:nvSpPr>
          <p:spPr>
            <a:xfrm>
              <a:off x="3512820" y="1188720"/>
              <a:ext cx="5166360" cy="448056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E0CD0EDB-7530-2BD8-9972-D3044B5C818D}"/>
                </a:ext>
              </a:extLst>
            </p:cNvPr>
            <p:cNvSpPr/>
            <p:nvPr/>
          </p:nvSpPr>
          <p:spPr>
            <a:xfrm>
              <a:off x="3512820" y="1188720"/>
              <a:ext cx="64008" cy="4480560"/>
            </a:xfrm>
            <a:prstGeom prst="rect">
              <a:avLst/>
            </a:prstGeom>
            <a:solidFill>
              <a:srgbClr val="C06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F73F51E4-CC1D-2295-6B1D-411D13F7B0B6}"/>
                </a:ext>
              </a:extLst>
            </p:cNvPr>
            <p:cNvSpPr txBox="1"/>
            <p:nvPr/>
          </p:nvSpPr>
          <p:spPr>
            <a:xfrm>
              <a:off x="3741420" y="1280160"/>
              <a:ext cx="4754880" cy="411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View</a:t>
              </a:r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28DC5A33-83C1-8199-8374-ABC38DAD6C19}"/>
                </a:ext>
              </a:extLst>
            </p:cNvPr>
            <p:cNvSpPr txBox="1"/>
            <p:nvPr/>
          </p:nvSpPr>
          <p:spPr>
            <a:xfrm>
              <a:off x="3741420" y="1719072"/>
              <a:ext cx="4754880" cy="348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templates/  -  HTML-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Darstellung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2E0825C3-1AD5-539E-58F5-DCA012822471}"/>
                </a:ext>
              </a:extLst>
            </p:cNvPr>
            <p:cNvSpPr txBox="1"/>
            <p:nvPr/>
          </p:nvSpPr>
          <p:spPr>
            <a:xfrm>
              <a:off x="3832860" y="2194560"/>
              <a:ext cx="4572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base.html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4" name="TextBox 22">
              <a:extLst>
                <a:ext uri="{FF2B5EF4-FFF2-40B4-BE49-F238E27FC236}">
                  <a16:creationId xmlns:a16="http://schemas.microsoft.com/office/drawing/2014/main" id="{2FDDE9D1-50D6-5A6D-ED7F-3D6236DE64BE}"/>
                </a:ext>
              </a:extLst>
            </p:cNvPr>
            <p:cNvSpPr txBox="1"/>
            <p:nvPr/>
          </p:nvSpPr>
          <p:spPr>
            <a:xfrm>
              <a:off x="3832860" y="2542032"/>
              <a:ext cx="4572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dashboard.html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5" name="TextBox 23">
              <a:extLst>
                <a:ext uri="{FF2B5EF4-FFF2-40B4-BE49-F238E27FC236}">
                  <a16:creationId xmlns:a16="http://schemas.microsoft.com/office/drawing/2014/main" id="{5F2859F4-D4A8-68B0-07F5-FEF773426CED}"/>
                </a:ext>
              </a:extLst>
            </p:cNvPr>
            <p:cNvSpPr txBox="1"/>
            <p:nvPr/>
          </p:nvSpPr>
          <p:spPr>
            <a:xfrm>
              <a:off x="3832860" y="2889504"/>
              <a:ext cx="4572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portfolio.html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0434B0AD-FA27-D44C-9C82-F117759B4894}"/>
                </a:ext>
              </a:extLst>
            </p:cNvPr>
            <p:cNvSpPr txBox="1"/>
            <p:nvPr/>
          </p:nvSpPr>
          <p:spPr>
            <a:xfrm>
              <a:off x="3832860" y="3236976"/>
              <a:ext cx="4572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transactions.html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7" name="TextBox 25">
              <a:extLst>
                <a:ext uri="{FF2B5EF4-FFF2-40B4-BE49-F238E27FC236}">
                  <a16:creationId xmlns:a16="http://schemas.microsoft.com/office/drawing/2014/main" id="{7D35D347-3A4A-A1A8-F26D-A663935327F2}"/>
                </a:ext>
              </a:extLst>
            </p:cNvPr>
            <p:cNvSpPr txBox="1"/>
            <p:nvPr/>
          </p:nvSpPr>
          <p:spPr>
            <a:xfrm>
              <a:off x="3832859" y="3584448"/>
              <a:ext cx="4572001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coin_detail.html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8" name="TextBox 26">
              <a:extLst>
                <a:ext uri="{FF2B5EF4-FFF2-40B4-BE49-F238E27FC236}">
                  <a16:creationId xmlns:a16="http://schemas.microsoft.com/office/drawing/2014/main" id="{289925FD-6AB1-984F-EF0D-82E11EBCDEDE}"/>
                </a:ext>
              </a:extLst>
            </p:cNvPr>
            <p:cNvSpPr txBox="1"/>
            <p:nvPr/>
          </p:nvSpPr>
          <p:spPr>
            <a:xfrm>
              <a:off x="3832860" y="3931919"/>
              <a:ext cx="457200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home.html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 ·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profile.html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2966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6A138-9B53-85B0-1A63-505152ED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</a:rPr>
              <a:t>Konkrete Architekturentscheidungen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2732058-B90E-E106-B42E-218F1987D50C}"/>
              </a:ext>
            </a:extLst>
          </p:cNvPr>
          <p:cNvGrpSpPr/>
          <p:nvPr/>
        </p:nvGrpSpPr>
        <p:grpSpPr>
          <a:xfrm>
            <a:off x="476693" y="1646555"/>
            <a:ext cx="3566160" cy="4846320"/>
            <a:chOff x="838200" y="1646555"/>
            <a:chExt cx="3566160" cy="48463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E8A6C3F-9218-E44E-4D4B-40AAC3259926}"/>
                </a:ext>
              </a:extLst>
            </p:cNvPr>
            <p:cNvSpPr/>
            <p:nvPr/>
          </p:nvSpPr>
          <p:spPr>
            <a:xfrm>
              <a:off x="838200" y="1646555"/>
              <a:ext cx="35661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FF512B-7CFE-A7DD-5DF1-03089992E3F5}"/>
                </a:ext>
              </a:extLst>
            </p:cNvPr>
            <p:cNvSpPr/>
            <p:nvPr/>
          </p:nvSpPr>
          <p:spPr>
            <a:xfrm>
              <a:off x="838200" y="1646555"/>
              <a:ext cx="3566160" cy="64008"/>
            </a:xfrm>
            <a:prstGeom prst="rect">
              <a:avLst/>
            </a:prstGeom>
            <a:solidFill>
              <a:srgbClr val="38C7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501018-251A-0D7F-2A26-E35430ED71F8}"/>
                </a:ext>
              </a:extLst>
            </p:cNvPr>
            <p:cNvSpPr txBox="1"/>
            <p:nvPr/>
          </p:nvSpPr>
          <p:spPr>
            <a:xfrm>
              <a:off x="947928" y="1756283"/>
              <a:ext cx="33832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i="0" dirty="0" err="1">
                  <a:solidFill>
                    <a:srgbClr val="CCD6E0"/>
                  </a:solidFill>
                  <a:latin typeface="Segoe UI"/>
                </a:rPr>
                <a:t>Zentrale</a:t>
              </a:r>
              <a:r>
                <a:rPr sz="1600" b="1" i="0" dirty="0">
                  <a:solidFill>
                    <a:srgbClr val="CCD6E0"/>
                  </a:solidFill>
                  <a:latin typeface="Segoe UI"/>
                </a:rPr>
                <a:t> Da</a:t>
              </a:r>
              <a:r>
                <a:rPr lang="de-DE" sz="1600" b="1" i="0" dirty="0" err="1">
                  <a:solidFill>
                    <a:srgbClr val="CCD6E0"/>
                  </a:solidFill>
                  <a:latin typeface="Segoe UI"/>
                </a:rPr>
                <a:t>tenbank</a:t>
              </a:r>
              <a:r>
                <a:rPr sz="1600" b="1" i="0" dirty="0">
                  <a:solidFill>
                    <a:srgbClr val="CCD6E0"/>
                  </a:solidFill>
                  <a:latin typeface="Segoe UI"/>
                </a:rPr>
                <a:t>-Klasse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5764FB-DF4D-A376-43B6-A0127471A389}"/>
                </a:ext>
              </a:extLst>
            </p:cNvPr>
            <p:cNvSpPr txBox="1"/>
            <p:nvPr/>
          </p:nvSpPr>
          <p:spPr>
            <a:xfrm>
              <a:off x="975360" y="2423795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Einzige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Verbindungsquelle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f</a:t>
              </a:r>
              <a:r>
                <a:rPr lang="de-DE" sz="1400" b="0" i="0" dirty="0" err="1">
                  <a:solidFill>
                    <a:srgbClr val="CCD6E0"/>
                  </a:solidFill>
                  <a:latin typeface="Segoe UI"/>
                </a:rPr>
                <a:t>ü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r alle Models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8E4A5A-DC0B-19CC-F6C6-E91FE65F33A4}"/>
                </a:ext>
              </a:extLst>
            </p:cNvPr>
            <p:cNvSpPr txBox="1"/>
            <p:nvPr/>
          </p:nvSpPr>
          <p:spPr>
            <a:xfrm>
              <a:off x="975360" y="3082163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lang="de-DE" sz="1400" dirty="0">
                  <a:solidFill>
                    <a:srgbClr val="CCD6E0"/>
                  </a:solidFill>
                  <a:latin typeface="Segoe UI"/>
                </a:rPr>
                <a:t>Ä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nderungen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am DB-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Pfad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nur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an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einer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Stelle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ADBBE1-D5DA-CC17-D981-84113A7AD84D}"/>
                </a:ext>
              </a:extLst>
            </p:cNvPr>
            <p:cNvSpPr txBox="1"/>
            <p:nvPr/>
          </p:nvSpPr>
          <p:spPr>
            <a:xfrm>
              <a:off x="975360" y="3740530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database.py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verwaltet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sqlite3.connect()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2FFD3C2-9DF4-F2C1-9CE2-0CC2F845F15A}"/>
              </a:ext>
            </a:extLst>
          </p:cNvPr>
          <p:cNvGrpSpPr/>
          <p:nvPr/>
        </p:nvGrpSpPr>
        <p:grpSpPr>
          <a:xfrm>
            <a:off x="8149147" y="1646555"/>
            <a:ext cx="3566160" cy="4846320"/>
            <a:chOff x="4312920" y="1005840"/>
            <a:chExt cx="3566160" cy="4846320"/>
          </a:xfrm>
        </p:grpSpPr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89B47E61-0651-8920-D1B4-186EF465CCF9}"/>
                </a:ext>
              </a:extLst>
            </p:cNvPr>
            <p:cNvSpPr/>
            <p:nvPr/>
          </p:nvSpPr>
          <p:spPr>
            <a:xfrm>
              <a:off x="4312920" y="1005840"/>
              <a:ext cx="35661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B958DCD9-D3BE-CC0A-61E0-21CD3D35D57D}"/>
                </a:ext>
              </a:extLst>
            </p:cNvPr>
            <p:cNvSpPr/>
            <p:nvPr/>
          </p:nvSpPr>
          <p:spPr>
            <a:xfrm>
              <a:off x="4312920" y="1005840"/>
              <a:ext cx="3566160" cy="64008"/>
            </a:xfrm>
            <a:prstGeom prst="rect">
              <a:avLst/>
            </a:prstGeom>
            <a:solidFill>
              <a:srgbClr val="E2B0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D880CB1E-A11C-8FA3-B6FB-80B39A2DE598}"/>
                </a:ext>
              </a:extLst>
            </p:cNvPr>
            <p:cNvSpPr txBox="1"/>
            <p:nvPr/>
          </p:nvSpPr>
          <p:spPr>
            <a:xfrm>
              <a:off x="4422648" y="1115568"/>
              <a:ext cx="33832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i="0" dirty="0">
                  <a:solidFill>
                    <a:srgbClr val="CCD6E0"/>
                  </a:solidFill>
                  <a:latin typeface="Segoe UI"/>
                </a:rPr>
                <a:t>Thin Controller - Fat Service</a:t>
              </a:r>
            </a:p>
          </p:txBody>
        </p:sp>
        <p:sp>
          <p:nvSpPr>
            <p:cNvPr id="14" name="TextBox 18">
              <a:extLst>
                <a:ext uri="{FF2B5EF4-FFF2-40B4-BE49-F238E27FC236}">
                  <a16:creationId xmlns:a16="http://schemas.microsoft.com/office/drawing/2014/main" id="{1623EF19-DE8F-6A8F-2DF9-8234ECD69201}"/>
                </a:ext>
              </a:extLst>
            </p:cNvPr>
            <p:cNvSpPr txBox="1"/>
            <p:nvPr/>
          </p:nvSpPr>
          <p:spPr>
            <a:xfrm>
              <a:off x="4450080" y="1783080"/>
              <a:ext cx="3337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Routen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enthalten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keine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Gesch</a:t>
              </a:r>
              <a:r>
                <a:rPr lang="de-DE" sz="1400" b="0" i="0" dirty="0">
                  <a:solidFill>
                    <a:srgbClr val="CCD6E0"/>
                  </a:solidFill>
                  <a:latin typeface="Segoe UI"/>
                </a:rPr>
                <a:t>ä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ftslogik</a:t>
              </a:r>
              <a:endParaRPr sz="1400" b="0" i="0" dirty="0">
                <a:solidFill>
                  <a:srgbClr val="1A2E44"/>
                </a:solidFill>
                <a:latin typeface="Segoe UI"/>
              </a:endParaRPr>
            </a:p>
          </p:txBody>
        </p:sp>
        <p:sp>
          <p:nvSpPr>
            <p:cNvPr id="15" name="TextBox 19">
              <a:extLst>
                <a:ext uri="{FF2B5EF4-FFF2-40B4-BE49-F238E27FC236}">
                  <a16:creationId xmlns:a16="http://schemas.microsoft.com/office/drawing/2014/main" id="{B954939B-F040-0C0A-DBD3-2BED3253D2D1}"/>
                </a:ext>
              </a:extLst>
            </p:cNvPr>
            <p:cNvSpPr txBox="1"/>
            <p:nvPr/>
          </p:nvSpPr>
          <p:spPr>
            <a:xfrm>
              <a:off x="4450080" y="2441448"/>
              <a:ext cx="3337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Gesamte Logik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liegt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im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Service-Layer</a:t>
              </a:r>
            </a:p>
          </p:txBody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F9F07C4B-06E9-6FA4-280C-6C68EE3951E0}"/>
                </a:ext>
              </a:extLst>
            </p:cNvPr>
            <p:cNvSpPr txBox="1"/>
            <p:nvPr/>
          </p:nvSpPr>
          <p:spPr>
            <a:xfrm>
              <a:off x="4450080" y="3099815"/>
              <a:ext cx="3337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app.py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ruft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nur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Service-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Methoden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auf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43D306B3-5BF0-1676-0AAB-B70F977385F7}"/>
              </a:ext>
            </a:extLst>
          </p:cNvPr>
          <p:cNvGrpSpPr/>
          <p:nvPr/>
        </p:nvGrpSpPr>
        <p:grpSpPr>
          <a:xfrm>
            <a:off x="4312918" y="1646555"/>
            <a:ext cx="3675892" cy="4846320"/>
            <a:chOff x="4312916" y="1005840"/>
            <a:chExt cx="3675892" cy="4846320"/>
          </a:xfrm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DEA328F7-B9D8-1AEA-DAF5-FB801E8482F4}"/>
                </a:ext>
              </a:extLst>
            </p:cNvPr>
            <p:cNvSpPr/>
            <p:nvPr/>
          </p:nvSpPr>
          <p:spPr>
            <a:xfrm>
              <a:off x="4312920" y="1005840"/>
              <a:ext cx="35661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EDF7CCE4-12EC-0867-FAAB-8BCDC61D1F8B}"/>
                </a:ext>
              </a:extLst>
            </p:cNvPr>
            <p:cNvSpPr/>
            <p:nvPr/>
          </p:nvSpPr>
          <p:spPr>
            <a:xfrm>
              <a:off x="4312920" y="1005840"/>
              <a:ext cx="3566160" cy="64008"/>
            </a:xfrm>
            <a:prstGeom prst="rect">
              <a:avLst/>
            </a:prstGeom>
            <a:solidFill>
              <a:srgbClr val="4A90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38AADA07-6BD8-28B6-8F71-13EDDDD23C80}"/>
                </a:ext>
              </a:extLst>
            </p:cNvPr>
            <p:cNvSpPr txBox="1"/>
            <p:nvPr/>
          </p:nvSpPr>
          <p:spPr>
            <a:xfrm>
              <a:off x="4312916" y="1115568"/>
              <a:ext cx="3675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i="0" dirty="0">
                  <a:solidFill>
                    <a:srgbClr val="CCD6E0"/>
                  </a:solidFill>
                  <a:latin typeface="Segoe UI"/>
                </a:rPr>
                <a:t>Session-</a:t>
              </a:r>
              <a:r>
                <a:rPr sz="1600" b="1" i="0" dirty="0" err="1">
                  <a:solidFill>
                    <a:srgbClr val="CCD6E0"/>
                  </a:solidFill>
                  <a:latin typeface="Segoe UI"/>
                </a:rPr>
                <a:t>basierte</a:t>
              </a:r>
              <a:r>
                <a:rPr sz="1600" b="1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1" i="0" dirty="0" err="1">
                  <a:solidFill>
                    <a:srgbClr val="CCD6E0"/>
                  </a:solidFill>
                  <a:latin typeface="Segoe UI"/>
                </a:rPr>
                <a:t>Authentifizierung</a:t>
              </a:r>
              <a:endParaRPr sz="1600" b="1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34D892CA-2788-43EC-2896-3CBD8156A903}"/>
                </a:ext>
              </a:extLst>
            </p:cNvPr>
            <p:cNvSpPr txBox="1"/>
            <p:nvPr/>
          </p:nvSpPr>
          <p:spPr>
            <a:xfrm>
              <a:off x="4450080" y="1783080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acc_id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in der Flask-Session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gespeichert</a:t>
              </a:r>
              <a:endParaRPr sz="14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8A18FFF3-2A45-E819-C893-D6DCF255B3C0}"/>
                </a:ext>
              </a:extLst>
            </p:cNvPr>
            <p:cNvSpPr txBox="1"/>
            <p:nvPr/>
          </p:nvSpPr>
          <p:spPr>
            <a:xfrm>
              <a:off x="4450080" y="2441448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•  Gesch</a:t>
              </a:r>
              <a:r>
                <a:rPr lang="de-DE" sz="1400" b="0" i="0" dirty="0" err="1">
                  <a:solidFill>
                    <a:srgbClr val="CCD6E0"/>
                  </a:solidFill>
                  <a:latin typeface="Segoe UI"/>
                </a:rPr>
                <a:t>ü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tzte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Routen pr</a:t>
              </a:r>
              <a:r>
                <a:rPr lang="de-DE" sz="1400" b="0" i="0" dirty="0" err="1">
                  <a:solidFill>
                    <a:srgbClr val="CCD6E0"/>
                  </a:solidFill>
                  <a:latin typeface="Segoe UI"/>
                </a:rPr>
                <a:t>ü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fen Session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vor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Rendern</a:t>
              </a:r>
              <a:endParaRPr sz="1400" b="0" i="0" dirty="0">
                <a:solidFill>
                  <a:srgbClr val="1A2E44"/>
                </a:solidFill>
                <a:latin typeface="Segoe UI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B30F048A-CEBE-B5F8-355C-6690BE5F8AB0}"/>
                </a:ext>
              </a:extLst>
            </p:cNvPr>
            <p:cNvSpPr txBox="1"/>
            <p:nvPr/>
          </p:nvSpPr>
          <p:spPr>
            <a:xfrm>
              <a:off x="4450080" y="3099815"/>
              <a:ext cx="3337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Weiterleitung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zu</a:t>
              </a:r>
              <a:r>
                <a:rPr sz="1400" b="0" i="0" dirty="0">
                  <a:solidFill>
                    <a:srgbClr val="CCD6E0"/>
                  </a:solidFill>
                  <a:latin typeface="Segoe UI"/>
                </a:rPr>
                <a:t> /profile falls nicht </a:t>
              </a:r>
              <a:r>
                <a:rPr sz="1400" b="0" i="0" dirty="0" err="1">
                  <a:solidFill>
                    <a:srgbClr val="CCD6E0"/>
                  </a:solidFill>
                  <a:latin typeface="Segoe UI"/>
                </a:rPr>
                <a:t>eingeloggt</a:t>
              </a:r>
              <a:endParaRPr sz="1400" b="0" i="0" dirty="0">
                <a:solidFill>
                  <a:srgbClr val="1A2E44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604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A1C73-FC17-AF6D-A56B-AAFCD13D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00D4FF"/>
                </a:solidFill>
              </a:rPr>
              <a:t>Datenbankaufbau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536814C-44A2-FDCC-FE1B-B255C0A0E4F4}"/>
              </a:ext>
            </a:extLst>
          </p:cNvPr>
          <p:cNvGrpSpPr/>
          <p:nvPr/>
        </p:nvGrpSpPr>
        <p:grpSpPr>
          <a:xfrm>
            <a:off x="152398" y="1825625"/>
            <a:ext cx="2743200" cy="4480560"/>
            <a:chOff x="838200" y="1825625"/>
            <a:chExt cx="2743200" cy="44805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6CA4EC-73DC-755A-1C5B-45282DEB3C2F}"/>
                </a:ext>
              </a:extLst>
            </p:cNvPr>
            <p:cNvSpPr/>
            <p:nvPr/>
          </p:nvSpPr>
          <p:spPr>
            <a:xfrm>
              <a:off x="838200" y="1825625"/>
              <a:ext cx="2743200" cy="448056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23D379-36E0-71FB-A5ED-CA96D07C800D}"/>
                </a:ext>
              </a:extLst>
            </p:cNvPr>
            <p:cNvSpPr/>
            <p:nvPr/>
          </p:nvSpPr>
          <p:spPr>
            <a:xfrm>
              <a:off x="838200" y="1825625"/>
              <a:ext cx="2743200" cy="64008"/>
            </a:xfrm>
            <a:prstGeom prst="rect">
              <a:avLst/>
            </a:prstGeom>
            <a:solidFill>
              <a:srgbClr val="38C7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5D088E-E7AB-04ED-56CA-0767A33072A6}"/>
                </a:ext>
              </a:extLst>
            </p:cNvPr>
            <p:cNvSpPr txBox="1"/>
            <p:nvPr/>
          </p:nvSpPr>
          <p:spPr>
            <a:xfrm>
              <a:off x="947928" y="1935353"/>
              <a:ext cx="2560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accounts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B12103-1DEE-BE5F-C2CE-D9F4F01BBBF1}"/>
                </a:ext>
              </a:extLst>
            </p:cNvPr>
            <p:cNvSpPr txBox="1"/>
            <p:nvPr/>
          </p:nvSpPr>
          <p:spPr>
            <a:xfrm>
              <a:off x="975360" y="2511425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id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A10EF0-845D-0EEF-C231-A09ED8E6DAFC}"/>
                </a:ext>
              </a:extLst>
            </p:cNvPr>
            <p:cNvSpPr txBox="1"/>
            <p:nvPr/>
          </p:nvSpPr>
          <p:spPr>
            <a:xfrm>
              <a:off x="975360" y="2932049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name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A4FE74-3A5D-3739-1146-9FF272F7885C}"/>
                </a:ext>
              </a:extLst>
            </p:cNvPr>
            <p:cNvSpPr txBox="1"/>
            <p:nvPr/>
          </p:nvSpPr>
          <p:spPr>
            <a:xfrm>
              <a:off x="975360" y="3352673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pw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DEB194-D678-5A75-8AB9-A8EAA60EA02C}"/>
                </a:ext>
              </a:extLst>
            </p:cNvPr>
            <p:cNvSpPr txBox="1"/>
            <p:nvPr/>
          </p:nvSpPr>
          <p:spPr>
            <a:xfrm>
              <a:off x="975360" y="3773297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created_at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03A1A53-8648-3415-2CD5-17B048CA3D70}"/>
              </a:ext>
            </a:extLst>
          </p:cNvPr>
          <p:cNvGrpSpPr/>
          <p:nvPr/>
        </p:nvGrpSpPr>
        <p:grpSpPr>
          <a:xfrm>
            <a:off x="3183635" y="1825625"/>
            <a:ext cx="2743200" cy="4480560"/>
            <a:chOff x="4724400" y="1188720"/>
            <a:chExt cx="2743200" cy="4480560"/>
          </a:xfrm>
        </p:grpSpPr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B70653F1-4C71-A08E-9CC8-E10C7A128AC9}"/>
                </a:ext>
              </a:extLst>
            </p:cNvPr>
            <p:cNvSpPr/>
            <p:nvPr/>
          </p:nvSpPr>
          <p:spPr>
            <a:xfrm>
              <a:off x="4724400" y="1188720"/>
              <a:ext cx="2743200" cy="448056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236FB2F1-EE5E-CAE6-DB16-2ED5EFEC7003}"/>
                </a:ext>
              </a:extLst>
            </p:cNvPr>
            <p:cNvSpPr/>
            <p:nvPr/>
          </p:nvSpPr>
          <p:spPr>
            <a:xfrm>
              <a:off x="4724400" y="1188720"/>
              <a:ext cx="2743200" cy="64008"/>
            </a:xfrm>
            <a:prstGeom prst="rect">
              <a:avLst/>
            </a:prstGeom>
            <a:solidFill>
              <a:srgbClr val="4A90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583E026E-5DBE-F3FB-0C2A-9AB6225D00F2}"/>
                </a:ext>
              </a:extLst>
            </p:cNvPr>
            <p:cNvSpPr txBox="1"/>
            <p:nvPr/>
          </p:nvSpPr>
          <p:spPr>
            <a:xfrm>
              <a:off x="4834128" y="1298448"/>
              <a:ext cx="2560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coins</a:t>
              </a: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DD62204D-35CE-4994-E48F-310FB9364598}"/>
                </a:ext>
              </a:extLst>
            </p:cNvPr>
            <p:cNvSpPr txBox="1"/>
            <p:nvPr/>
          </p:nvSpPr>
          <p:spPr>
            <a:xfrm>
              <a:off x="4861560" y="1874520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id</a:t>
              </a: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322A0E8F-512E-E2DC-0703-6F66C4744DFD}"/>
                </a:ext>
              </a:extLst>
            </p:cNvPr>
            <p:cNvSpPr txBox="1"/>
            <p:nvPr/>
          </p:nvSpPr>
          <p:spPr>
            <a:xfrm>
              <a:off x="4861560" y="2295144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name</a:t>
              </a:r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E24E9047-6E37-A5FC-5169-F5A97B134D0D}"/>
                </a:ext>
              </a:extLst>
            </p:cNvPr>
            <p:cNvSpPr txBox="1"/>
            <p:nvPr/>
          </p:nvSpPr>
          <p:spPr>
            <a:xfrm>
              <a:off x="4861560" y="2715768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symbol</a:t>
              </a:r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ACF7C02E-513F-B69B-B78D-32DBFBAF212A}"/>
                </a:ext>
              </a:extLst>
            </p:cNvPr>
            <p:cNvSpPr txBox="1"/>
            <p:nvPr/>
          </p:nvSpPr>
          <p:spPr>
            <a:xfrm>
              <a:off x="4861560" y="3136392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current_price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252CEBC7-48B1-E6D2-BD72-0AE8FCA853B7}"/>
                </a:ext>
              </a:extLst>
            </p:cNvPr>
            <p:cNvSpPr txBox="1"/>
            <p:nvPr/>
          </p:nvSpPr>
          <p:spPr>
            <a:xfrm>
              <a:off x="4861560" y="3557016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market_cap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B539F378-64BD-C7E9-C84D-8892FF243706}"/>
                </a:ext>
              </a:extLst>
            </p:cNvPr>
            <p:cNvSpPr txBox="1"/>
            <p:nvPr/>
          </p:nvSpPr>
          <p:spPr>
            <a:xfrm>
              <a:off x="4861560" y="3977640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market_cap_rank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8B8967CB-82C8-7974-8EDA-EAAB309CA7C0}"/>
                </a:ext>
              </a:extLst>
            </p:cNvPr>
            <p:cNvSpPr txBox="1"/>
            <p:nvPr/>
          </p:nvSpPr>
          <p:spPr>
            <a:xfrm>
              <a:off x="4861560" y="4398264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image (BLOB)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341E5A96-2100-BB37-F1DC-DF8CED82D82E}"/>
              </a:ext>
            </a:extLst>
          </p:cNvPr>
          <p:cNvGrpSpPr/>
          <p:nvPr/>
        </p:nvGrpSpPr>
        <p:grpSpPr>
          <a:xfrm>
            <a:off x="6265165" y="1825625"/>
            <a:ext cx="2743200" cy="4480560"/>
            <a:chOff x="6781798" y="1825625"/>
            <a:chExt cx="2743200" cy="4480560"/>
          </a:xfrm>
        </p:grpSpPr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79EA0F3E-77E4-FFCD-1566-8E934F4EACBC}"/>
                </a:ext>
              </a:extLst>
            </p:cNvPr>
            <p:cNvSpPr/>
            <p:nvPr/>
          </p:nvSpPr>
          <p:spPr>
            <a:xfrm>
              <a:off x="6781798" y="1825625"/>
              <a:ext cx="2743200" cy="448056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E6C5E06A-AD55-64C9-404C-8557AFCD6E68}"/>
                </a:ext>
              </a:extLst>
            </p:cNvPr>
            <p:cNvSpPr/>
            <p:nvPr/>
          </p:nvSpPr>
          <p:spPr>
            <a:xfrm>
              <a:off x="6781798" y="1825625"/>
              <a:ext cx="2743200" cy="64008"/>
            </a:xfrm>
            <a:prstGeom prst="rect">
              <a:avLst/>
            </a:prstGeom>
            <a:solidFill>
              <a:srgbClr val="E2B0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TextBox 22">
              <a:extLst>
                <a:ext uri="{FF2B5EF4-FFF2-40B4-BE49-F238E27FC236}">
                  <a16:creationId xmlns:a16="http://schemas.microsoft.com/office/drawing/2014/main" id="{D4C9B78A-2555-0E98-4525-3ECB63B694B9}"/>
                </a:ext>
              </a:extLst>
            </p:cNvPr>
            <p:cNvSpPr txBox="1"/>
            <p:nvPr/>
          </p:nvSpPr>
          <p:spPr>
            <a:xfrm>
              <a:off x="6891526" y="1935353"/>
              <a:ext cx="2560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transactions</a:t>
              </a:r>
            </a:p>
          </p:txBody>
        </p: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BD00771D-D473-178E-05A1-4A9F50C323A5}"/>
                </a:ext>
              </a:extLst>
            </p:cNvPr>
            <p:cNvSpPr txBox="1"/>
            <p:nvPr/>
          </p:nvSpPr>
          <p:spPr>
            <a:xfrm>
              <a:off x="6918958" y="2511425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id</a:t>
              </a:r>
            </a:p>
          </p:txBody>
        </p:sp>
        <p:sp>
          <p:nvSpPr>
            <p:cNvPr id="27" name="TextBox 24">
              <a:extLst>
                <a:ext uri="{FF2B5EF4-FFF2-40B4-BE49-F238E27FC236}">
                  <a16:creationId xmlns:a16="http://schemas.microsoft.com/office/drawing/2014/main" id="{60E20256-B212-87C8-5952-F01BC5BBF7B0}"/>
                </a:ext>
              </a:extLst>
            </p:cNvPr>
            <p:cNvSpPr txBox="1"/>
            <p:nvPr/>
          </p:nvSpPr>
          <p:spPr>
            <a:xfrm>
              <a:off x="6918958" y="2932049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coin_id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11202011-FEE5-731A-D3BE-31D922CB3979}"/>
                </a:ext>
              </a:extLst>
            </p:cNvPr>
            <p:cNvSpPr txBox="1"/>
            <p:nvPr/>
          </p:nvSpPr>
          <p:spPr>
            <a:xfrm>
              <a:off x="6918958" y="3352673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acc_id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29" name="TextBox 26">
              <a:extLst>
                <a:ext uri="{FF2B5EF4-FFF2-40B4-BE49-F238E27FC236}">
                  <a16:creationId xmlns:a16="http://schemas.microsoft.com/office/drawing/2014/main" id="{03F74E92-7CB0-E9F1-2D3D-CBEC900CEE8F}"/>
                </a:ext>
              </a:extLst>
            </p:cNvPr>
            <p:cNvSpPr txBox="1"/>
            <p:nvPr/>
          </p:nvSpPr>
          <p:spPr>
            <a:xfrm>
              <a:off x="6918958" y="3773297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price</a:t>
              </a:r>
            </a:p>
          </p:txBody>
        </p:sp>
        <p:sp>
          <p:nvSpPr>
            <p:cNvPr id="30" name="TextBox 27">
              <a:extLst>
                <a:ext uri="{FF2B5EF4-FFF2-40B4-BE49-F238E27FC236}">
                  <a16:creationId xmlns:a16="http://schemas.microsoft.com/office/drawing/2014/main" id="{858CDEB4-7042-2EDC-BA38-364E101DB2BE}"/>
                </a:ext>
              </a:extLst>
            </p:cNvPr>
            <p:cNvSpPr txBox="1"/>
            <p:nvPr/>
          </p:nvSpPr>
          <p:spPr>
            <a:xfrm>
              <a:off x="6918958" y="4193921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amount</a:t>
              </a:r>
            </a:p>
          </p:txBody>
        </p:sp>
        <p:sp>
          <p:nvSpPr>
            <p:cNvPr id="31" name="TextBox 28">
              <a:extLst>
                <a:ext uri="{FF2B5EF4-FFF2-40B4-BE49-F238E27FC236}">
                  <a16:creationId xmlns:a16="http://schemas.microsoft.com/office/drawing/2014/main" id="{BFB7DA64-7E32-47D3-A646-CA4F4BF61F58}"/>
                </a:ext>
              </a:extLst>
            </p:cNvPr>
            <p:cNvSpPr txBox="1"/>
            <p:nvPr/>
          </p:nvSpPr>
          <p:spPr>
            <a:xfrm>
              <a:off x="6918958" y="4614545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type (BUY/SELL)</a:t>
              </a:r>
            </a:p>
          </p:txBody>
        </p:sp>
        <p:sp>
          <p:nvSpPr>
            <p:cNvPr id="32" name="TextBox 29">
              <a:extLst>
                <a:ext uri="{FF2B5EF4-FFF2-40B4-BE49-F238E27FC236}">
                  <a16:creationId xmlns:a16="http://schemas.microsoft.com/office/drawing/2014/main" id="{63AC6061-57A1-19B1-70F6-79F601C6CF11}"/>
                </a:ext>
              </a:extLst>
            </p:cNvPr>
            <p:cNvSpPr txBox="1"/>
            <p:nvPr/>
          </p:nvSpPr>
          <p:spPr>
            <a:xfrm>
              <a:off x="6918958" y="5035169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timestamp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9FFE9EE-9119-C6B6-E617-1E5BEF6BDF40}"/>
              </a:ext>
            </a:extLst>
          </p:cNvPr>
          <p:cNvGrpSpPr/>
          <p:nvPr/>
        </p:nvGrpSpPr>
        <p:grpSpPr>
          <a:xfrm>
            <a:off x="9296402" y="1825625"/>
            <a:ext cx="2743200" cy="4480560"/>
            <a:chOff x="9525001" y="1825625"/>
            <a:chExt cx="2743200" cy="4480560"/>
          </a:xfrm>
        </p:grpSpPr>
        <p:sp>
          <p:nvSpPr>
            <p:cNvPr id="34" name="Rectangle 30">
              <a:extLst>
                <a:ext uri="{FF2B5EF4-FFF2-40B4-BE49-F238E27FC236}">
                  <a16:creationId xmlns:a16="http://schemas.microsoft.com/office/drawing/2014/main" id="{E63A667A-650C-5109-9589-E8585A834756}"/>
                </a:ext>
              </a:extLst>
            </p:cNvPr>
            <p:cNvSpPr/>
            <p:nvPr/>
          </p:nvSpPr>
          <p:spPr>
            <a:xfrm>
              <a:off x="9525001" y="1825625"/>
              <a:ext cx="2743200" cy="448056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5" name="Rectangle 31">
              <a:extLst>
                <a:ext uri="{FF2B5EF4-FFF2-40B4-BE49-F238E27FC236}">
                  <a16:creationId xmlns:a16="http://schemas.microsoft.com/office/drawing/2014/main" id="{EDCACB1F-62D2-653C-0A39-C06241668B5A}"/>
                </a:ext>
              </a:extLst>
            </p:cNvPr>
            <p:cNvSpPr/>
            <p:nvPr/>
          </p:nvSpPr>
          <p:spPr>
            <a:xfrm>
              <a:off x="9525001" y="1825625"/>
              <a:ext cx="2743200" cy="64008"/>
            </a:xfrm>
            <a:prstGeom prst="rect">
              <a:avLst/>
            </a:prstGeom>
            <a:solidFill>
              <a:srgbClr val="C06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66219231-1402-FD81-FF63-402B3D1343FD}"/>
                </a:ext>
              </a:extLst>
            </p:cNvPr>
            <p:cNvSpPr txBox="1"/>
            <p:nvPr/>
          </p:nvSpPr>
          <p:spPr>
            <a:xfrm>
              <a:off x="9634729" y="1935353"/>
              <a:ext cx="2560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2000" b="1" i="0" dirty="0">
                  <a:solidFill>
                    <a:srgbClr val="CCD6E0"/>
                  </a:solidFill>
                  <a:latin typeface="Segoe UI"/>
                </a:rPr>
                <a:t>[coin]_history</a:t>
              </a:r>
            </a:p>
          </p:txBody>
        </p: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5C3462B0-4739-17FB-B7B7-CF6933B4F8AF}"/>
                </a:ext>
              </a:extLst>
            </p:cNvPr>
            <p:cNvSpPr txBox="1"/>
            <p:nvPr/>
          </p:nvSpPr>
          <p:spPr>
            <a:xfrm>
              <a:off x="9662161" y="2511425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timestamp_ms</a:t>
              </a:r>
              <a:endParaRPr sz="1600" b="0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19D95595-C6CA-D15C-37D4-D84450E3C8D5}"/>
                </a:ext>
              </a:extLst>
            </p:cNvPr>
            <p:cNvSpPr txBox="1"/>
            <p:nvPr/>
          </p:nvSpPr>
          <p:spPr>
            <a:xfrm>
              <a:off x="9662161" y="2932049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price</a:t>
              </a:r>
            </a:p>
          </p:txBody>
        </p:sp>
        <p:sp>
          <p:nvSpPr>
            <p:cNvPr id="39" name="TextBox 35">
              <a:extLst>
                <a:ext uri="{FF2B5EF4-FFF2-40B4-BE49-F238E27FC236}">
                  <a16:creationId xmlns:a16="http://schemas.microsoft.com/office/drawing/2014/main" id="{85AFCACF-0D20-CE03-17E5-D8633F12A38A}"/>
                </a:ext>
              </a:extLst>
            </p:cNvPr>
            <p:cNvSpPr txBox="1"/>
            <p:nvPr/>
          </p:nvSpPr>
          <p:spPr>
            <a:xfrm>
              <a:off x="9662161" y="3352673"/>
              <a:ext cx="25146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•  (je Coin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eine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eigene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Tabelle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998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B2D84-323B-1919-8619-D8904EDA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00D4FF"/>
                </a:solidFill>
              </a:rPr>
              <a:t>Designprinzipien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5FEA4A2-D6F6-1496-F83D-7ABC9DBC621E}"/>
              </a:ext>
            </a:extLst>
          </p:cNvPr>
          <p:cNvGrpSpPr/>
          <p:nvPr/>
        </p:nvGrpSpPr>
        <p:grpSpPr>
          <a:xfrm>
            <a:off x="331876" y="1578134"/>
            <a:ext cx="2651760" cy="4846320"/>
            <a:chOff x="4770120" y="1005840"/>
            <a:chExt cx="2651760" cy="4846320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7C3D4639-4721-AA0C-5760-B67639F25CB3}"/>
                </a:ext>
              </a:extLst>
            </p:cNvPr>
            <p:cNvSpPr/>
            <p:nvPr/>
          </p:nvSpPr>
          <p:spPr>
            <a:xfrm>
              <a:off x="4770120" y="1005840"/>
              <a:ext cx="26517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B7E6048-FAFA-B567-C2D8-2CCF4F25D133}"/>
                </a:ext>
              </a:extLst>
            </p:cNvPr>
            <p:cNvSpPr/>
            <p:nvPr/>
          </p:nvSpPr>
          <p:spPr>
            <a:xfrm>
              <a:off x="4770120" y="1005840"/>
              <a:ext cx="2651760" cy="64008"/>
            </a:xfrm>
            <a:prstGeom prst="rect">
              <a:avLst/>
            </a:prstGeom>
            <a:solidFill>
              <a:srgbClr val="38C7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9107D254-E376-46E4-FE72-27B72E9C9C68}"/>
                </a:ext>
              </a:extLst>
            </p:cNvPr>
            <p:cNvSpPr txBox="1"/>
            <p:nvPr/>
          </p:nvSpPr>
          <p:spPr>
            <a:xfrm>
              <a:off x="4879848" y="1115568"/>
              <a:ext cx="24688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1" i="0" dirty="0">
                  <a:solidFill>
                    <a:srgbClr val="CCD6E0"/>
                  </a:solidFill>
                  <a:latin typeface="Segoe UI"/>
                </a:rPr>
                <a:t>Single Responsibility
Principle (SRP)</a:t>
              </a: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8D8921C5-C826-486F-F024-D56D5F841B92}"/>
                </a:ext>
              </a:extLst>
            </p:cNvPr>
            <p:cNvSpPr txBox="1"/>
            <p:nvPr/>
          </p:nvSpPr>
          <p:spPr>
            <a:xfrm>
              <a:off x="4907280" y="2011680"/>
              <a:ext cx="242316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Jede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Datei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hat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genau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eine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Aufgabe.
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Beispiel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: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database.py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stellt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nur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die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Verbindung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her.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DEDBDDBB-E79D-D7B9-6635-1D2EC0268275}"/>
              </a:ext>
            </a:extLst>
          </p:cNvPr>
          <p:cNvGrpSpPr/>
          <p:nvPr/>
        </p:nvGrpSpPr>
        <p:grpSpPr>
          <a:xfrm>
            <a:off x="3300806" y="1578134"/>
            <a:ext cx="2651760" cy="4846320"/>
            <a:chOff x="4770120" y="1005840"/>
            <a:chExt cx="2651760" cy="4846320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8C6B8F92-BC2A-437C-C73A-6028139CC4EC}"/>
                </a:ext>
              </a:extLst>
            </p:cNvPr>
            <p:cNvSpPr/>
            <p:nvPr/>
          </p:nvSpPr>
          <p:spPr>
            <a:xfrm>
              <a:off x="4770120" y="1005840"/>
              <a:ext cx="26517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7C318A3-4359-0FF0-65AE-F4190229CB62}"/>
                </a:ext>
              </a:extLst>
            </p:cNvPr>
            <p:cNvSpPr/>
            <p:nvPr/>
          </p:nvSpPr>
          <p:spPr>
            <a:xfrm>
              <a:off x="4770120" y="1005840"/>
              <a:ext cx="2651760" cy="64008"/>
            </a:xfrm>
            <a:prstGeom prst="rect">
              <a:avLst/>
            </a:prstGeom>
            <a:solidFill>
              <a:srgbClr val="4A90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CC5BA715-B9E1-C6C9-B849-52D36604AEF2}"/>
                </a:ext>
              </a:extLst>
            </p:cNvPr>
            <p:cNvSpPr txBox="1"/>
            <p:nvPr/>
          </p:nvSpPr>
          <p:spPr>
            <a:xfrm>
              <a:off x="4879848" y="1115568"/>
              <a:ext cx="24688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1" i="0" dirty="0">
                  <a:solidFill>
                    <a:srgbClr val="CCD6E0"/>
                  </a:solidFill>
                  <a:latin typeface="Segoe UI"/>
                </a:rPr>
                <a:t>DRY</a:t>
              </a:r>
              <a:r>
                <a:rPr lang="de-DE" b="1" i="0" dirty="0">
                  <a:solidFill>
                    <a:srgbClr val="CCD6E0"/>
                  </a:solidFill>
                  <a:latin typeface="Segoe UI"/>
                </a:rPr>
                <a:t> (</a:t>
              </a:r>
              <a:r>
                <a:rPr b="1" i="0" dirty="0">
                  <a:solidFill>
                    <a:srgbClr val="CCD6E0"/>
                  </a:solidFill>
                  <a:latin typeface="Segoe UI"/>
                </a:rPr>
                <a:t>Don't Repeat Yourself</a:t>
              </a:r>
              <a:r>
                <a:rPr lang="de-DE" b="1" i="0" dirty="0">
                  <a:solidFill>
                    <a:srgbClr val="CCD6E0"/>
                  </a:solidFill>
                  <a:latin typeface="Segoe UI"/>
                </a:rPr>
                <a:t>)</a:t>
              </a:r>
              <a:endParaRPr b="1" i="0" dirty="0">
                <a:solidFill>
                  <a:srgbClr val="CCD6E0"/>
                </a:solidFill>
                <a:latin typeface="Segoe UI"/>
              </a:endParaRPr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9CB3F504-E8E3-9078-64A2-32B455509633}"/>
                </a:ext>
              </a:extLst>
            </p:cNvPr>
            <p:cNvSpPr txBox="1"/>
            <p:nvPr/>
          </p:nvSpPr>
          <p:spPr>
            <a:xfrm>
              <a:off x="4907280" y="2011680"/>
              <a:ext cx="242316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base.html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als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zentrales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Template.
Alle Seiten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erben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Navbar &amp; Flash-Messages.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1EB0DC93-E4F5-E4C2-2361-6E434EA25936}"/>
              </a:ext>
            </a:extLst>
          </p:cNvPr>
          <p:cNvGrpSpPr/>
          <p:nvPr/>
        </p:nvGrpSpPr>
        <p:grpSpPr>
          <a:xfrm>
            <a:off x="6257722" y="1578134"/>
            <a:ext cx="2651760" cy="4846320"/>
            <a:chOff x="4770120" y="1005840"/>
            <a:chExt cx="2651760" cy="4846320"/>
          </a:xfrm>
        </p:grpSpPr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3F37958B-4613-056A-9D1D-DF2E73A308E6}"/>
                </a:ext>
              </a:extLst>
            </p:cNvPr>
            <p:cNvSpPr/>
            <p:nvPr/>
          </p:nvSpPr>
          <p:spPr>
            <a:xfrm>
              <a:off x="4770120" y="1005840"/>
              <a:ext cx="26517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119A2D84-A2A5-B494-69D2-BE646F18FEF5}"/>
                </a:ext>
              </a:extLst>
            </p:cNvPr>
            <p:cNvSpPr/>
            <p:nvPr/>
          </p:nvSpPr>
          <p:spPr>
            <a:xfrm>
              <a:off x="4770120" y="1005840"/>
              <a:ext cx="2651760" cy="64008"/>
            </a:xfrm>
            <a:prstGeom prst="rect">
              <a:avLst/>
            </a:prstGeom>
            <a:solidFill>
              <a:srgbClr val="E2B0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C73C9B5-0D5E-7CB5-09B2-1D89DDBAC627}"/>
                </a:ext>
              </a:extLst>
            </p:cNvPr>
            <p:cNvSpPr txBox="1"/>
            <p:nvPr/>
          </p:nvSpPr>
          <p:spPr>
            <a:xfrm>
              <a:off x="4879849" y="1115568"/>
              <a:ext cx="24688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1" i="0" dirty="0">
                  <a:solidFill>
                    <a:srgbClr val="CCD6E0"/>
                  </a:solidFill>
                  <a:latin typeface="Segoe UI"/>
                </a:rPr>
                <a:t>Separation of Concerns</a:t>
              </a:r>
              <a:r>
                <a:rPr lang="de-DE" b="1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b="1" i="0" dirty="0">
                  <a:solidFill>
                    <a:srgbClr val="CCD6E0"/>
                  </a:solidFill>
                  <a:latin typeface="Segoe UI"/>
                </a:rPr>
                <a:t>(SoC)</a:t>
              </a: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5D9BFD87-20BF-641C-51CC-56CDEAB0838E}"/>
                </a:ext>
              </a:extLst>
            </p:cNvPr>
            <p:cNvSpPr txBox="1"/>
            <p:nvPr/>
          </p:nvSpPr>
          <p:spPr>
            <a:xfrm>
              <a:off x="4907281" y="2011680"/>
              <a:ext cx="242316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Datenhaltung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, Logik &amp;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Darstellung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klar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getrennt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.
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Datenbank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austauschbar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ohne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Template-</a:t>
              </a:r>
              <a:r>
                <a:rPr lang="de-DE" sz="1600" dirty="0">
                  <a:solidFill>
                    <a:srgbClr val="CCD6E0"/>
                  </a:solidFill>
                  <a:latin typeface="Segoe UI"/>
                </a:rPr>
                <a:t>Ä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nderung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.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FFC86A6-E444-C31B-C8C7-183CDA7466D7}"/>
              </a:ext>
            </a:extLst>
          </p:cNvPr>
          <p:cNvGrpSpPr/>
          <p:nvPr/>
        </p:nvGrpSpPr>
        <p:grpSpPr>
          <a:xfrm>
            <a:off x="9208364" y="1578134"/>
            <a:ext cx="2651760" cy="4846320"/>
            <a:chOff x="4770120" y="1005840"/>
            <a:chExt cx="2651760" cy="4846320"/>
          </a:xfrm>
        </p:grpSpPr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38774738-316F-CBD4-818F-CB483465EFBE}"/>
                </a:ext>
              </a:extLst>
            </p:cNvPr>
            <p:cNvSpPr/>
            <p:nvPr/>
          </p:nvSpPr>
          <p:spPr>
            <a:xfrm>
              <a:off x="4770120" y="1005840"/>
              <a:ext cx="2651760" cy="4846320"/>
            </a:xfrm>
            <a:prstGeom prst="rect">
              <a:avLst/>
            </a:prstGeom>
            <a:solidFill>
              <a:srgbClr val="111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A014C6D1-E699-8572-779D-2EA7D0E907AD}"/>
                </a:ext>
              </a:extLst>
            </p:cNvPr>
            <p:cNvSpPr/>
            <p:nvPr/>
          </p:nvSpPr>
          <p:spPr>
            <a:xfrm>
              <a:off x="4770120" y="1005840"/>
              <a:ext cx="2651760" cy="64008"/>
            </a:xfrm>
            <a:prstGeom prst="rect">
              <a:avLst/>
            </a:prstGeom>
            <a:solidFill>
              <a:srgbClr val="C06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3B4EE10F-50EF-B839-0CA7-EE86F9A4C547}"/>
                </a:ext>
              </a:extLst>
            </p:cNvPr>
            <p:cNvSpPr txBox="1"/>
            <p:nvPr/>
          </p:nvSpPr>
          <p:spPr>
            <a:xfrm>
              <a:off x="4879848" y="1115568"/>
              <a:ext cx="24688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1" i="0" dirty="0">
                  <a:solidFill>
                    <a:srgbClr val="CCD6E0"/>
                  </a:solidFill>
                  <a:latin typeface="Segoe UI"/>
                </a:rPr>
                <a:t>Defensive
Programming</a:t>
              </a: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441697FF-6C71-D89D-3A5C-8DC5C6F0F64B}"/>
                </a:ext>
              </a:extLst>
            </p:cNvPr>
            <p:cNvSpPr txBox="1"/>
            <p:nvPr/>
          </p:nvSpPr>
          <p:spPr>
            <a:xfrm>
              <a:off x="4907281" y="2011680"/>
              <a:ext cx="242316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Fehler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werden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aktiv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abgefangen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.
</a:t>
              </a:r>
              <a:r>
                <a:rPr lang="de-DE" sz="1600" dirty="0" err="1">
                  <a:solidFill>
                    <a:srgbClr val="CCD6E0"/>
                  </a:solidFill>
                  <a:latin typeface="Segoe UI"/>
                </a:rPr>
                <a:t>Ü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berverkauf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 -&gt; </a:t>
              </a:r>
              <a:r>
                <a:rPr sz="1600" b="0" i="0" dirty="0" err="1">
                  <a:solidFill>
                    <a:srgbClr val="CCD6E0"/>
                  </a:solidFill>
                  <a:latin typeface="Segoe UI"/>
                </a:rPr>
                <a:t>Fehlermeldung</a:t>
              </a:r>
              <a:r>
                <a:rPr sz="1600" b="0" i="0" dirty="0">
                  <a:solidFill>
                    <a:srgbClr val="CCD6E0"/>
                  </a:solidFill>
                  <a:latin typeface="Segoe UI"/>
                </a:rPr>
                <a:t>
Kein Bild -&gt; Fallback-PNG.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1879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 txBox="1"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de-DE" sz="4000" b="1" dirty="0">
                <a:solidFill>
                  <a:srgbClr val="00D4FF"/>
                </a:solidFill>
              </a:rPr>
              <a:t>Projektmanagement</a:t>
            </a:r>
          </a:p>
        </p:txBody>
      </p:sp>
      <p:sp>
        <p:nvSpPr>
          <p:cNvPr id="11" name="AccentLine"/>
          <p:cNvSpPr/>
          <p:nvPr/>
        </p:nvSpPr>
        <p:spPr>
          <a:xfrm>
            <a:off x="3657600" y="2971800"/>
            <a:ext cx="4876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ectionSub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de-DE" sz="1600" i="1" dirty="0">
                <a:solidFill>
                  <a:srgbClr val="CCD6E0"/>
                </a:solidFill>
              </a:rPr>
              <a:t>Sprints, Zeitplanung &amp; Qualität</a:t>
            </a:r>
          </a:p>
        </p:txBody>
      </p:sp>
    </p:spTree>
    <p:extLst>
      <p:ext uri="{BB962C8B-B14F-4D97-AF65-F5344CB8AC3E}">
        <p14:creationId xmlns:p14="http://schemas.microsoft.com/office/powerpoint/2010/main" val="3535960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Sprint-Zeitstrahl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Okt 2025 – Dez 2025 · Insgesamt 5 Sprints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668" y="3822192"/>
            <a:ext cx="108813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3856" y="3675888"/>
            <a:ext cx="329184" cy="32918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4048" y="100584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4048" y="1005840"/>
            <a:ext cx="18288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048" y="109728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8C00"/>
                </a:solidFill>
              </a:rPr>
              <a:t>Sprint 0
(Kickoff)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048" y="18288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 err="1">
                <a:solidFill>
                  <a:srgbClr val="FFFFFF"/>
                </a:solidFill>
              </a:rPr>
              <a:t>Okt</a:t>
            </a:r>
            <a:r>
              <a:rPr sz="1600" i="1" dirty="0">
                <a:solidFill>
                  <a:srgbClr val="FFFFFF"/>
                </a:solidFill>
              </a:rPr>
              <a:t>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488" y="219456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 err="1">
                <a:solidFill>
                  <a:srgbClr val="CCD6E0"/>
                </a:solidFill>
              </a:rPr>
              <a:t>Projektregeln</a:t>
            </a:r>
            <a:r>
              <a:rPr sz="1600" dirty="0">
                <a:solidFill>
                  <a:srgbClr val="CCD6E0"/>
                </a:solidFill>
              </a:rPr>
              <a:t>,
DoD, 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3197416" y="3675888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47608" y="411480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47608" y="411480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7608" y="420624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0D4FF"/>
                </a:solidFill>
              </a:rPr>
              <a:t>Sprint 1
(14 Tage)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608" y="49377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FFFFFF"/>
                </a:solidFill>
              </a:rPr>
              <a:t>10.–23.11.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9048" y="5303521"/>
            <a:ext cx="1645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D6E0"/>
                </a:solidFill>
              </a:rPr>
              <a:t>JavaFX-</a:t>
            </a:r>
            <a:r>
              <a:rPr sz="1600" dirty="0" err="1">
                <a:solidFill>
                  <a:srgbClr val="CCD6E0"/>
                </a:solidFill>
              </a:rPr>
              <a:t>Grundlage</a:t>
            </a:r>
            <a:r>
              <a:rPr sz="1600" dirty="0">
                <a:solidFill>
                  <a:srgbClr val="CCD6E0"/>
                </a:solidFill>
              </a:rPr>
              <a:t>,
Navigations-GUI</a:t>
            </a:r>
          </a:p>
        </p:txBody>
      </p:sp>
      <p:sp>
        <p:nvSpPr>
          <p:cNvPr id="20" name="Oval 19"/>
          <p:cNvSpPr/>
          <p:nvPr/>
        </p:nvSpPr>
        <p:spPr>
          <a:xfrm>
            <a:off x="5010976" y="3675888"/>
            <a:ext cx="329184" cy="329184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61168" y="100584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61168" y="1005840"/>
            <a:ext cx="18288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61168" y="109728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0E676"/>
                </a:solidFill>
              </a:rPr>
              <a:t>Sprint 2
(7 Tage)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68" y="18288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FFFFFF"/>
                </a:solidFill>
              </a:rPr>
              <a:t>24.–30.11.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608" y="2194561"/>
            <a:ext cx="1645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D6E0"/>
                </a:solidFill>
              </a:rPr>
              <a:t>Technologie</a:t>
            </a:r>
            <a:r>
              <a:rPr lang="de-DE" sz="1600" dirty="0">
                <a:solidFill>
                  <a:srgbClr val="CCD6E0"/>
                </a:solidFill>
              </a:rPr>
              <a:t>-</a:t>
            </a:r>
            <a:r>
              <a:rPr sz="1600" dirty="0" err="1">
                <a:solidFill>
                  <a:srgbClr val="CCD6E0"/>
                </a:solidFill>
              </a:rPr>
              <a:t>wechsel</a:t>
            </a:r>
            <a:r>
              <a:rPr sz="1600" dirty="0">
                <a:solidFill>
                  <a:srgbClr val="CCD6E0"/>
                </a:solidFill>
              </a:rPr>
              <a:t>
</a:t>
            </a:r>
            <a:r>
              <a:rPr sz="1600" dirty="0" err="1">
                <a:solidFill>
                  <a:srgbClr val="CCD6E0"/>
                </a:solidFill>
              </a:rPr>
              <a:t>zu</a:t>
            </a:r>
            <a:r>
              <a:rPr sz="1600" dirty="0">
                <a:solidFill>
                  <a:srgbClr val="CCD6E0"/>
                </a:solidFill>
              </a:rPr>
              <a:t> Python/Flask</a:t>
            </a:r>
          </a:p>
        </p:txBody>
      </p:sp>
      <p:sp>
        <p:nvSpPr>
          <p:cNvPr id="26" name="Oval 25"/>
          <p:cNvSpPr/>
          <p:nvPr/>
        </p:nvSpPr>
        <p:spPr>
          <a:xfrm>
            <a:off x="6824536" y="3675888"/>
            <a:ext cx="329184" cy="32918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74728" y="411480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74728" y="4114800"/>
            <a:ext cx="18288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74728" y="420624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8C00"/>
                </a:solidFill>
              </a:rPr>
              <a:t>Sprint 3
(7 Tage)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4728" y="49377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FFFFFF"/>
                </a:solidFill>
              </a:rPr>
              <a:t>01.–07.12.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6168" y="530352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D6E0"/>
                </a:solidFill>
              </a:rPr>
              <a:t>CI/CD, Docker,
Blog</a:t>
            </a:r>
          </a:p>
        </p:txBody>
      </p:sp>
      <p:sp>
        <p:nvSpPr>
          <p:cNvPr id="32" name="Oval 31"/>
          <p:cNvSpPr/>
          <p:nvPr/>
        </p:nvSpPr>
        <p:spPr>
          <a:xfrm>
            <a:off x="8638096" y="3675888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88288" y="100584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88288" y="100584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88288" y="109728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0D4FF"/>
                </a:solidFill>
              </a:rPr>
              <a:t>Sprint 4
(7 Tage)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8288" y="18288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FFFFFF"/>
                </a:solidFill>
              </a:rPr>
              <a:t>08.–14.12.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9728" y="219456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D6E0"/>
                </a:solidFill>
              </a:rPr>
              <a:t>ASR, Blog,
Doku</a:t>
            </a:r>
          </a:p>
        </p:txBody>
      </p:sp>
      <p:sp>
        <p:nvSpPr>
          <p:cNvPr id="38" name="Oval 37"/>
          <p:cNvSpPr/>
          <p:nvPr/>
        </p:nvSpPr>
        <p:spPr>
          <a:xfrm>
            <a:off x="10451656" y="3675888"/>
            <a:ext cx="329184" cy="329184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01848" y="4114800"/>
            <a:ext cx="18288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01848" y="4114800"/>
            <a:ext cx="18288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01848" y="4206241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0E676"/>
                </a:solidFill>
              </a:rPr>
              <a:t>Sprint 5
(7 Tage)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848" y="49377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FFFFFF"/>
                </a:solidFill>
              </a:rPr>
              <a:t>15.–22.12.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3288" y="5303521"/>
            <a:ext cx="1645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CCD6E0"/>
                </a:solidFill>
              </a:rPr>
              <a:t>SRS, </a:t>
            </a:r>
            <a:r>
              <a:rPr sz="1600" dirty="0" err="1">
                <a:solidFill>
                  <a:srgbClr val="CCD6E0"/>
                </a:solidFill>
              </a:rPr>
              <a:t>Abschluss</a:t>
            </a:r>
            <a:r>
              <a:rPr sz="1600" dirty="0">
                <a:solidFill>
                  <a:srgbClr val="CCD6E0"/>
                </a:solidFill>
              </a:rPr>
              <a:t>-
blog, </a:t>
            </a:r>
            <a:r>
              <a:rPr sz="1600" dirty="0" err="1">
                <a:solidFill>
                  <a:srgbClr val="CCD6E0"/>
                </a:solidFill>
              </a:rPr>
              <a:t>Finalisierung</a:t>
            </a:r>
            <a:endParaRPr sz="1600" dirty="0">
              <a:solidFill>
                <a:srgbClr val="CCD6E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Zeitplanung vs. tatsächlicher Aufwand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Geplante Stunden vs. tatsächliche Stunden pro Sprint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0" y="1097280"/>
            <a:ext cx="804672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51228" y="1143000"/>
            <a:ext cx="33832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1228" y="1143000"/>
            <a:ext cx="33832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8388" y="12344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Erkenntnisse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8388" y="1828801"/>
            <a:ext cx="310896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Sprint 1: ~6h </a:t>
            </a:r>
            <a:r>
              <a:rPr sz="1400" dirty="0" err="1">
                <a:solidFill>
                  <a:srgbClr val="CCD6E0"/>
                </a:solidFill>
              </a:rPr>
              <a:t>gespart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durch</a:t>
            </a:r>
            <a:endParaRPr lang="de-DE"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lang="en-DE" sz="1400" dirty="0">
                <a:solidFill>
                  <a:srgbClr val="CCD6E0"/>
                </a:solidFill>
              </a:rPr>
              <a:t>      </a:t>
            </a:r>
            <a:r>
              <a:rPr sz="1400" dirty="0" err="1">
                <a:solidFill>
                  <a:srgbClr val="CCD6E0"/>
                </a:solidFill>
              </a:rPr>
              <a:t>effizienten</a:t>
            </a:r>
            <a:r>
              <a:rPr sz="1400" dirty="0">
                <a:solidFill>
                  <a:srgbClr val="CCD6E0"/>
                </a:solidFill>
              </a:rPr>
              <a:t> Design-</a:t>
            </a:r>
            <a:r>
              <a:rPr sz="1400" dirty="0" err="1">
                <a:solidFill>
                  <a:srgbClr val="CCD6E0"/>
                </a:solidFill>
              </a:rPr>
              <a:t>Prozess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Sprint 2: +7h </a:t>
            </a:r>
            <a:r>
              <a:rPr sz="1400" dirty="0" err="1">
                <a:solidFill>
                  <a:srgbClr val="CCD6E0"/>
                </a:solidFill>
              </a:rPr>
              <a:t>durch</a:t>
            </a:r>
            <a:r>
              <a:rPr sz="1400" dirty="0">
                <a:solidFill>
                  <a:srgbClr val="CCD6E0"/>
                </a:solidFill>
              </a:rPr>
              <a:t> Tech-</a:t>
            </a:r>
            <a:r>
              <a:rPr sz="1400" dirty="0" err="1">
                <a:solidFill>
                  <a:srgbClr val="CCD6E0"/>
                </a:solidFill>
              </a:rPr>
              <a:t>Wechsel</a:t>
            </a:r>
            <a:r>
              <a:rPr lang="de-DE" sz="1400" dirty="0">
                <a:solidFill>
                  <a:srgbClr val="CCD6E0"/>
                </a:solidFill>
              </a:rPr>
              <a:t> -</a:t>
            </a:r>
          </a:p>
          <a:p>
            <a:pPr>
              <a:spcBef>
                <a:spcPts val="400"/>
              </a:spcBef>
            </a:pPr>
            <a:r>
              <a:rPr lang="de-DE" sz="1400" dirty="0">
                <a:solidFill>
                  <a:srgbClr val="CCD6E0"/>
                </a:solidFill>
              </a:rPr>
              <a:t>      </a:t>
            </a:r>
            <a:r>
              <a:rPr sz="1400" dirty="0" err="1">
                <a:solidFill>
                  <a:srgbClr val="CCD6E0"/>
                </a:solidFill>
              </a:rPr>
              <a:t>bewusste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Entscheidung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Ab Sprint 3: </a:t>
            </a:r>
            <a:r>
              <a:rPr sz="1400" dirty="0" err="1">
                <a:solidFill>
                  <a:srgbClr val="CCD6E0"/>
                </a:solidFill>
              </a:rPr>
              <a:t>Planung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sehr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präzise</a:t>
            </a:r>
            <a:endParaRPr lang="de-DE"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lang="en-DE" sz="1400" dirty="0">
                <a:solidFill>
                  <a:srgbClr val="CCD6E0"/>
                </a:solidFill>
              </a:rPr>
              <a:t>     </a:t>
            </a:r>
            <a:r>
              <a:rPr sz="1400" dirty="0">
                <a:solidFill>
                  <a:srgbClr val="CCD6E0"/>
                </a:solidFill>
              </a:rPr>
              <a:t>(</a:t>
            </a:r>
            <a:r>
              <a:rPr sz="1400" dirty="0" err="1">
                <a:solidFill>
                  <a:srgbClr val="CCD6E0"/>
                </a:solidFill>
              </a:rPr>
              <a:t>Ø</a:t>
            </a:r>
            <a:r>
              <a:rPr sz="1400" dirty="0">
                <a:solidFill>
                  <a:srgbClr val="CCD6E0"/>
                </a:solidFill>
              </a:rPr>
              <a:t> ±0.5h </a:t>
            </a:r>
            <a:r>
              <a:rPr sz="1400" dirty="0" err="1">
                <a:solidFill>
                  <a:srgbClr val="CCD6E0"/>
                </a:solidFill>
              </a:rPr>
              <a:t>Abweichung</a:t>
            </a:r>
            <a:r>
              <a:rPr sz="1400" dirty="0">
                <a:solidFill>
                  <a:srgbClr val="CCD6E0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Gesamt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Geplant</a:t>
            </a:r>
            <a:r>
              <a:rPr sz="1400" dirty="0">
                <a:solidFill>
                  <a:srgbClr val="CCD6E0"/>
                </a:solidFill>
              </a:rPr>
              <a:t>: 73.5h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Gesamt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Tatsächlich</a:t>
            </a:r>
            <a:r>
              <a:rPr sz="1400" dirty="0">
                <a:solidFill>
                  <a:srgbClr val="CCD6E0"/>
                </a:solidFill>
              </a:rPr>
              <a:t>: 72.8h </a:t>
            </a:r>
            <a:endParaRPr lang="de-DE"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lang="en-DE" sz="1400" dirty="0">
                <a:solidFill>
                  <a:srgbClr val="CCD6E0"/>
                </a:solidFill>
              </a:rPr>
              <a:t>     </a:t>
            </a:r>
            <a:r>
              <a:rPr sz="1400" dirty="0">
                <a:solidFill>
                  <a:srgbClr val="CCD6E0"/>
                </a:solidFill>
              </a:rPr>
              <a:t>(≈ </a:t>
            </a:r>
            <a:r>
              <a:rPr sz="1400" dirty="0" err="1">
                <a:solidFill>
                  <a:srgbClr val="CCD6E0"/>
                </a:solidFill>
              </a:rPr>
              <a:t>ausgeglichen</a:t>
            </a:r>
            <a:r>
              <a:rPr sz="1400" dirty="0">
                <a:solidFill>
                  <a:srgbClr val="CCD6E0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Schätzgenauigkeit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nahm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über</a:t>
            </a:r>
            <a:endParaRPr lang="de-DE"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lang="en-DE" sz="1400" dirty="0">
                <a:solidFill>
                  <a:srgbClr val="CCD6E0"/>
                </a:solidFill>
              </a:rPr>
              <a:t>     </a:t>
            </a:r>
            <a:r>
              <a:rPr sz="1400" dirty="0">
                <a:solidFill>
                  <a:srgbClr val="CCD6E0"/>
                </a:solidFill>
              </a:rPr>
              <a:t>Sprints </a:t>
            </a:r>
            <a:r>
              <a:rPr sz="1400" dirty="0" err="1">
                <a:solidFill>
                  <a:srgbClr val="CCD6E0"/>
                </a:solidFill>
              </a:rPr>
              <a:t>zu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Größte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Abweichung</a:t>
            </a:r>
            <a:r>
              <a:rPr sz="1400" dirty="0">
                <a:solidFill>
                  <a:srgbClr val="CCD6E0"/>
                </a:solidFill>
              </a:rPr>
              <a:t>: Tech-Stack</a:t>
            </a:r>
            <a:endParaRPr lang="de-DE"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lang="en-DE" sz="1400" dirty="0">
                <a:solidFill>
                  <a:srgbClr val="CCD6E0"/>
                </a:solidFill>
              </a:rPr>
              <a:t>      </a:t>
            </a:r>
            <a:r>
              <a:rPr sz="1400" dirty="0" err="1">
                <a:solidFill>
                  <a:srgbClr val="CCD6E0"/>
                </a:solidFill>
              </a:rPr>
              <a:t>Wechsel</a:t>
            </a:r>
            <a:r>
              <a:rPr sz="1400" dirty="0">
                <a:solidFill>
                  <a:srgbClr val="CCD6E0"/>
                </a:solidFill>
              </a:rPr>
              <a:t> Sprint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Issue-Statistiken &amp; Projektstruktur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37 Items · 34 Done · 3 im Backlog · Phasen &amp; Größen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12" y="1586484"/>
            <a:ext cx="6326603" cy="461314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189" y="1574780"/>
            <a:ext cx="4840288" cy="4840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Definition of Done &amp; Qualitätsstandards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Verbindliche Akzeptanzkriterien für alle Arbeitspakete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908" y="1188720"/>
            <a:ext cx="5669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908" y="1188720"/>
            <a:ext cx="56692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788" y="129844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D4FF"/>
                </a:solidFill>
              </a:rPr>
              <a:t>Code &amp; </a:t>
            </a:r>
            <a:r>
              <a:rPr b="1" dirty="0" err="1">
                <a:solidFill>
                  <a:srgbClr val="00D4FF"/>
                </a:solidFill>
              </a:rPr>
              <a:t>Implementierung</a:t>
            </a:r>
            <a:endParaRPr b="1" dirty="0">
              <a:solidFill>
                <a:srgbClr val="00D4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88" y="1828801"/>
            <a:ext cx="539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Code muss </a:t>
            </a:r>
            <a:r>
              <a:rPr sz="1500" dirty="0" err="1">
                <a:solidFill>
                  <a:srgbClr val="CCD6E0"/>
                </a:solidFill>
              </a:rPr>
              <a:t>vor</a:t>
            </a:r>
            <a:r>
              <a:rPr sz="1500" dirty="0">
                <a:solidFill>
                  <a:srgbClr val="CCD6E0"/>
                </a:solidFill>
              </a:rPr>
              <a:t> dem Push von mind. 2 Devs </a:t>
            </a:r>
            <a:r>
              <a:rPr sz="1500" dirty="0" err="1">
                <a:solidFill>
                  <a:srgbClr val="CCD6E0"/>
                </a:solidFill>
              </a:rPr>
              <a:t>geprüft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werden</a:t>
            </a:r>
            <a:endParaRPr sz="1500" dirty="0">
              <a:solidFill>
                <a:srgbClr val="CCD6E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8068" y="1188720"/>
            <a:ext cx="5669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8068" y="1188720"/>
            <a:ext cx="56692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10948" y="129844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E676"/>
                </a:solidFill>
              </a:rP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0948" y="1828801"/>
            <a:ext cx="539496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Code muss </a:t>
            </a:r>
            <a:r>
              <a:rPr sz="1500" dirty="0" err="1">
                <a:solidFill>
                  <a:srgbClr val="CCD6E0"/>
                </a:solidFill>
              </a:rPr>
              <a:t>compilieren</a:t>
            </a:r>
            <a:endParaRPr sz="15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Code muss</a:t>
            </a:r>
            <a:r>
              <a:rPr lang="de-DE" sz="1500" dirty="0">
                <a:solidFill>
                  <a:srgbClr val="CCD6E0"/>
                </a:solidFill>
              </a:rPr>
              <a:t> Pipeline erfolgreich durchlaufen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lang="de-DE" sz="1500" dirty="0">
                <a:solidFill>
                  <a:srgbClr val="CCD6E0"/>
                </a:solidFill>
              </a:rPr>
              <a:t>haben</a:t>
            </a:r>
            <a:endParaRPr sz="1500" dirty="0">
              <a:solidFill>
                <a:srgbClr val="CCD6E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5908" y="3794760"/>
            <a:ext cx="5669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5908" y="3794760"/>
            <a:ext cx="56692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788" y="390448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FF8C00"/>
                </a:solidFill>
              </a:rPr>
              <a:t>Dokumentation</a:t>
            </a:r>
            <a:endParaRPr b="1" dirty="0">
              <a:solidFill>
                <a:srgbClr val="FF8C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8788" y="4434841"/>
            <a:ext cx="539496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Neu </a:t>
            </a:r>
            <a:r>
              <a:rPr sz="1500" dirty="0" err="1">
                <a:solidFill>
                  <a:srgbClr val="CCD6E0"/>
                </a:solidFill>
              </a:rPr>
              <a:t>erstellter</a:t>
            </a:r>
            <a:r>
              <a:rPr sz="1500" dirty="0">
                <a:solidFill>
                  <a:srgbClr val="CCD6E0"/>
                </a:solidFill>
              </a:rPr>
              <a:t> Code muss </a:t>
            </a:r>
            <a:r>
              <a:rPr lang="de-DE" sz="1500" dirty="0">
                <a:solidFill>
                  <a:srgbClr val="CCD6E0"/>
                </a:solidFill>
              </a:rPr>
              <a:t>mindestens in der Datei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dokumentiert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werden</a:t>
            </a:r>
            <a:endParaRPr sz="15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Neue Builds </a:t>
            </a:r>
            <a:r>
              <a:rPr sz="1500" dirty="0" err="1">
                <a:solidFill>
                  <a:srgbClr val="CCD6E0"/>
                </a:solidFill>
              </a:rPr>
              <a:t>benötigen</a:t>
            </a:r>
            <a:r>
              <a:rPr sz="1500" dirty="0">
                <a:solidFill>
                  <a:srgbClr val="CCD6E0"/>
                </a:solidFill>
              </a:rPr>
              <a:t> Patch Not</a:t>
            </a:r>
            <a:r>
              <a:rPr lang="de-DE" sz="1500" dirty="0">
                <a:solidFill>
                  <a:srgbClr val="CCD6E0"/>
                </a:solidFill>
              </a:rPr>
              <a:t>es / oder Blog  Beitrag</a:t>
            </a:r>
            <a:endParaRPr sz="1500" dirty="0">
              <a:solidFill>
                <a:srgbClr val="CCD6E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8068" y="3794760"/>
            <a:ext cx="5669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8068" y="3794760"/>
            <a:ext cx="566928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0948" y="390448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FFD700"/>
                </a:solidFill>
              </a:rPr>
              <a:t>Akzeptanzkriterien</a:t>
            </a:r>
            <a:endParaRPr b="1" dirty="0">
              <a:solidFill>
                <a:srgbClr val="FFD7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10948" y="4434840"/>
            <a:ext cx="5394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</a:t>
            </a:r>
            <a:r>
              <a:rPr sz="1500" dirty="0" err="1">
                <a:solidFill>
                  <a:srgbClr val="CCD6E0"/>
                </a:solidFill>
              </a:rPr>
              <a:t>Dokumentation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vorhanden</a:t>
            </a:r>
            <a:endParaRPr sz="15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Testing </a:t>
            </a:r>
            <a:r>
              <a:rPr sz="1500" dirty="0" err="1">
                <a:solidFill>
                  <a:srgbClr val="CCD6E0"/>
                </a:solidFill>
              </a:rPr>
              <a:t>erfolgreich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abgeschlossen</a:t>
            </a:r>
            <a:endParaRPr sz="15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Sprint </a:t>
            </a:r>
            <a:r>
              <a:rPr sz="1500" dirty="0" err="1">
                <a:solidFill>
                  <a:srgbClr val="CCD6E0"/>
                </a:solidFill>
              </a:rPr>
              <a:t>eingetragen</a:t>
            </a:r>
            <a:endParaRPr sz="15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CCD6E0"/>
                </a:solidFill>
              </a:rPr>
              <a:t>▸ </a:t>
            </a:r>
            <a:r>
              <a:rPr sz="1500" dirty="0" err="1">
                <a:solidFill>
                  <a:srgbClr val="CCD6E0"/>
                </a:solidFill>
              </a:rPr>
              <a:t>Tatsächlicher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Zeitaufwand</a:t>
            </a:r>
            <a:r>
              <a:rPr sz="1500" dirty="0">
                <a:solidFill>
                  <a:srgbClr val="CCD6E0"/>
                </a:solidFill>
              </a:rPr>
              <a:t> </a:t>
            </a:r>
            <a:r>
              <a:rPr sz="1500" dirty="0" err="1">
                <a:solidFill>
                  <a:srgbClr val="CCD6E0"/>
                </a:solidFill>
              </a:rPr>
              <a:t>eingetragen</a:t>
            </a:r>
            <a:endParaRPr sz="1500" dirty="0">
              <a:solidFill>
                <a:srgbClr val="CCD6E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843068" y="1188720"/>
            <a:ext cx="0" cy="5303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Lessons Learned – Gewonnene Erkenntnisse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Projektmanagement · Scrum-Prozess · Teamwork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909" y="1188720"/>
            <a:ext cx="3749039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909" y="118872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789" y="1280161"/>
            <a:ext cx="347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D4FF"/>
                </a:solidFill>
              </a:rPr>
              <a:t>Scrum &amp; </a:t>
            </a:r>
            <a:r>
              <a:rPr sz="2000" b="1" dirty="0" err="1">
                <a:solidFill>
                  <a:srgbClr val="00D4FF"/>
                </a:solidFill>
              </a:rPr>
              <a:t>Agilität</a:t>
            </a:r>
            <a:endParaRPr sz="2000" b="1" dirty="0">
              <a:solidFill>
                <a:srgbClr val="00D4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89" y="1783080"/>
            <a:ext cx="3474719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Kurze Sprint-</a:t>
            </a:r>
            <a:r>
              <a:rPr sz="1400" dirty="0" err="1">
                <a:solidFill>
                  <a:srgbClr val="CCD6E0"/>
                </a:solidFill>
              </a:rPr>
              <a:t>Zyklen</a:t>
            </a:r>
            <a:r>
              <a:rPr sz="1400" dirty="0">
                <a:solidFill>
                  <a:srgbClr val="CCD6E0"/>
                </a:solidFill>
              </a:rPr>
              <a:t> (7 Tage) </a:t>
            </a:r>
            <a:r>
              <a:rPr sz="1400" dirty="0" err="1">
                <a:solidFill>
                  <a:srgbClr val="CCD6E0"/>
                </a:solidFill>
              </a:rPr>
              <a:t>ermöglichten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schnelles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Reagieren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Tech-Stack-</a:t>
            </a:r>
            <a:r>
              <a:rPr sz="1400" dirty="0" err="1">
                <a:solidFill>
                  <a:srgbClr val="CCD6E0"/>
                </a:solidFill>
              </a:rPr>
              <a:t>Wechsel</a:t>
            </a:r>
            <a:r>
              <a:rPr sz="1400" dirty="0">
                <a:solidFill>
                  <a:srgbClr val="CCD6E0"/>
                </a:solidFill>
              </a:rPr>
              <a:t> in Sprint 2 war dank Scrum </a:t>
            </a:r>
            <a:r>
              <a:rPr sz="1400" dirty="0" err="1">
                <a:solidFill>
                  <a:srgbClr val="CCD6E0"/>
                </a:solidFill>
              </a:rPr>
              <a:t>problemlos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möglich</a:t>
            </a:r>
            <a:endParaRPr sz="1400" dirty="0">
              <a:solidFill>
                <a:srgbClr val="CCD6E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7829" y="1188720"/>
            <a:ext cx="3749039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207829" y="1188720"/>
            <a:ext cx="3749039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0709" y="1280161"/>
            <a:ext cx="347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0E676"/>
                </a:solidFill>
              </a:rPr>
              <a:t>Zeitplanung</a:t>
            </a:r>
            <a:endParaRPr sz="2000" b="1" dirty="0">
              <a:solidFill>
                <a:srgbClr val="00E67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90709" y="1783081"/>
            <a:ext cx="3474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Schätzgenauigkeit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verbesserte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sich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deutlich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über</a:t>
            </a:r>
            <a:r>
              <a:rPr sz="1400" dirty="0">
                <a:solidFill>
                  <a:srgbClr val="CCD6E0"/>
                </a:solidFill>
              </a:rPr>
              <a:t> Sprints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9749" y="1188720"/>
            <a:ext cx="3749039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9749" y="1188720"/>
            <a:ext cx="3749039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2629" y="1280161"/>
            <a:ext cx="347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8C00"/>
                </a:solidFill>
              </a:rPr>
              <a:t>Technologie &amp; </a:t>
            </a:r>
            <a:r>
              <a:rPr sz="2000" b="1" dirty="0" err="1">
                <a:solidFill>
                  <a:srgbClr val="FF8C00"/>
                </a:solidFill>
              </a:rPr>
              <a:t>Architektur</a:t>
            </a:r>
            <a:endParaRPr sz="2000" b="1" dirty="0">
              <a:solidFill>
                <a:srgbClr val="FF8C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2629" y="1783080"/>
            <a:ext cx="3474719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</a:t>
            </a:r>
            <a:r>
              <a:rPr sz="1400" dirty="0" err="1">
                <a:solidFill>
                  <a:srgbClr val="CCD6E0"/>
                </a:solidFill>
              </a:rPr>
              <a:t>Frühe</a:t>
            </a:r>
            <a:r>
              <a:rPr sz="1400" dirty="0">
                <a:solidFill>
                  <a:srgbClr val="CCD6E0"/>
                </a:solidFill>
              </a:rPr>
              <a:t> Technologie-Evaluation spart </a:t>
            </a:r>
            <a:r>
              <a:rPr sz="1400" dirty="0" err="1">
                <a:solidFill>
                  <a:srgbClr val="CCD6E0"/>
                </a:solidFill>
              </a:rPr>
              <a:t>Aufwand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langfristig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JavaFX-</a:t>
            </a:r>
            <a:r>
              <a:rPr sz="1400" dirty="0" err="1">
                <a:solidFill>
                  <a:srgbClr val="CCD6E0"/>
                </a:solidFill>
              </a:rPr>
              <a:t>zu</a:t>
            </a:r>
            <a:r>
              <a:rPr sz="1400" dirty="0">
                <a:solidFill>
                  <a:srgbClr val="CCD6E0"/>
                </a:solidFill>
              </a:rPr>
              <a:t>-Flask-</a:t>
            </a:r>
            <a:r>
              <a:rPr sz="1400" dirty="0" err="1">
                <a:solidFill>
                  <a:srgbClr val="CCD6E0"/>
                </a:solidFill>
              </a:rPr>
              <a:t>Wechsel</a:t>
            </a:r>
            <a:r>
              <a:rPr sz="1400" dirty="0">
                <a:solidFill>
                  <a:srgbClr val="CCD6E0"/>
                </a:solidFill>
              </a:rPr>
              <a:t>: </a:t>
            </a:r>
            <a:r>
              <a:rPr sz="1400" dirty="0" err="1">
                <a:solidFill>
                  <a:srgbClr val="CCD6E0"/>
                </a:solidFill>
              </a:rPr>
              <a:t>kurzfristig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teuer</a:t>
            </a:r>
            <a:r>
              <a:rPr sz="1400" dirty="0">
                <a:solidFill>
                  <a:srgbClr val="CCD6E0"/>
                </a:solidFill>
              </a:rPr>
              <a:t>, </a:t>
            </a:r>
            <a:r>
              <a:rPr sz="1400" dirty="0" err="1">
                <a:solidFill>
                  <a:srgbClr val="CCD6E0"/>
                </a:solidFill>
              </a:rPr>
              <a:t>langfristig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wertvoll</a:t>
            </a:r>
            <a:endParaRPr sz="1400" dirty="0">
              <a:solidFill>
                <a:srgbClr val="CCD6E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5909" y="3794760"/>
            <a:ext cx="3749039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5909" y="3794760"/>
            <a:ext cx="3749039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8789" y="3886201"/>
            <a:ext cx="347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FFD700"/>
                </a:solidFill>
              </a:rPr>
              <a:t>Teamarbeit</a:t>
            </a:r>
            <a:r>
              <a:rPr sz="2000" b="1" dirty="0">
                <a:solidFill>
                  <a:srgbClr val="FFD700"/>
                </a:solidFill>
              </a:rPr>
              <a:t> &amp; </a:t>
            </a:r>
            <a:r>
              <a:rPr sz="2000" b="1" dirty="0" err="1">
                <a:solidFill>
                  <a:srgbClr val="FFD700"/>
                </a:solidFill>
              </a:rPr>
              <a:t>Prozess</a:t>
            </a:r>
            <a:endParaRPr sz="2000" b="1" dirty="0">
              <a:solidFill>
                <a:srgbClr val="FFD7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8789" y="4389121"/>
            <a:ext cx="3474719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GitHub Projects </a:t>
            </a:r>
            <a:r>
              <a:rPr sz="1400" dirty="0" err="1">
                <a:solidFill>
                  <a:srgbClr val="CCD6E0"/>
                </a:solidFill>
              </a:rPr>
              <a:t>mit</a:t>
            </a:r>
            <a:r>
              <a:rPr sz="1400" dirty="0">
                <a:solidFill>
                  <a:srgbClr val="CCD6E0"/>
                </a:solidFill>
              </a:rPr>
              <a:t> Issues &amp; Sprints: </a:t>
            </a:r>
            <a:r>
              <a:rPr sz="1400" dirty="0" err="1">
                <a:solidFill>
                  <a:srgbClr val="CCD6E0"/>
                </a:solidFill>
              </a:rPr>
              <a:t>sehr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gute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Transparenz</a:t>
            </a:r>
            <a:endParaRPr sz="14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Pair-Review </a:t>
            </a:r>
            <a:r>
              <a:rPr sz="1400" dirty="0" err="1">
                <a:solidFill>
                  <a:srgbClr val="CCD6E0"/>
                </a:solidFill>
              </a:rPr>
              <a:t>vor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jedem</a:t>
            </a:r>
            <a:r>
              <a:rPr sz="1400" dirty="0">
                <a:solidFill>
                  <a:srgbClr val="CCD6E0"/>
                </a:solidFill>
              </a:rPr>
              <a:t> Merge </a:t>
            </a:r>
            <a:r>
              <a:rPr sz="1400" dirty="0" err="1">
                <a:solidFill>
                  <a:srgbClr val="CCD6E0"/>
                </a:solidFill>
              </a:rPr>
              <a:t>verbesserte</a:t>
            </a:r>
            <a:r>
              <a:rPr sz="1400" dirty="0">
                <a:solidFill>
                  <a:srgbClr val="CCD6E0"/>
                </a:solidFill>
              </a:rPr>
              <a:t> Codequalität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7829" y="3794760"/>
            <a:ext cx="3749039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7829" y="3794760"/>
            <a:ext cx="3749039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90709" y="3886201"/>
            <a:ext cx="347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BB86FC"/>
                </a:solidFill>
              </a:rPr>
              <a:t>Dokumentation</a:t>
            </a:r>
            <a:endParaRPr sz="2000" b="1" dirty="0">
              <a:solidFill>
                <a:srgbClr val="BB86F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90709" y="4389121"/>
            <a:ext cx="3474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CCD6E0"/>
                </a:solidFill>
              </a:rPr>
              <a:t>▸ Blog-</a:t>
            </a:r>
            <a:r>
              <a:rPr sz="1400" dirty="0" err="1">
                <a:solidFill>
                  <a:srgbClr val="CCD6E0"/>
                </a:solidFill>
              </a:rPr>
              <a:t>Beiträge</a:t>
            </a:r>
            <a:r>
              <a:rPr sz="1400" dirty="0">
                <a:solidFill>
                  <a:srgbClr val="CCD6E0"/>
                </a:solidFill>
              </a:rPr>
              <a:t> pro Sprint: </a:t>
            </a:r>
            <a:r>
              <a:rPr sz="1400" dirty="0" err="1">
                <a:solidFill>
                  <a:srgbClr val="CCD6E0"/>
                </a:solidFill>
              </a:rPr>
              <a:t>gute</a:t>
            </a:r>
            <a:r>
              <a:rPr sz="1400" dirty="0">
                <a:solidFill>
                  <a:srgbClr val="CCD6E0"/>
                </a:solidFill>
              </a:rPr>
              <a:t> </a:t>
            </a:r>
            <a:r>
              <a:rPr sz="1400" dirty="0" err="1">
                <a:solidFill>
                  <a:srgbClr val="CCD6E0"/>
                </a:solidFill>
              </a:rPr>
              <a:t>Reflexion</a:t>
            </a:r>
            <a:r>
              <a:rPr sz="1400" dirty="0">
                <a:solidFill>
                  <a:srgbClr val="CCD6E0"/>
                </a:solidFill>
              </a:rPr>
              <a:t> &amp; Kommunikation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9601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Ausblick – Nächste Schritte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5836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CD6E0"/>
                </a:solidFill>
              </a:rPr>
              <a:t>Offene Backlog-Items · Weiterentwicklung ·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908" y="1188720"/>
            <a:ext cx="64008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5908" y="1371600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7428" y="1188720"/>
            <a:ext cx="89611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4588" y="1142101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8C00"/>
                </a:solidFill>
              </a:rPr>
              <a:t>Account-System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4588" y="154499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CCD6E0"/>
                </a:solidFill>
              </a:rPr>
              <a:t>Nutzer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können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sich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registrieren</a:t>
            </a:r>
            <a:r>
              <a:rPr sz="1600" dirty="0">
                <a:solidFill>
                  <a:srgbClr val="CCD6E0"/>
                </a:solidFill>
              </a:rPr>
              <a:t> &amp; </a:t>
            </a:r>
            <a:r>
              <a:rPr sz="1600" dirty="0" err="1">
                <a:solidFill>
                  <a:srgbClr val="CCD6E0"/>
                </a:solidFill>
              </a:rPr>
              <a:t>einloggen</a:t>
            </a:r>
            <a:r>
              <a:rPr sz="1600" dirty="0">
                <a:solidFill>
                  <a:srgbClr val="CCD6E0"/>
                </a:solidFill>
              </a:rPr>
              <a:t>
</a:t>
            </a:r>
            <a:r>
              <a:rPr sz="1600" dirty="0" err="1">
                <a:solidFill>
                  <a:srgbClr val="CCD6E0"/>
                </a:solidFill>
              </a:rPr>
              <a:t>Personalisierte</a:t>
            </a:r>
            <a:r>
              <a:rPr sz="1600" dirty="0">
                <a:solidFill>
                  <a:srgbClr val="CCD6E0"/>
                </a:solidFill>
              </a:rPr>
              <a:t> Portfolio-</a:t>
            </a:r>
            <a:r>
              <a:rPr sz="1600" dirty="0" err="1">
                <a:solidFill>
                  <a:srgbClr val="CCD6E0"/>
                </a:solidFill>
              </a:rPr>
              <a:t>Daten</a:t>
            </a:r>
            <a:endParaRPr sz="1600" dirty="0">
              <a:solidFill>
                <a:srgbClr val="CCD6E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2388" y="144475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CCD6E0"/>
                </a:solidFill>
              </a:rPr>
              <a:t>Issue #9 · Geplant: 5h · XL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908" y="2240280"/>
            <a:ext cx="64008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908" y="2423160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7428" y="2240280"/>
            <a:ext cx="89611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4588" y="218247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D4FF"/>
                </a:solidFill>
              </a:rPr>
              <a:t>Live-</a:t>
            </a:r>
            <a:r>
              <a:rPr sz="2000" b="1" dirty="0" err="1">
                <a:solidFill>
                  <a:srgbClr val="00D4FF"/>
                </a:solidFill>
              </a:rPr>
              <a:t>Kursdaten</a:t>
            </a:r>
            <a:endParaRPr sz="2000" b="1" dirty="0">
              <a:solidFill>
                <a:srgbClr val="00D4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4588" y="257624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CCD6E0"/>
                </a:solidFill>
              </a:rPr>
              <a:t>Automatische</a:t>
            </a:r>
            <a:r>
              <a:rPr sz="1600" dirty="0">
                <a:solidFill>
                  <a:srgbClr val="CCD6E0"/>
                </a:solidFill>
              </a:rPr>
              <a:t> Markt-Updates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88" y="249631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CCD6E0"/>
                </a:solidFill>
              </a:rPr>
              <a:t>Issue #10 · Geplant: 7h · XL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908" y="3291839"/>
            <a:ext cx="64008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5908" y="347471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428" y="3291839"/>
            <a:ext cx="89611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4588" y="3585576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E676"/>
                </a:solidFill>
              </a:rPr>
              <a:t>GUI-</a:t>
            </a:r>
            <a:r>
              <a:rPr sz="2000" b="1" dirty="0" err="1">
                <a:solidFill>
                  <a:srgbClr val="00E676"/>
                </a:solidFill>
              </a:rPr>
              <a:t>Überarbeitung</a:t>
            </a:r>
            <a:endParaRPr sz="2000" b="1" dirty="0">
              <a:solidFill>
                <a:srgbClr val="00E67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2388" y="3547871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CCD6E0"/>
                </a:solidFill>
              </a:rPr>
              <a:t>Issue #11 · Geplant: 20h · XL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908" y="4343400"/>
            <a:ext cx="6400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5908" y="4526280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7428" y="4343400"/>
            <a:ext cx="89611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4588" y="4295447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D700"/>
                </a:solidFill>
              </a:rPr>
              <a:t>Fake-</a:t>
            </a:r>
            <a:r>
              <a:rPr sz="2000" b="1" dirty="0" err="1">
                <a:solidFill>
                  <a:srgbClr val="FFD700"/>
                </a:solidFill>
              </a:rPr>
              <a:t>Guthaben</a:t>
            </a:r>
            <a:r>
              <a:rPr sz="2000" b="1" dirty="0">
                <a:solidFill>
                  <a:srgbClr val="FFD700"/>
                </a:solidFill>
              </a:rPr>
              <a:t> &amp; Trading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4588" y="4710359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CCD6E0"/>
                </a:solidFill>
              </a:rPr>
              <a:t>Virtuelles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Startkapital</a:t>
            </a:r>
            <a:r>
              <a:rPr sz="1600" dirty="0">
                <a:solidFill>
                  <a:srgbClr val="CCD6E0"/>
                </a:solidFill>
              </a:rPr>
              <a:t> für </a:t>
            </a:r>
            <a:r>
              <a:rPr sz="1600" dirty="0" err="1">
                <a:solidFill>
                  <a:srgbClr val="CCD6E0"/>
                </a:solidFill>
              </a:rPr>
              <a:t>neue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Nutzer</a:t>
            </a:r>
            <a:r>
              <a:rPr sz="1600" dirty="0">
                <a:solidFill>
                  <a:srgbClr val="CCD6E0"/>
                </a:solidFill>
              </a:rPr>
              <a:t>
Kauf/</a:t>
            </a:r>
            <a:r>
              <a:rPr sz="1600" dirty="0" err="1">
                <a:solidFill>
                  <a:srgbClr val="CCD6E0"/>
                </a:solidFill>
              </a:rPr>
              <a:t>Verkauf</a:t>
            </a:r>
            <a:r>
              <a:rPr sz="1600" dirty="0">
                <a:solidFill>
                  <a:srgbClr val="CCD6E0"/>
                </a:solidFill>
              </a:rPr>
              <a:t>-Simulation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2388" y="459943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CCD6E0"/>
                </a:solidFill>
              </a:rPr>
              <a:t>Issue #12 · Geplant: ~5h ·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5908" y="5394959"/>
            <a:ext cx="64008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908" y="557783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7428" y="5394959"/>
            <a:ext cx="89611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4588" y="5343275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BB86FC"/>
                </a:solidFill>
              </a:rPr>
              <a:t>Watchlist / </a:t>
            </a:r>
            <a:r>
              <a:rPr sz="2000" b="1" dirty="0" err="1">
                <a:solidFill>
                  <a:srgbClr val="BB86FC"/>
                </a:solidFill>
              </a:rPr>
              <a:t>Favoriten</a:t>
            </a:r>
            <a:endParaRPr sz="2000" b="1" dirty="0">
              <a:solidFill>
                <a:srgbClr val="BB86FC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44588" y="575214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CCD6E0"/>
                </a:solidFill>
              </a:rPr>
              <a:t>Nutzer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können</a:t>
            </a:r>
            <a:r>
              <a:rPr sz="1600" dirty="0">
                <a:solidFill>
                  <a:srgbClr val="CCD6E0"/>
                </a:solidFill>
              </a:rPr>
              <a:t> </a:t>
            </a:r>
            <a:r>
              <a:rPr sz="1600" dirty="0" err="1">
                <a:solidFill>
                  <a:srgbClr val="CCD6E0"/>
                </a:solidFill>
              </a:rPr>
              <a:t>Lieblings</a:t>
            </a:r>
            <a:r>
              <a:rPr sz="1600" dirty="0">
                <a:solidFill>
                  <a:srgbClr val="CCD6E0"/>
                </a:solidFill>
              </a:rPr>
              <a:t>-Coins </a:t>
            </a:r>
            <a:r>
              <a:rPr sz="1600" dirty="0" err="1">
                <a:solidFill>
                  <a:srgbClr val="CCD6E0"/>
                </a:solidFill>
              </a:rPr>
              <a:t>speichern</a:t>
            </a:r>
            <a:r>
              <a:rPr sz="1600" dirty="0">
                <a:solidFill>
                  <a:srgbClr val="CCD6E0"/>
                </a:solidFill>
              </a:rPr>
              <a:t>
</a:t>
            </a:r>
            <a:r>
              <a:rPr sz="1600" dirty="0" err="1">
                <a:solidFill>
                  <a:srgbClr val="CCD6E0"/>
                </a:solidFill>
              </a:rPr>
              <a:t>Preisverlauf</a:t>
            </a:r>
            <a:r>
              <a:rPr sz="1600" dirty="0">
                <a:solidFill>
                  <a:srgbClr val="CCD6E0"/>
                </a:solidFill>
              </a:rPr>
              <a:t>-Tracking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2388" y="5650991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CCD6E0"/>
                </a:solidFill>
              </a:rPr>
              <a:t>Issue #13 · Geplant: ~3h ·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7148" y="1188720"/>
            <a:ext cx="173736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97148" y="1188720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88588" y="1261873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D4FF"/>
                </a:solidFill>
              </a:rPr>
              <a:t>Ziel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8588" y="1737361"/>
            <a:ext cx="150876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>
                <a:solidFill>
                  <a:srgbClr val="CCD6E0"/>
                </a:solidFill>
              </a:rPr>
              <a:t>• </a:t>
            </a:r>
            <a:r>
              <a:rPr sz="1600" dirty="0" err="1">
                <a:solidFill>
                  <a:srgbClr val="CCD6E0"/>
                </a:solidFill>
              </a:rPr>
              <a:t>Vollständige</a:t>
            </a:r>
            <a:r>
              <a:rPr sz="1600" dirty="0">
                <a:solidFill>
                  <a:srgbClr val="CCD6E0"/>
                </a:solidFill>
              </a:rPr>
              <a:t> Trading-Simulation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CCD6E0"/>
                </a:solidFill>
              </a:rPr>
              <a:t>• Live-</a:t>
            </a:r>
            <a:r>
              <a:rPr sz="1600" dirty="0" err="1">
                <a:solidFill>
                  <a:srgbClr val="CCD6E0"/>
                </a:solidFill>
              </a:rPr>
              <a:t>Marktdaten</a:t>
            </a:r>
            <a:endParaRPr sz="1600" dirty="0">
              <a:solidFill>
                <a:srgbClr val="CCD6E0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CCD6E0"/>
                </a:solidFill>
              </a:rPr>
              <a:t>• Multi-User-Portfolio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CCD6E0"/>
                </a:solidFill>
              </a:rPr>
              <a:t>• CI/CD 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406908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8788" y="914400"/>
            <a:ext cx="11247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D4FF"/>
                </a:solidFill>
              </a:rPr>
              <a:t>Danke für eure Aufmerksamkeit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22860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>
                <a:solidFill>
                  <a:srgbClr val="FFFFFF"/>
                </a:solidFill>
              </a:rPr>
              <a:t>CryptoBroker · Software Engineering WS 2025/26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1988" y="2971800"/>
            <a:ext cx="57607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88" y="315468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CCD6E0"/>
                </a:solidFill>
              </a:rPr>
              <a:t>Lucas · Julian · Jonathan · Sara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88" y="361188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00D4FF"/>
                </a:solidFill>
              </a:rPr>
              <a:t>Lucas-Klein1  ·  byJvlian  ·  Khorrer  ·  sxarv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6308" y="4572000"/>
            <a:ext cx="5212080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6308" y="4572000"/>
            <a:ext cx="52120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7748" y="4681729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</a:rPr>
              <a:t>Fragen?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7748" y="5349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CCD6E0"/>
                </a:solidFill>
              </a:rPr>
              <a:t>github.com/Lucas-Klein1/CryptoBroker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A6C7FA-D9A9-9F4E-90AD-C3F6680E6F61}">
  <we:reference id="wa200010001" version="1.0.0.1" store="en-GB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970</Words>
  <Application>Microsoft Macintosh PowerPoint</Application>
  <PresentationFormat>Widescreen</PresentationFormat>
  <Paragraphs>231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Arial </vt:lpstr>
      <vt:lpstr>Arial Black</vt:lpstr>
      <vt:lpstr>Segoe UI</vt:lpstr>
      <vt:lpstr>Office</vt:lpstr>
      <vt:lpstr>CryptoSim</vt:lpstr>
      <vt:lpstr>PowerPoint Presentation</vt:lpstr>
      <vt:lpstr>Motivation</vt:lpstr>
      <vt:lpstr>LIVE DEMO</vt:lpstr>
      <vt:lpstr>PowerPoint Presentation</vt:lpstr>
      <vt:lpstr>Tech Stack</vt:lpstr>
      <vt:lpstr>Tech Stack</vt:lpstr>
      <vt:lpstr>Tech Stack</vt:lpstr>
      <vt:lpstr>Tech Stack</vt:lpstr>
      <vt:lpstr>CI Pipeline</vt:lpstr>
      <vt:lpstr>CI Pipeline</vt:lpstr>
      <vt:lpstr>PowerPoint Presentation</vt:lpstr>
      <vt:lpstr>Architekturüberblick</vt:lpstr>
      <vt:lpstr>Konkrete Architekturentscheidungen</vt:lpstr>
      <vt:lpstr>Datenbankaufbau</vt:lpstr>
      <vt:lpstr>Designprinzipien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Schueler, Julian (SI B PRO SEC PD SEC2)</dc:creator>
  <cp:lastModifiedBy>Bobanovic, Milena</cp:lastModifiedBy>
  <cp:revision>10</cp:revision>
  <dcterms:created xsi:type="dcterms:W3CDTF">2026-03-29T10:29:08Z</dcterms:created>
  <dcterms:modified xsi:type="dcterms:W3CDTF">2026-04-09T08:53:03Z</dcterms:modified>
</cp:coreProperties>
</file>